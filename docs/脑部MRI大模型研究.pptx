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1"/>
  </p:notesMasterIdLst>
  <p:handoutMasterIdLst>
    <p:handoutMasterId r:id="rId17"/>
  </p:handoutMasterIdLst>
  <p:sldIdLst>
    <p:sldId id="702" r:id="rId4"/>
    <p:sldId id="767" r:id="rId5"/>
    <p:sldId id="764" r:id="rId6"/>
    <p:sldId id="765" r:id="rId7"/>
    <p:sldId id="766" r:id="rId8"/>
    <p:sldId id="768" r:id="rId9"/>
    <p:sldId id="769" r:id="rId10"/>
    <p:sldId id="761" r:id="rId12"/>
    <p:sldId id="762" r:id="rId13"/>
    <p:sldId id="763" r:id="rId14"/>
    <p:sldId id="760" r:id="rId15"/>
    <p:sldId id="759" r:id="rId16"/>
  </p:sldIdLst>
  <p:sldSz cx="12192000" cy="6858000"/>
  <p:notesSz cx="6811645" cy="9945370"/>
  <p:custDataLst>
    <p:tags r:id="rId22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4" userDrawn="1">
          <p15:clr>
            <a:srgbClr val="A4A3A4"/>
          </p15:clr>
        </p15:guide>
        <p15:guide id="2" pos="395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hq" initials="y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CC"/>
    <a:srgbClr val="FF9900"/>
    <a:srgbClr val="FA82FA"/>
    <a:srgbClr val="FF5050"/>
    <a:srgbClr val="0132CC"/>
    <a:srgbClr val="0066FF"/>
    <a:srgbClr val="00FE00"/>
    <a:srgbClr val="9DBB61"/>
    <a:srgbClr val="393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09" autoAdjust="0"/>
    <p:restoredTop sz="84483" autoAdjust="0"/>
  </p:normalViewPr>
  <p:slideViewPr>
    <p:cSldViewPr snapToGrid="0" showGuides="1">
      <p:cViewPr varScale="1">
        <p:scale>
          <a:sx n="136" d="100"/>
          <a:sy n="136" d="100"/>
        </p:scale>
        <p:origin x="1080" y="126"/>
      </p:cViewPr>
      <p:guideLst>
        <p:guide orient="horz" pos="2474"/>
        <p:guide pos="395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218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8387" y="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/>
          <a:lstStyle>
            <a:lvl1pPr algn="r">
              <a:defRPr sz="1200"/>
            </a:lvl1pPr>
          </a:lstStyle>
          <a:p>
            <a:fld id="{33F7A549-B379-4C34-825B-70BFB0F88B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740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8387" y="944740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 anchor="b"/>
          <a:lstStyle>
            <a:lvl1pPr algn="r">
              <a:defRPr sz="1200"/>
            </a:lvl1pPr>
          </a:lstStyle>
          <a:p>
            <a:fld id="{2EC52559-07F0-4EB5-B465-6612A22996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t" anchorCtr="0" compatLnSpc="1"/>
          <a:lstStyle>
            <a:lvl1pPr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8537" y="0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t" anchorCtr="0" compatLnSpc="1"/>
          <a:lstStyle>
            <a:lvl1pPr algn="r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27813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197" y="4724202"/>
            <a:ext cx="5449570" cy="4475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6678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b" anchorCtr="0" compatLnSpc="1"/>
          <a:lstStyle>
            <a:lvl1pPr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8537" y="9446678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b" anchorCtr="0" compatLnSpc="1"/>
          <a:lstStyle>
            <a:lvl1pPr algn="r" eaLnBrk="1" hangingPunct="1">
              <a:defRPr sz="13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020F7E6-B6AB-4685-9920-66673A4976C0}" type="slidenum">
              <a:rPr lang="en-US" altLang="zh-CN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3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image" Target="../media/image4.png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36567" y="222253"/>
            <a:ext cx="2880784" cy="5903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94219" y="222253"/>
            <a:ext cx="8439149" cy="59039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6055961" y="826274"/>
            <a:ext cx="5909293" cy="5793934"/>
          </a:xfrm>
          <a:custGeom>
            <a:avLst/>
            <a:gdLst>
              <a:gd name="connsiteX0" fmla="*/ 3879682 w 5909293"/>
              <a:gd name="connsiteY0" fmla="*/ 175 h 5793934"/>
              <a:gd name="connsiteX1" fmla="*/ 4334567 w 5909293"/>
              <a:gd name="connsiteY1" fmla="*/ 60453 h 5793934"/>
              <a:gd name="connsiteX2" fmla="*/ 5246308 w 5909293"/>
              <a:gd name="connsiteY2" fmla="*/ 1122598 h 5793934"/>
              <a:gd name="connsiteX3" fmla="*/ 5872742 w 5909293"/>
              <a:gd name="connsiteY3" fmla="*/ 3288868 h 5793934"/>
              <a:gd name="connsiteX4" fmla="*/ 5819651 w 5909293"/>
              <a:gd name="connsiteY4" fmla="*/ 4125030 h 5793934"/>
              <a:gd name="connsiteX5" fmla="*/ 5157837 w 5909293"/>
              <a:gd name="connsiteY5" fmla="*/ 4912778 h 5793934"/>
              <a:gd name="connsiteX6" fmla="*/ 3379536 w 5909293"/>
              <a:gd name="connsiteY6" fmla="*/ 5735681 h 5793934"/>
              <a:gd name="connsiteX7" fmla="*/ 2078353 w 5909293"/>
              <a:gd name="connsiteY7" fmla="*/ 5726438 h 5793934"/>
              <a:gd name="connsiteX8" fmla="*/ 1489530 w 5909293"/>
              <a:gd name="connsiteY8" fmla="*/ 5363600 h 5793934"/>
              <a:gd name="connsiteX9" fmla="*/ 1035251 w 5909293"/>
              <a:gd name="connsiteY9" fmla="*/ 4220617 h 5793934"/>
              <a:gd name="connsiteX10" fmla="*/ 602247 w 5909293"/>
              <a:gd name="connsiteY10" fmla="*/ 3634929 h 5793934"/>
              <a:gd name="connsiteX11" fmla="*/ 169546 w 5909293"/>
              <a:gd name="connsiteY11" fmla="*/ 2942699 h 5793934"/>
              <a:gd name="connsiteX12" fmla="*/ 652478 w 5909293"/>
              <a:gd name="connsiteY12" fmla="*/ 842508 h 5793934"/>
              <a:gd name="connsiteX13" fmla="*/ 1316613 w 5909293"/>
              <a:gd name="connsiteY13" fmla="*/ 445895 h 5793934"/>
              <a:gd name="connsiteX14" fmla="*/ 1375567 w 5909293"/>
              <a:gd name="connsiteY14" fmla="*/ 424437 h 5793934"/>
              <a:gd name="connsiteX15" fmla="*/ 3408460 w 5909293"/>
              <a:gd name="connsiteY15" fmla="*/ 39296 h 5793934"/>
              <a:gd name="connsiteX16" fmla="*/ 3879682 w 5909293"/>
              <a:gd name="connsiteY16" fmla="*/ 175 h 579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909293" h="5793934">
                <a:moveTo>
                  <a:pt x="3879682" y="175"/>
                </a:moveTo>
                <a:cubicBezTo>
                  <a:pt x="4036099" y="-1809"/>
                  <a:pt x="4189792" y="12773"/>
                  <a:pt x="4334567" y="60453"/>
                </a:cubicBezTo>
                <a:cubicBezTo>
                  <a:pt x="4813657" y="215756"/>
                  <a:pt x="5066087" y="681130"/>
                  <a:pt x="5246308" y="1122598"/>
                </a:cubicBezTo>
                <a:cubicBezTo>
                  <a:pt x="5530593" y="1818660"/>
                  <a:pt x="5740779" y="2546018"/>
                  <a:pt x="5872742" y="3288868"/>
                </a:cubicBezTo>
                <a:cubicBezTo>
                  <a:pt x="5918136" y="3538857"/>
                  <a:pt x="5941127" y="3794404"/>
                  <a:pt x="5819651" y="4125030"/>
                </a:cubicBezTo>
                <a:cubicBezTo>
                  <a:pt x="5698175" y="4455657"/>
                  <a:pt x="5555500" y="4602769"/>
                  <a:pt x="5157837" y="4912778"/>
                </a:cubicBezTo>
                <a:cubicBezTo>
                  <a:pt x="4760174" y="5222787"/>
                  <a:pt x="3749504" y="5653807"/>
                  <a:pt x="3379536" y="5735681"/>
                </a:cubicBezTo>
                <a:cubicBezTo>
                  <a:pt x="3009569" y="5817556"/>
                  <a:pt x="2330918" y="5811898"/>
                  <a:pt x="2078353" y="5726438"/>
                </a:cubicBezTo>
                <a:cubicBezTo>
                  <a:pt x="1825789" y="5640979"/>
                  <a:pt x="1633575" y="5511056"/>
                  <a:pt x="1489530" y="5363600"/>
                </a:cubicBezTo>
                <a:cubicBezTo>
                  <a:pt x="1194462" y="5065173"/>
                  <a:pt x="1220104" y="4592041"/>
                  <a:pt x="1035251" y="4220617"/>
                </a:cubicBezTo>
                <a:cubicBezTo>
                  <a:pt x="929927" y="4002824"/>
                  <a:pt x="753122" y="3825759"/>
                  <a:pt x="602247" y="3634929"/>
                </a:cubicBezTo>
                <a:cubicBezTo>
                  <a:pt x="430739" y="3418728"/>
                  <a:pt x="291908" y="3187171"/>
                  <a:pt x="169546" y="2942699"/>
                </a:cubicBezTo>
                <a:cubicBezTo>
                  <a:pt x="-176217" y="2249976"/>
                  <a:pt x="17688" y="1398039"/>
                  <a:pt x="652478" y="842508"/>
                </a:cubicBezTo>
                <a:cubicBezTo>
                  <a:pt x="844971" y="671207"/>
                  <a:pt x="1070014" y="535650"/>
                  <a:pt x="1316613" y="445895"/>
                </a:cubicBezTo>
                <a:cubicBezTo>
                  <a:pt x="1336025" y="438830"/>
                  <a:pt x="1354717" y="432026"/>
                  <a:pt x="1375567" y="424437"/>
                </a:cubicBezTo>
                <a:cubicBezTo>
                  <a:pt x="2029851" y="208795"/>
                  <a:pt x="2725822" y="123350"/>
                  <a:pt x="3408460" y="39296"/>
                </a:cubicBezTo>
                <a:cubicBezTo>
                  <a:pt x="3564127" y="20711"/>
                  <a:pt x="3723266" y="2160"/>
                  <a:pt x="3879682" y="17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 sz="1800">
              <a:solidFill>
                <a:schemeClr val="tx1"/>
              </a:solidFill>
            </a:endParaRPr>
          </a:p>
        </p:txBody>
      </p:sp>
      <p:pic>
        <p:nvPicPr>
          <p:cNvPr id="27" name="图片 26" descr="无人机5资源 1@600x-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34330" y="1677670"/>
            <a:ext cx="6643370" cy="51803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702945" y="1304926"/>
            <a:ext cx="539305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01675" y="3740150"/>
            <a:ext cx="2880995" cy="5803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WPS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9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20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1276350"/>
            <a:ext cx="10799475" cy="490156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/>
          <p:cNvSpPr/>
          <p:nvPr>
            <p:custDataLst>
              <p:tags r:id="rId2"/>
            </p:custDataLst>
          </p:nvPr>
        </p:nvSpPr>
        <p:spPr bwMode="auto">
          <a:xfrm>
            <a:off x="837565" y="3313430"/>
            <a:ext cx="3971925" cy="3523615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58" h="2180">
                <a:moveTo>
                  <a:pt x="1557" y="0"/>
                </a:moveTo>
                <a:cubicBezTo>
                  <a:pt x="1548" y="0"/>
                  <a:pt x="1539" y="0"/>
                  <a:pt x="1529" y="0"/>
                </a:cubicBezTo>
                <a:cubicBezTo>
                  <a:pt x="1222" y="9"/>
                  <a:pt x="917" y="75"/>
                  <a:pt x="618" y="140"/>
                </a:cubicBezTo>
                <a:cubicBezTo>
                  <a:pt x="482" y="170"/>
                  <a:pt x="340" y="202"/>
                  <a:pt x="233" y="281"/>
                </a:cubicBezTo>
                <a:cubicBezTo>
                  <a:pt x="56" y="411"/>
                  <a:pt x="21" y="631"/>
                  <a:pt x="13" y="831"/>
                </a:cubicBezTo>
                <a:cubicBezTo>
                  <a:pt x="0" y="1146"/>
                  <a:pt x="23" y="1463"/>
                  <a:pt x="81" y="1775"/>
                </a:cubicBezTo>
                <a:cubicBezTo>
                  <a:pt x="100" y="1880"/>
                  <a:pt x="128" y="1991"/>
                  <a:pt x="215" y="2066"/>
                </a:cubicBezTo>
                <a:cubicBezTo>
                  <a:pt x="323" y="2159"/>
                  <a:pt x="491" y="2172"/>
                  <a:pt x="645" y="2180"/>
                </a:cubicBezTo>
                <a:cubicBezTo>
                  <a:pt x="1805" y="2180"/>
                  <a:pt x="1805" y="2180"/>
                  <a:pt x="1805" y="2180"/>
                </a:cubicBezTo>
                <a:cubicBezTo>
                  <a:pt x="1884" y="2180"/>
                  <a:pt x="1963" y="2165"/>
                  <a:pt x="2036" y="2135"/>
                </a:cubicBezTo>
                <a:cubicBezTo>
                  <a:pt x="2124" y="2098"/>
                  <a:pt x="2197" y="2043"/>
                  <a:pt x="2235" y="1964"/>
                </a:cubicBezTo>
                <a:cubicBezTo>
                  <a:pt x="2313" y="1804"/>
                  <a:pt x="2230" y="1621"/>
                  <a:pt x="2251" y="1448"/>
                </a:cubicBezTo>
                <a:cubicBezTo>
                  <a:pt x="2262" y="1347"/>
                  <a:pt x="2309" y="1252"/>
                  <a:pt x="2343" y="1155"/>
                </a:cubicBezTo>
                <a:cubicBezTo>
                  <a:pt x="2382" y="1045"/>
                  <a:pt x="2405" y="934"/>
                  <a:pt x="2419" y="820"/>
                </a:cubicBezTo>
                <a:cubicBezTo>
                  <a:pt x="2458" y="497"/>
                  <a:pt x="2247" y="189"/>
                  <a:pt x="1896" y="61"/>
                </a:cubicBezTo>
                <a:cubicBezTo>
                  <a:pt x="1789" y="21"/>
                  <a:pt x="1674" y="0"/>
                  <a:pt x="1557" y="0"/>
                </a:cubicBezTo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7565" y="565150"/>
            <a:ext cx="2129790" cy="108140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27352"/>
          <a:stretch>
            <a:fillRect/>
          </a:stretch>
        </p:blipFill>
        <p:spPr>
          <a:xfrm>
            <a:off x="1198245" y="2017395"/>
            <a:ext cx="3556000" cy="483171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/>
          <p:nvPr userDrawn="1">
            <p:custDataLst>
              <p:tags r:id="rId2"/>
            </p:custDataLst>
          </p:nvPr>
        </p:nvSpPr>
        <p:spPr bwMode="auto">
          <a:xfrm rot="6240000" flipH="1">
            <a:off x="1155700" y="2376170"/>
            <a:ext cx="2943225" cy="3514725"/>
          </a:xfrm>
          <a:custGeom>
            <a:avLst/>
            <a:gdLst>
              <a:gd name="connsiteX0" fmla="*/ 4417 w 6611"/>
              <a:gd name="connsiteY0" fmla="*/ 31 h 6706"/>
              <a:gd name="connsiteX1" fmla="*/ 3525 w 6611"/>
              <a:gd name="connsiteY1" fmla="*/ 35 h 6706"/>
              <a:gd name="connsiteX2" fmla="*/ 1943 w 6611"/>
              <a:gd name="connsiteY2" fmla="*/ 444 h 6706"/>
              <a:gd name="connsiteX3" fmla="*/ 850 w 6611"/>
              <a:gd name="connsiteY3" fmla="*/ 1131 h 6706"/>
              <a:gd name="connsiteX4" fmla="*/ 7 w 6611"/>
              <a:gd name="connsiteY4" fmla="*/ 2491 h 6706"/>
              <a:gd name="connsiteX5" fmla="*/ 211 w 6611"/>
              <a:gd name="connsiteY5" fmla="*/ 4826 h 6706"/>
              <a:gd name="connsiteX6" fmla="*/ 752 w 6611"/>
              <a:gd name="connsiteY6" fmla="*/ 5937 h 6706"/>
              <a:gd name="connsiteX7" fmla="*/ 1926 w 6611"/>
              <a:gd name="connsiteY7" fmla="*/ 6575 h 6706"/>
              <a:gd name="connsiteX8" fmla="*/ 4060 w 6611"/>
              <a:gd name="connsiteY8" fmla="*/ 6611 h 6706"/>
              <a:gd name="connsiteX9" fmla="*/ 5547 w 6611"/>
              <a:gd name="connsiteY9" fmla="*/ 5965 h 6706"/>
              <a:gd name="connsiteX10" fmla="*/ 6120 w 6611"/>
              <a:gd name="connsiteY10" fmla="*/ 5119 h 6706"/>
              <a:gd name="connsiteX11" fmla="*/ 6193 w 6611"/>
              <a:gd name="connsiteY11" fmla="*/ 4057 h 6706"/>
              <a:gd name="connsiteX12" fmla="*/ 6398 w 6611"/>
              <a:gd name="connsiteY12" fmla="*/ 3222 h 6706"/>
              <a:gd name="connsiteX13" fmla="*/ 6599 w 6611"/>
              <a:gd name="connsiteY13" fmla="*/ 2281 h 6706"/>
              <a:gd name="connsiteX14" fmla="*/ 5278 w 6611"/>
              <a:gd name="connsiteY14" fmla="*/ 246 h 6706"/>
              <a:gd name="connsiteX15" fmla="*/ 4417 w 6611"/>
              <a:gd name="connsiteY15" fmla="*/ 31 h 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0" t="0" r="r" b="b"/>
            <a:pathLst>
              <a:path w="6612" h="6706">
                <a:moveTo>
                  <a:pt x="4417" y="31"/>
                </a:moveTo>
                <a:cubicBezTo>
                  <a:pt x="4275" y="12"/>
                  <a:pt x="4045" y="-31"/>
                  <a:pt x="3525" y="35"/>
                </a:cubicBezTo>
                <a:cubicBezTo>
                  <a:pt x="3006" y="101"/>
                  <a:pt x="2368" y="252"/>
                  <a:pt x="1943" y="444"/>
                </a:cubicBezTo>
                <a:cubicBezTo>
                  <a:pt x="1518" y="636"/>
                  <a:pt x="1206" y="810"/>
                  <a:pt x="850" y="1131"/>
                </a:cubicBezTo>
                <a:cubicBezTo>
                  <a:pt x="494" y="1452"/>
                  <a:pt x="28" y="1938"/>
                  <a:pt x="7" y="2491"/>
                </a:cubicBezTo>
                <a:cubicBezTo>
                  <a:pt x="-27" y="3362"/>
                  <a:pt x="58" y="4271"/>
                  <a:pt x="211" y="4826"/>
                </a:cubicBezTo>
                <a:cubicBezTo>
                  <a:pt x="364" y="5381"/>
                  <a:pt x="482" y="5677"/>
                  <a:pt x="752" y="5937"/>
                </a:cubicBezTo>
                <a:cubicBezTo>
                  <a:pt x="1022" y="6197"/>
                  <a:pt x="1328" y="6417"/>
                  <a:pt x="1926" y="6575"/>
                </a:cubicBezTo>
                <a:cubicBezTo>
                  <a:pt x="2524" y="6733"/>
                  <a:pt x="3366" y="6751"/>
                  <a:pt x="4060" y="6611"/>
                </a:cubicBezTo>
                <a:cubicBezTo>
                  <a:pt x="4755" y="6471"/>
                  <a:pt x="5352" y="6115"/>
                  <a:pt x="5547" y="5965"/>
                </a:cubicBezTo>
                <a:cubicBezTo>
                  <a:pt x="5742" y="5815"/>
                  <a:pt x="6019" y="5562"/>
                  <a:pt x="6120" y="5119"/>
                </a:cubicBezTo>
                <a:cubicBezTo>
                  <a:pt x="6221" y="4677"/>
                  <a:pt x="6140" y="4535"/>
                  <a:pt x="6193" y="4057"/>
                </a:cubicBezTo>
                <a:cubicBezTo>
                  <a:pt x="6221" y="3778"/>
                  <a:pt x="6310" y="3490"/>
                  <a:pt x="6398" y="3222"/>
                </a:cubicBezTo>
                <a:cubicBezTo>
                  <a:pt x="6538" y="2812"/>
                  <a:pt x="6563" y="2596"/>
                  <a:pt x="6599" y="2281"/>
                </a:cubicBezTo>
                <a:cubicBezTo>
                  <a:pt x="6700" y="1390"/>
                  <a:pt x="6184" y="599"/>
                  <a:pt x="5278" y="246"/>
                </a:cubicBezTo>
                <a:cubicBezTo>
                  <a:pt x="5003" y="136"/>
                  <a:pt x="4559" y="50"/>
                  <a:pt x="4417" y="31"/>
                </a:cubicBezTo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pic>
        <p:nvPicPr>
          <p:cNvPr id="7" name="图片 6" descr="D:\工作文件\临时素材\无人机5资源-1@600x-8.png无人机5资源-1@600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l="150" r="150"/>
          <a:stretch>
            <a:fillRect/>
          </a:stretch>
        </p:blipFill>
        <p:spPr>
          <a:xfrm>
            <a:off x="869950" y="1550035"/>
            <a:ext cx="3757930" cy="32626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461000" y="3408045"/>
            <a:ext cx="5892800" cy="1761490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461000" y="2364740"/>
            <a:ext cx="5892800" cy="96012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b" anchorCtr="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4800" b="1" u="none" strike="noStrike" kern="1200" cap="none" spc="100" normalizeH="0">
                <a:solidFill>
                  <a:schemeClr val="accent1"/>
                </a:solidFill>
                <a:uFillTx/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325" y="1276350"/>
            <a:ext cx="5324475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276350"/>
            <a:ext cx="5322600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326" y="1276350"/>
            <a:ext cx="5302250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326" y="2061275"/>
            <a:ext cx="5302250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276350"/>
            <a:ext cx="5329238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2061275"/>
            <a:ext cx="5329238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360000"/>
            <a:ext cx="10806113" cy="581760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325" y="1296000"/>
            <a:ext cx="10806113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217227" y="854899"/>
            <a:ext cx="5597566" cy="5917440"/>
          </a:xfrm>
          <a:custGeom>
            <a:avLst/>
            <a:gdLst>
              <a:gd name="connsiteX0" fmla="*/ 3604196 w 5597566"/>
              <a:gd name="connsiteY0" fmla="*/ 127 h 5917440"/>
              <a:gd name="connsiteX1" fmla="*/ 5020674 w 5597566"/>
              <a:gd name="connsiteY1" fmla="*/ 776538 h 5917440"/>
              <a:gd name="connsiteX2" fmla="*/ 5376373 w 5597566"/>
              <a:gd name="connsiteY2" fmla="*/ 1444944 h 5917440"/>
              <a:gd name="connsiteX3" fmla="*/ 5557177 w 5597566"/>
              <a:gd name="connsiteY3" fmla="*/ 2184215 h 5917440"/>
              <a:gd name="connsiteX4" fmla="*/ 5545132 w 5597566"/>
              <a:gd name="connsiteY4" fmla="*/ 3578297 h 5917440"/>
              <a:gd name="connsiteX5" fmla="*/ 5202018 w 5597566"/>
              <a:gd name="connsiteY5" fmla="*/ 4624938 h 5917440"/>
              <a:gd name="connsiteX6" fmla="*/ 4250176 w 5597566"/>
              <a:gd name="connsiteY6" fmla="*/ 5603523 h 5917440"/>
              <a:gd name="connsiteX7" fmla="*/ 2275095 w 5597566"/>
              <a:gd name="connsiteY7" fmla="*/ 5916586 h 5917440"/>
              <a:gd name="connsiteX8" fmla="*/ 1243715 w 5597566"/>
              <a:gd name="connsiteY8" fmla="*/ 5698027 h 5917440"/>
              <a:gd name="connsiteX9" fmla="*/ 473239 w 5597566"/>
              <a:gd name="connsiteY9" fmla="*/ 4857811 h 5917440"/>
              <a:gd name="connsiteX10" fmla="*/ 2965 w 5597566"/>
              <a:gd name="connsiteY10" fmla="*/ 3098601 h 5917440"/>
              <a:gd name="connsiteX11" fmla="*/ 230813 w 5597566"/>
              <a:gd name="connsiteY11" fmla="*/ 1734249 h 5917440"/>
              <a:gd name="connsiteX12" fmla="*/ 812883 w 5597566"/>
              <a:gd name="connsiteY12" fmla="*/ 1085274 h 5917440"/>
              <a:gd name="connsiteX13" fmla="*/ 1676967 w 5597566"/>
              <a:gd name="connsiteY13" fmla="*/ 805643 h 5917440"/>
              <a:gd name="connsiteX14" fmla="*/ 2325887 w 5597566"/>
              <a:gd name="connsiteY14" fmla="*/ 463589 h 5917440"/>
              <a:gd name="connsiteX15" fmla="*/ 3063384 w 5597566"/>
              <a:gd name="connsiteY15" fmla="*/ 102968 h 5917440"/>
              <a:gd name="connsiteX16" fmla="*/ 3604196 w 5597566"/>
              <a:gd name="connsiteY16" fmla="*/ 127 h 591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97566" h="5917440">
                <a:moveTo>
                  <a:pt x="3604196" y="127"/>
                </a:moveTo>
                <a:cubicBezTo>
                  <a:pt x="4143157" y="-6764"/>
                  <a:pt x="4661253" y="268656"/>
                  <a:pt x="5020674" y="776538"/>
                </a:cubicBezTo>
                <a:cubicBezTo>
                  <a:pt x="5168497" y="981494"/>
                  <a:pt x="5331334" y="1331311"/>
                  <a:pt x="5376373" y="1444944"/>
                </a:cubicBezTo>
                <a:cubicBezTo>
                  <a:pt x="5421411" y="1558578"/>
                  <a:pt x="5504481" y="1740109"/>
                  <a:pt x="5557177" y="2184215"/>
                </a:cubicBezTo>
                <a:cubicBezTo>
                  <a:pt x="5609665" y="2627494"/>
                  <a:pt x="5616351" y="3186831"/>
                  <a:pt x="5545132" y="3578297"/>
                </a:cubicBezTo>
                <a:cubicBezTo>
                  <a:pt x="5473912" y="3969764"/>
                  <a:pt x="5394269" y="4263968"/>
                  <a:pt x="5202018" y="4624938"/>
                </a:cubicBezTo>
                <a:cubicBezTo>
                  <a:pt x="5009767" y="4985909"/>
                  <a:pt x="4703629" y="5471999"/>
                  <a:pt x="4250176" y="5603523"/>
                </a:cubicBezTo>
                <a:cubicBezTo>
                  <a:pt x="3536157" y="5811445"/>
                  <a:pt x="2766119" y="5928695"/>
                  <a:pt x="2275095" y="5916586"/>
                </a:cubicBezTo>
                <a:cubicBezTo>
                  <a:pt x="1784072" y="5904476"/>
                  <a:pt x="1514679" y="5867884"/>
                  <a:pt x="1243715" y="5698027"/>
                </a:cubicBezTo>
                <a:cubicBezTo>
                  <a:pt x="972750" y="5528171"/>
                  <a:pt x="727468" y="5320256"/>
                  <a:pt x="473239" y="4857811"/>
                </a:cubicBezTo>
                <a:cubicBezTo>
                  <a:pt x="219012" y="4395366"/>
                  <a:pt x="30316" y="3702028"/>
                  <a:pt x="2965" y="3098601"/>
                </a:cubicBezTo>
                <a:cubicBezTo>
                  <a:pt x="-24592" y="2494347"/>
                  <a:pt x="146889" y="1926640"/>
                  <a:pt x="230813" y="1734249"/>
                </a:cubicBezTo>
                <a:cubicBezTo>
                  <a:pt x="314738" y="1541857"/>
                  <a:pt x="467003" y="1260322"/>
                  <a:pt x="812883" y="1085274"/>
                </a:cubicBezTo>
                <a:cubicBezTo>
                  <a:pt x="1157935" y="910432"/>
                  <a:pt x="1292205" y="948179"/>
                  <a:pt x="1676967" y="805643"/>
                </a:cubicBezTo>
                <a:cubicBezTo>
                  <a:pt x="1902150" y="724878"/>
                  <a:pt x="2122194" y="591756"/>
                  <a:pt x="2325887" y="463589"/>
                </a:cubicBezTo>
                <a:cubicBezTo>
                  <a:pt x="2636399" y="263066"/>
                  <a:pt x="2810049" y="197787"/>
                  <a:pt x="3063384" y="102968"/>
                </a:cubicBezTo>
                <a:cubicBezTo>
                  <a:pt x="3242571" y="36089"/>
                  <a:pt x="3424543" y="2424"/>
                  <a:pt x="3604196" y="1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 sz="180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6" t="-1" r="15418" b="631"/>
          <a:stretch>
            <a:fillRect/>
          </a:stretch>
        </p:blipFill>
        <p:spPr>
          <a:xfrm>
            <a:off x="5990590" y="2422525"/>
            <a:ext cx="5417185" cy="44323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695325" y="1304926"/>
            <a:ext cx="540067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02000" y="3740785"/>
            <a:ext cx="2880000" cy="57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 userDrawn="1"/>
        </p:nvSpPr>
        <p:spPr bwMode="auto">
          <a:xfrm>
            <a:off x="0" y="1000125"/>
            <a:ext cx="646113" cy="261938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10"/>
          <p:cNvSpPr>
            <a:spLocks noChangeArrowheads="1"/>
          </p:cNvSpPr>
          <p:nvPr userDrawn="1"/>
        </p:nvSpPr>
        <p:spPr bwMode="auto">
          <a:xfrm>
            <a:off x="703263" y="996950"/>
            <a:ext cx="11488737" cy="26193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Text Box 11"/>
          <p:cNvSpPr txBox="1">
            <a:spLocks noChangeArrowheads="1"/>
          </p:cNvSpPr>
          <p:nvPr userDrawn="1"/>
        </p:nvSpPr>
        <p:spPr bwMode="auto">
          <a:xfrm>
            <a:off x="261938" y="963613"/>
            <a:ext cx="4032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defRPr/>
            </a:pPr>
            <a:fld id="{679EA1FA-98DD-462E-800D-6ADA9E20B4EE}" type="slidenum">
              <a:rPr lang="en-US" altLang="zh-CN" sz="1400" b="1" smtClean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029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93688" y="222250"/>
            <a:ext cx="11523662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1630" indent="-34163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1680" indent="-28448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1730" indent="-22733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598930" indent="-2273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6130" indent="-22733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325" y="1283335"/>
            <a:ext cx="10801350" cy="489458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325" y="6356350"/>
            <a:ext cx="2886075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6350"/>
            <a:ext cx="2884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70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6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77.xml"/><Relationship Id="rId7" Type="http://schemas.openxmlformats.org/officeDocument/2006/relationships/image" Target="../media/image6.png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0" Type="http://schemas.openxmlformats.org/officeDocument/2006/relationships/notesSlide" Target="../notesSlides/notesSlide2.xml"/><Relationship Id="rId8" Type="http://schemas.openxmlformats.org/officeDocument/2006/relationships/tags" Target="../tags/tag94.xml"/><Relationship Id="rId79" Type="http://schemas.openxmlformats.org/officeDocument/2006/relationships/slideLayout" Target="../slideLayouts/slideLayout2.xml"/><Relationship Id="rId78" Type="http://schemas.openxmlformats.org/officeDocument/2006/relationships/tags" Target="../tags/tag163.xml"/><Relationship Id="rId77" Type="http://schemas.openxmlformats.org/officeDocument/2006/relationships/tags" Target="../tags/tag162.xml"/><Relationship Id="rId76" Type="http://schemas.openxmlformats.org/officeDocument/2006/relationships/tags" Target="../tags/tag161.xml"/><Relationship Id="rId75" Type="http://schemas.openxmlformats.org/officeDocument/2006/relationships/tags" Target="../tags/tag160.xml"/><Relationship Id="rId74" Type="http://schemas.openxmlformats.org/officeDocument/2006/relationships/tags" Target="../tags/tag159.xml"/><Relationship Id="rId73" Type="http://schemas.openxmlformats.org/officeDocument/2006/relationships/tags" Target="../tags/tag158.xml"/><Relationship Id="rId72" Type="http://schemas.openxmlformats.org/officeDocument/2006/relationships/tags" Target="../tags/tag157.xml"/><Relationship Id="rId71" Type="http://schemas.openxmlformats.org/officeDocument/2006/relationships/tags" Target="../tags/tag156.xml"/><Relationship Id="rId70" Type="http://schemas.openxmlformats.org/officeDocument/2006/relationships/tags" Target="../tags/tag155.xml"/><Relationship Id="rId7" Type="http://schemas.openxmlformats.org/officeDocument/2006/relationships/tags" Target="../tags/tag93.xml"/><Relationship Id="rId69" Type="http://schemas.openxmlformats.org/officeDocument/2006/relationships/tags" Target="../tags/tag154.xml"/><Relationship Id="rId68" Type="http://schemas.openxmlformats.org/officeDocument/2006/relationships/tags" Target="../tags/tag153.xml"/><Relationship Id="rId67" Type="http://schemas.openxmlformats.org/officeDocument/2006/relationships/tags" Target="../tags/tag152.xml"/><Relationship Id="rId66" Type="http://schemas.openxmlformats.org/officeDocument/2006/relationships/tags" Target="../tags/tag151.xml"/><Relationship Id="rId65" Type="http://schemas.openxmlformats.org/officeDocument/2006/relationships/tags" Target="../tags/tag150.xml"/><Relationship Id="rId64" Type="http://schemas.openxmlformats.org/officeDocument/2006/relationships/tags" Target="../tags/tag149.xml"/><Relationship Id="rId63" Type="http://schemas.openxmlformats.org/officeDocument/2006/relationships/tags" Target="../tags/tag148.xml"/><Relationship Id="rId62" Type="http://schemas.openxmlformats.org/officeDocument/2006/relationships/tags" Target="../tags/tag147.xml"/><Relationship Id="rId61" Type="http://schemas.openxmlformats.org/officeDocument/2006/relationships/tags" Target="../tags/tag146.xml"/><Relationship Id="rId60" Type="http://schemas.openxmlformats.org/officeDocument/2006/relationships/tags" Target="../tags/tag145.xml"/><Relationship Id="rId6" Type="http://schemas.openxmlformats.org/officeDocument/2006/relationships/tags" Target="../tags/tag92.xml"/><Relationship Id="rId59" Type="http://schemas.openxmlformats.org/officeDocument/2006/relationships/tags" Target="../tags/tag144.xml"/><Relationship Id="rId58" Type="http://schemas.openxmlformats.org/officeDocument/2006/relationships/tags" Target="../tags/tag143.xml"/><Relationship Id="rId57" Type="http://schemas.openxmlformats.org/officeDocument/2006/relationships/tags" Target="../tags/tag142.xml"/><Relationship Id="rId56" Type="http://schemas.openxmlformats.org/officeDocument/2006/relationships/tags" Target="../tags/tag141.xml"/><Relationship Id="rId55" Type="http://schemas.openxmlformats.org/officeDocument/2006/relationships/tags" Target="../tags/tag140.xml"/><Relationship Id="rId54" Type="http://schemas.openxmlformats.org/officeDocument/2006/relationships/tags" Target="../tags/tag139.xml"/><Relationship Id="rId53" Type="http://schemas.openxmlformats.org/officeDocument/2006/relationships/tags" Target="../tags/tag138.xml"/><Relationship Id="rId52" Type="http://schemas.openxmlformats.org/officeDocument/2006/relationships/tags" Target="../tags/tag137.xml"/><Relationship Id="rId51" Type="http://schemas.openxmlformats.org/officeDocument/2006/relationships/tags" Target="../tags/tag136.xml"/><Relationship Id="rId50" Type="http://schemas.openxmlformats.org/officeDocument/2006/relationships/tags" Target="../tags/tag135.xml"/><Relationship Id="rId5" Type="http://schemas.openxmlformats.org/officeDocument/2006/relationships/tags" Target="../tags/tag91.xml"/><Relationship Id="rId49" Type="http://schemas.openxmlformats.org/officeDocument/2006/relationships/tags" Target="../tags/tag134.xml"/><Relationship Id="rId48" Type="http://schemas.openxmlformats.org/officeDocument/2006/relationships/tags" Target="../tags/tag133.xml"/><Relationship Id="rId47" Type="http://schemas.openxmlformats.org/officeDocument/2006/relationships/tags" Target="../tags/tag132.xml"/><Relationship Id="rId46" Type="http://schemas.openxmlformats.org/officeDocument/2006/relationships/tags" Target="../tags/tag131.xml"/><Relationship Id="rId45" Type="http://schemas.openxmlformats.org/officeDocument/2006/relationships/tags" Target="../tags/tag130.xml"/><Relationship Id="rId44" Type="http://schemas.openxmlformats.org/officeDocument/2006/relationships/tags" Target="../tags/tag129.xml"/><Relationship Id="rId43" Type="http://schemas.openxmlformats.org/officeDocument/2006/relationships/tags" Target="../tags/tag128.xml"/><Relationship Id="rId42" Type="http://schemas.openxmlformats.org/officeDocument/2006/relationships/tags" Target="../tags/tag127.xml"/><Relationship Id="rId41" Type="http://schemas.openxmlformats.org/officeDocument/2006/relationships/tags" Target="../tags/tag126.xml"/><Relationship Id="rId40" Type="http://schemas.openxmlformats.org/officeDocument/2006/relationships/tags" Target="../tags/tag125.xml"/><Relationship Id="rId4" Type="http://schemas.openxmlformats.org/officeDocument/2006/relationships/tags" Target="../tags/tag90.xml"/><Relationship Id="rId39" Type="http://schemas.openxmlformats.org/officeDocument/2006/relationships/tags" Target="../tags/tag124.xml"/><Relationship Id="rId38" Type="http://schemas.openxmlformats.org/officeDocument/2006/relationships/tags" Target="../tags/tag123.xml"/><Relationship Id="rId37" Type="http://schemas.openxmlformats.org/officeDocument/2006/relationships/tags" Target="../tags/tag122.xml"/><Relationship Id="rId36" Type="http://schemas.openxmlformats.org/officeDocument/2006/relationships/image" Target="../media/image8.png"/><Relationship Id="rId35" Type="http://schemas.openxmlformats.org/officeDocument/2006/relationships/tags" Target="../tags/tag121.xml"/><Relationship Id="rId34" Type="http://schemas.openxmlformats.org/officeDocument/2006/relationships/tags" Target="../tags/tag120.xml"/><Relationship Id="rId33" Type="http://schemas.openxmlformats.org/officeDocument/2006/relationships/tags" Target="../tags/tag119.xml"/><Relationship Id="rId32" Type="http://schemas.openxmlformats.org/officeDocument/2006/relationships/tags" Target="../tags/tag118.xml"/><Relationship Id="rId31" Type="http://schemas.openxmlformats.org/officeDocument/2006/relationships/tags" Target="../tags/tag117.xml"/><Relationship Id="rId30" Type="http://schemas.openxmlformats.org/officeDocument/2006/relationships/tags" Target="../tags/tag116.xml"/><Relationship Id="rId3" Type="http://schemas.openxmlformats.org/officeDocument/2006/relationships/image" Target="../media/image7.png"/><Relationship Id="rId29" Type="http://schemas.openxmlformats.org/officeDocument/2006/relationships/tags" Target="../tags/tag115.xml"/><Relationship Id="rId28" Type="http://schemas.openxmlformats.org/officeDocument/2006/relationships/tags" Target="../tags/tag114.xml"/><Relationship Id="rId27" Type="http://schemas.openxmlformats.org/officeDocument/2006/relationships/tags" Target="../tags/tag113.xml"/><Relationship Id="rId26" Type="http://schemas.openxmlformats.org/officeDocument/2006/relationships/tags" Target="../tags/tag112.xml"/><Relationship Id="rId25" Type="http://schemas.openxmlformats.org/officeDocument/2006/relationships/tags" Target="../tags/tag111.xml"/><Relationship Id="rId24" Type="http://schemas.openxmlformats.org/officeDocument/2006/relationships/tags" Target="../tags/tag110.xml"/><Relationship Id="rId23" Type="http://schemas.openxmlformats.org/officeDocument/2006/relationships/tags" Target="../tags/tag109.xml"/><Relationship Id="rId22" Type="http://schemas.openxmlformats.org/officeDocument/2006/relationships/tags" Target="../tags/tag108.xml"/><Relationship Id="rId21" Type="http://schemas.openxmlformats.org/officeDocument/2006/relationships/tags" Target="../tags/tag107.xml"/><Relationship Id="rId20" Type="http://schemas.openxmlformats.org/officeDocument/2006/relationships/tags" Target="../tags/tag106.xml"/><Relationship Id="rId2" Type="http://schemas.openxmlformats.org/officeDocument/2006/relationships/tags" Target="../tags/tag89.xml"/><Relationship Id="rId19" Type="http://schemas.openxmlformats.org/officeDocument/2006/relationships/tags" Target="../tags/tag105.xml"/><Relationship Id="rId18" Type="http://schemas.openxmlformats.org/officeDocument/2006/relationships/tags" Target="../tags/tag104.xml"/><Relationship Id="rId17" Type="http://schemas.openxmlformats.org/officeDocument/2006/relationships/tags" Target="../tags/tag103.xml"/><Relationship Id="rId16" Type="http://schemas.openxmlformats.org/officeDocument/2006/relationships/tags" Target="../tags/tag102.xml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tags" Target="../tags/tag8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image" Target="../media/image9.png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image" Target="../media/image7.png"/><Relationship Id="rId27" Type="http://schemas.openxmlformats.org/officeDocument/2006/relationships/notesSlide" Target="../notesSlides/notesSlide3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184.xml"/><Relationship Id="rId24" Type="http://schemas.openxmlformats.org/officeDocument/2006/relationships/tags" Target="../tags/tag183.xml"/><Relationship Id="rId23" Type="http://schemas.openxmlformats.org/officeDocument/2006/relationships/tags" Target="../tags/tag182.xml"/><Relationship Id="rId22" Type="http://schemas.openxmlformats.org/officeDocument/2006/relationships/tags" Target="../tags/tag181.xml"/><Relationship Id="rId21" Type="http://schemas.openxmlformats.org/officeDocument/2006/relationships/tags" Target="../tags/tag180.xml"/><Relationship Id="rId20" Type="http://schemas.openxmlformats.org/officeDocument/2006/relationships/tags" Target="../tags/tag179.xml"/><Relationship Id="rId2" Type="http://schemas.openxmlformats.org/officeDocument/2006/relationships/tags" Target="../tags/tag165.xml"/><Relationship Id="rId19" Type="http://schemas.openxmlformats.org/officeDocument/2006/relationships/tags" Target="../tags/tag178.xml"/><Relationship Id="rId18" Type="http://schemas.openxmlformats.org/officeDocument/2006/relationships/tags" Target="../tags/tag177.xml"/><Relationship Id="rId17" Type="http://schemas.openxmlformats.org/officeDocument/2006/relationships/tags" Target="../tags/tag176.xml"/><Relationship Id="rId16" Type="http://schemas.openxmlformats.org/officeDocument/2006/relationships/tags" Target="../tags/tag175.xml"/><Relationship Id="rId15" Type="http://schemas.openxmlformats.org/officeDocument/2006/relationships/tags" Target="../tags/tag174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tags" Target="../tags/tag170.xml"/><Relationship Id="rId10" Type="http://schemas.openxmlformats.org/officeDocument/2006/relationships/image" Target="../media/image11.png"/><Relationship Id="rId1" Type="http://schemas.openxmlformats.org/officeDocument/2006/relationships/tags" Target="../tags/tag16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emf"/><Relationship Id="rId8" Type="http://schemas.openxmlformats.org/officeDocument/2006/relationships/image" Target="../media/image14.emf"/><Relationship Id="rId7" Type="http://schemas.openxmlformats.org/officeDocument/2006/relationships/image" Target="../media/image11.png"/><Relationship Id="rId6" Type="http://schemas.openxmlformats.org/officeDocument/2006/relationships/image" Target="../media/image13.png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7" Type="http://schemas.openxmlformats.org/officeDocument/2006/relationships/notesSlide" Target="../notesSlides/notesSlide4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213.xml"/><Relationship Id="rId34" Type="http://schemas.openxmlformats.org/officeDocument/2006/relationships/tags" Target="../tags/tag212.xml"/><Relationship Id="rId33" Type="http://schemas.openxmlformats.org/officeDocument/2006/relationships/tags" Target="../tags/tag211.xml"/><Relationship Id="rId32" Type="http://schemas.openxmlformats.org/officeDocument/2006/relationships/tags" Target="../tags/tag210.xml"/><Relationship Id="rId31" Type="http://schemas.openxmlformats.org/officeDocument/2006/relationships/tags" Target="../tags/tag209.xml"/><Relationship Id="rId30" Type="http://schemas.openxmlformats.org/officeDocument/2006/relationships/tags" Target="../tags/tag208.xml"/><Relationship Id="rId3" Type="http://schemas.openxmlformats.org/officeDocument/2006/relationships/tags" Target="../tags/tag186.xml"/><Relationship Id="rId29" Type="http://schemas.openxmlformats.org/officeDocument/2006/relationships/tags" Target="../tags/tag207.xml"/><Relationship Id="rId28" Type="http://schemas.openxmlformats.org/officeDocument/2006/relationships/tags" Target="../tags/tag206.xml"/><Relationship Id="rId27" Type="http://schemas.openxmlformats.org/officeDocument/2006/relationships/tags" Target="../tags/tag205.xml"/><Relationship Id="rId26" Type="http://schemas.openxmlformats.org/officeDocument/2006/relationships/tags" Target="../tags/tag204.xml"/><Relationship Id="rId25" Type="http://schemas.openxmlformats.org/officeDocument/2006/relationships/tags" Target="../tags/tag203.xml"/><Relationship Id="rId24" Type="http://schemas.openxmlformats.org/officeDocument/2006/relationships/tags" Target="../tags/tag202.xml"/><Relationship Id="rId23" Type="http://schemas.openxmlformats.org/officeDocument/2006/relationships/tags" Target="../tags/tag201.xml"/><Relationship Id="rId22" Type="http://schemas.openxmlformats.org/officeDocument/2006/relationships/tags" Target="../tags/tag200.xml"/><Relationship Id="rId21" Type="http://schemas.openxmlformats.org/officeDocument/2006/relationships/tags" Target="../tags/tag199.xml"/><Relationship Id="rId20" Type="http://schemas.openxmlformats.org/officeDocument/2006/relationships/tags" Target="../tags/tag198.xml"/><Relationship Id="rId2" Type="http://schemas.openxmlformats.org/officeDocument/2006/relationships/image" Target="../media/image12.png"/><Relationship Id="rId19" Type="http://schemas.openxmlformats.org/officeDocument/2006/relationships/tags" Target="../tags/tag197.xml"/><Relationship Id="rId18" Type="http://schemas.openxmlformats.org/officeDocument/2006/relationships/tags" Target="../tags/tag196.xml"/><Relationship Id="rId17" Type="http://schemas.openxmlformats.org/officeDocument/2006/relationships/tags" Target="../tags/tag195.xml"/><Relationship Id="rId16" Type="http://schemas.openxmlformats.org/officeDocument/2006/relationships/tags" Target="../tags/tag194.xml"/><Relationship Id="rId15" Type="http://schemas.openxmlformats.org/officeDocument/2006/relationships/tags" Target="../tags/tag193.xml"/><Relationship Id="rId14" Type="http://schemas.openxmlformats.org/officeDocument/2006/relationships/tags" Target="../tags/tag192.xml"/><Relationship Id="rId13" Type="http://schemas.openxmlformats.org/officeDocument/2006/relationships/tags" Target="../tags/tag191.xml"/><Relationship Id="rId12" Type="http://schemas.openxmlformats.org/officeDocument/2006/relationships/tags" Target="../tags/tag190.xml"/><Relationship Id="rId11" Type="http://schemas.openxmlformats.org/officeDocument/2006/relationships/image" Target="../media/image9.png"/><Relationship Id="rId10" Type="http://schemas.openxmlformats.org/officeDocument/2006/relationships/tags" Target="../tags/tag189.xml"/><Relationship Id="rId1" Type="http://schemas.openxmlformats.org/officeDocument/2006/relationships/tags" Target="../tags/tag18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39949" y="2511929"/>
            <a:ext cx="8216164" cy="1005840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r>
              <a:rPr lang="zh-CN" altLang="en-US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ea"/>
              </a:rPr>
              <a:t>脑部</a:t>
            </a:r>
            <a:r>
              <a:rPr lang="en-US" altLang="zh-CN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ea"/>
              </a:rPr>
              <a:t>MRI</a:t>
            </a:r>
            <a:r>
              <a:rPr lang="zh-CN" altLang="en-US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ea"/>
              </a:rPr>
              <a:t>分析大模型研究</a:t>
            </a:r>
            <a:endParaRPr lang="zh-CN" altLang="en-US" sz="4800" b="1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  <a:cs typeface="+mn-ea"/>
            </a:endParaRPr>
          </a:p>
        </p:txBody>
      </p:sp>
      <p:grpSp>
        <p:nvGrpSpPr>
          <p:cNvPr id="4" name="b1142882-0153-4ef1-ab3e-a8f8de0e06a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655810" y="76302"/>
            <a:ext cx="2200910" cy="681888"/>
            <a:chOff x="3135086" y="2512940"/>
            <a:chExt cx="5921821" cy="1835296"/>
          </a:xfrm>
        </p:grpSpPr>
        <p:grpSp>
          <p:nvGrpSpPr>
            <p:cNvPr id="3" name="ïṡľïḑé"/>
            <p:cNvGrpSpPr/>
            <p:nvPr/>
          </p:nvGrpSpPr>
          <p:grpSpPr>
            <a:xfrm>
              <a:off x="3135086" y="2512940"/>
              <a:ext cx="1823280" cy="1835296"/>
              <a:chOff x="3551238" y="3067050"/>
              <a:chExt cx="722313" cy="727075"/>
            </a:xfrm>
          </p:grpSpPr>
          <p:sp>
            <p:nvSpPr>
              <p:cNvPr id="35" name="ïşḷîďé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6" name="îṣļïḋé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7" name="îṣ1ï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8" name="iṡḻiḍé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9" name="ïśḻiḋ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0" name="íṣļíḓ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1" name="ïŝlíḑê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2" name="íṩḷïde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3" name="îś1íḓê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" name="íṣļiḓé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5" name="ïṣlïḑ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6" name="iṡḻïde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7" name="íṧḷiḓê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8" name="ïSlîḍe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9" name="ïšḻîďe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0" name="îṣḻîḍ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1" name="îṥḻiḓé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2" name="iŝlïď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3" name="iśḻîḋé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4" name="ís1ídé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5" name="ïṡľïḋè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6" name="išľïḑe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7" name="ïṧlîḑê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8" name="ïšḻiḑ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9" name="işlíḋ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0" name="ï$ļíḋè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1" name="iśľïḓe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2" name="îśḷ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3" name="íšļíḍ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4" name="ïŝḷïḑ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5" name="išļiďè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6" name="îŝľïḍe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7" name="íS1îḑè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8" name="ïṥlïďè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9" name="îṥḷíḍé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0" name="îśļiḑê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1" name="îṩľíď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2" name="iṣľíd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3" name="islíde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4" name="ïṡ1iḍè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5" name="îślïd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6" name="î$ľiḋ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7" name="ïṣļíḓe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8" name="ïṡļíḋè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9" name="íślîde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0" name="ïś1iḓ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1" name="îSļíḓê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2" name="ïSḻiḍè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3" name="îṣļïḋ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4" name="ïś1ïḑê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5" name="ïS1iḋê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6" name="ïšḻïḓé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7" name="îṩḷîḍe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8" name="ísḻ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9" name="îsḻiḋè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0" name="îšľî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1" name="îŝḻiḋé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2" name="íṣḻïdê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3" name="ísḻïḍ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4" name="ïš1îḑe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5" name="ïṧḷîḋ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6" name="íSḷidé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7" name="íṩḻiḍ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8" name="îš1iďe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9" name="îšľïḓê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0" name="îSlïḋé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1" name="ïşľiḑe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2" name="iś1íḍê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3" name="îŝľîdé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4" name="ïṧḻîď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</p:grpSp>
        <p:grpSp>
          <p:nvGrpSpPr>
            <p:cNvPr id="8" name="iṥ1iḓé"/>
            <p:cNvGrpSpPr/>
            <p:nvPr/>
          </p:nvGrpSpPr>
          <p:grpSpPr>
            <a:xfrm>
              <a:off x="5177660" y="2725128"/>
              <a:ext cx="3879247" cy="1410920"/>
              <a:chOff x="4412452" y="3106738"/>
              <a:chExt cx="2312689" cy="841148"/>
            </a:xfrm>
          </p:grpSpPr>
          <p:grpSp>
            <p:nvGrpSpPr>
              <p:cNvPr id="16" name="íṡḷiď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4" name="íślïḍe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8" name="íṣlíḍ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9" name="iṡlïďé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0" name="iśļíḋê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1" name="ísḻí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2" name="îṡḻiḓe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3" name="ïsḻïḓê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34" name="îśľïḍ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5" name="íşḷiḍé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6" name="ïš1í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7" name="işḷïḓ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  <p:grpSp>
            <p:nvGrpSpPr>
              <p:cNvPr id="108" name="íṥlíḓ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109" name="îSļiḋ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0" name="îsľïḓê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1" name="îṡļid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2" name="îṡḻiḋ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3" name="iṩļîďê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4" name="ïšļíḍè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5" name="iśḷïḑ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6" name="íş1iḓ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7" name="îšḻï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8" name="iśḷîďê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9" name="íşlîḓê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0" name="í$ḻiḋê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1" name="iŝḻîďè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2" name="ïsḷídê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3" name="ïSļí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</p:grpSp>
      </p:grpSp>
      <p:pic>
        <p:nvPicPr>
          <p:cNvPr id="125" name="图片 12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3" t="4331" r="52883" b="59154"/>
          <a:stretch>
            <a:fillRect/>
          </a:stretch>
        </p:blipFill>
        <p:spPr>
          <a:xfrm>
            <a:off x="1795326" y="2398404"/>
            <a:ext cx="1030958" cy="1076598"/>
          </a:xfrm>
          <a:prstGeom prst="rect">
            <a:avLst/>
          </a:prstGeom>
        </p:spPr>
      </p:pic>
      <p:cxnSp>
        <p:nvCxnSpPr>
          <p:cNvPr id="139" name="直接连接符 138"/>
          <p:cNvCxnSpPr/>
          <p:nvPr/>
        </p:nvCxnSpPr>
        <p:spPr>
          <a:xfrm>
            <a:off x="0" y="868680"/>
            <a:ext cx="12192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06" y="67964"/>
            <a:ext cx="2626775" cy="662831"/>
          </a:xfrm>
          <a:prstGeom prst="rect">
            <a:avLst/>
          </a:prstGeom>
        </p:spPr>
      </p:pic>
      <p:sp>
        <p:nvSpPr>
          <p:cNvPr id="142" name="文本框 5"/>
          <p:cNvSpPr txBox="1"/>
          <p:nvPr/>
        </p:nvSpPr>
        <p:spPr>
          <a:xfrm>
            <a:off x="5029812" y="5033085"/>
            <a:ext cx="2025015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algn="ctr"/>
            <a:r>
              <a:rPr lang="en-US" altLang="zh-CN" sz="2800" b="1" dirty="0">
                <a:effectLst/>
                <a:latin typeface="微软雅黑" panose="020B0503020204020204" pitchFamily="34" charset="-122"/>
                <a:cs typeface="微软雅黑" panose="020B0503020204020204" pitchFamily="34" charset="-122"/>
              </a:rPr>
              <a:t>2025.10.6</a:t>
            </a:r>
            <a:endParaRPr lang="en-US" altLang="zh-CN" sz="2800" b="1" dirty="0">
              <a:effectLst/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3" name="文本框 5"/>
          <p:cNvSpPr txBox="1"/>
          <p:nvPr/>
        </p:nvSpPr>
        <p:spPr>
          <a:xfrm>
            <a:off x="5029813" y="3859651"/>
            <a:ext cx="2025015" cy="954107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武汉大学</a:t>
            </a:r>
            <a:endParaRPr lang="en-US" altLang="zh-CN" sz="2800" b="1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sz="2800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计算机学院</a:t>
            </a:r>
            <a:endParaRPr lang="en-US" altLang="zh-CN" sz="2800" b="1" dirty="0">
              <a:effectLst/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文本框 327"/>
          <p:cNvSpPr txBox="1"/>
          <p:nvPr>
            <p:custDataLst>
              <p:tags r:id="rId1"/>
            </p:custDataLst>
          </p:nvPr>
        </p:nvSpPr>
        <p:spPr>
          <a:xfrm>
            <a:off x="6765290" y="2320290"/>
            <a:ext cx="22542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实验设计</a:t>
            </a:r>
            <a:endParaRPr kumimoji="1" lang="zh-CN" altLang="en-US" sz="32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0" name="文本框 329"/>
          <p:cNvSpPr txBox="1"/>
          <p:nvPr>
            <p:custDataLst>
              <p:tags r:id="rId2"/>
            </p:custDataLst>
          </p:nvPr>
        </p:nvSpPr>
        <p:spPr>
          <a:xfrm>
            <a:off x="6764020" y="3293745"/>
            <a:ext cx="26847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数据集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2" name="文本框 331"/>
          <p:cNvSpPr txBox="1"/>
          <p:nvPr>
            <p:custDataLst>
              <p:tags r:id="rId3"/>
            </p:custDataLst>
          </p:nvPr>
        </p:nvSpPr>
        <p:spPr>
          <a:xfrm>
            <a:off x="6764020" y="4215130"/>
            <a:ext cx="3549650" cy="639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25000"/>
              </a:lnSpc>
              <a:spcBef>
                <a:spcPct val="20000"/>
              </a:spcBef>
              <a:buClrTx/>
              <a:buSz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模型架构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7" name="文本框 336"/>
          <p:cNvSpPr txBox="1"/>
          <p:nvPr>
            <p:custDataLst>
              <p:tags r:id="rId4"/>
            </p:custDataLst>
          </p:nvPr>
        </p:nvSpPr>
        <p:spPr>
          <a:xfrm>
            <a:off x="5903181" y="2258646"/>
            <a:ext cx="68453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01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8" name="文本框 337"/>
          <p:cNvSpPr txBox="1"/>
          <p:nvPr>
            <p:custDataLst>
              <p:tags r:id="rId5"/>
            </p:custDataLst>
          </p:nvPr>
        </p:nvSpPr>
        <p:spPr>
          <a:xfrm>
            <a:off x="5903181" y="3293591"/>
            <a:ext cx="6845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9" name="文本框 338"/>
          <p:cNvSpPr txBox="1"/>
          <p:nvPr>
            <p:custDataLst>
              <p:tags r:id="rId6"/>
            </p:custDataLst>
          </p:nvPr>
        </p:nvSpPr>
        <p:spPr>
          <a:xfrm>
            <a:off x="5903181" y="4308064"/>
            <a:ext cx="6845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03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39" name="直接连接符 138"/>
          <p:cNvCxnSpPr/>
          <p:nvPr/>
        </p:nvCxnSpPr>
        <p:spPr>
          <a:xfrm>
            <a:off x="0" y="868680"/>
            <a:ext cx="12192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906" y="67964"/>
            <a:ext cx="2626775" cy="662831"/>
          </a:xfrm>
          <a:prstGeom prst="rect">
            <a:avLst/>
          </a:prstGeom>
        </p:spPr>
      </p:pic>
      <p:grpSp>
        <p:nvGrpSpPr>
          <p:cNvPr id="4" name="b1142882-0153-4ef1-ab3e-a8f8de0e06a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9655810" y="76302"/>
            <a:ext cx="2200910" cy="681888"/>
            <a:chOff x="3135086" y="2512940"/>
            <a:chExt cx="5921821" cy="1835296"/>
          </a:xfrm>
        </p:grpSpPr>
        <p:grpSp>
          <p:nvGrpSpPr>
            <p:cNvPr id="3" name="ïṡľïḑé"/>
            <p:cNvGrpSpPr/>
            <p:nvPr/>
          </p:nvGrpSpPr>
          <p:grpSpPr>
            <a:xfrm>
              <a:off x="3135086" y="2512940"/>
              <a:ext cx="1823280" cy="1835296"/>
              <a:chOff x="3551238" y="3067050"/>
              <a:chExt cx="722313" cy="727075"/>
            </a:xfrm>
          </p:grpSpPr>
          <p:sp>
            <p:nvSpPr>
              <p:cNvPr id="35" name="ïşḷîďé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6" name="îṣļïḋé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7" name="îṣ1ï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8" name="iṡḻiḍé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9" name="ïśḻiḋ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0" name="íṣļíḓ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1" name="ïŝlíḑê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2" name="íṩḷïde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3" name="îś1íḓê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" name="íṣļiḓé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5" name="ïṣlïḑ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6" name="iṡḻïde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7" name="íṧḷiḓê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8" name="ïSlîḍe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9" name="ïšḻîďe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0" name="îṣḻîḍ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1" name="îṥḻiḓé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2" name="iŝlïď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3" name="iśḻîḋé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4" name="ís1ídé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5" name="ïṡľïḋè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6" name="išľïḑe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7" name="ïṧlîḑê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8" name="ïšḻiḑ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9" name="işlíḋ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0" name="ï$ļíḋè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1" name="iśľïḓe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2" name="îśḷ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3" name="íšļíḍ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4" name="ïŝḷïḑ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5" name="išļiďè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6" name="îŝľïḍe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7" name="íS1îḑè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8" name="ïṥlïďè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9" name="îṥḷíḍé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0" name="îśļiḑê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1" name="îṩľíď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2" name="iṣľíd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3" name="islíde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4" name="ïṡ1iḍè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5" name="îślïd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6" name="î$ľiḋ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7" name="ïṣļíḓe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8" name="ïṡļíḋè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9" name="íślîde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0" name="ïś1iḓ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1" name="îSļíḓê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2" name="ïSḻiḍè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3" name="îṣļïḋ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4" name="ïś1ïḑê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5" name="ïS1iḋê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6" name="ïšḻïḓé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7" name="îṩḷîḍe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8" name="ísḻ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9" name="îsḻiḋè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0" name="îšľî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1" name="îŝḻiḋé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2" name="íṣḻïdê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3" name="ísḻïḍ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4" name="ïš1îḑe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5" name="ïṧḷîḋ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6" name="íSḷidé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7" name="íṩḻiḍ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8" name="îš1iďe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9" name="îšľïḓê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0" name="îSlïḋé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1" name="ïşľiḑe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2" name="iś1íḍê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3" name="îŝľîdé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4" name="ïṧḻîď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</p:grpSp>
        <p:grpSp>
          <p:nvGrpSpPr>
            <p:cNvPr id="8" name="iṥ1iḓé"/>
            <p:cNvGrpSpPr/>
            <p:nvPr/>
          </p:nvGrpSpPr>
          <p:grpSpPr>
            <a:xfrm>
              <a:off x="5177660" y="2725128"/>
              <a:ext cx="3879247" cy="1410920"/>
              <a:chOff x="4412452" y="3106738"/>
              <a:chExt cx="2312689" cy="841148"/>
            </a:xfrm>
          </p:grpSpPr>
          <p:grpSp>
            <p:nvGrpSpPr>
              <p:cNvPr id="16" name="íṡḷiď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4" name="íślïḍe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8" name="íṣlíḍ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9" name="iṡlïďé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0" name="iśļíḋê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1" name="ísḻí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2" name="îṡḻiḓe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3" name="ïsḻïḓê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34" name="îśľïḍ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5" name="íşḷiḍé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6" name="ïš1í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7" name="işḷïḓ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  <p:grpSp>
            <p:nvGrpSpPr>
              <p:cNvPr id="108" name="íṥlíḓ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109" name="îSļiḋ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0" name="îsľïḓê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1" name="îṡļid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2" name="îṡḻiḋ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3" name="iṩļîďê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4" name="ïšļíḍè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5" name="iśḷïḑ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6" name="íş1iḓ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7" name="îšḻï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8" name="iśḷîďê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9" name="íşlîḓê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0" name="í$ḻiḋê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1" name="iŝḻîďè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2" name="ïsḷídê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3" name="ïSļí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</p:grpSp>
      </p:grpSp>
      <p:cxnSp>
        <p:nvCxnSpPr>
          <p:cNvPr id="2" name="直线连接符 23"/>
          <p:cNvCxnSpPr/>
          <p:nvPr/>
        </p:nvCxnSpPr>
        <p:spPr>
          <a:xfrm>
            <a:off x="4941310" y="1726077"/>
            <a:ext cx="0" cy="419589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331789" y="3293917"/>
            <a:ext cx="1662545" cy="76835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  <a:endParaRPr kumimoji="1" lang="zh-CN" altLang="en-US" sz="44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1142882-0153-4ef1-ab3e-a8f8de0e06a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655810" y="76302"/>
            <a:ext cx="2200910" cy="681888"/>
            <a:chOff x="3135086" y="2512940"/>
            <a:chExt cx="5921821" cy="1835296"/>
          </a:xfrm>
        </p:grpSpPr>
        <p:grpSp>
          <p:nvGrpSpPr>
            <p:cNvPr id="3" name="ïṡľïḑé"/>
            <p:cNvGrpSpPr/>
            <p:nvPr/>
          </p:nvGrpSpPr>
          <p:grpSpPr>
            <a:xfrm>
              <a:off x="3135086" y="2512940"/>
              <a:ext cx="1823280" cy="1835296"/>
              <a:chOff x="3551238" y="3067050"/>
              <a:chExt cx="722313" cy="727075"/>
            </a:xfrm>
          </p:grpSpPr>
          <p:sp>
            <p:nvSpPr>
              <p:cNvPr id="35" name="ïşḷîďé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6" name="îṣļïḋé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7" name="îṣ1ï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8" name="iṡḻiḍé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9" name="ïśḻiḋ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0" name="íṣļíḓ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1" name="ïŝlíḑê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2" name="íṩḷïde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3" name="îś1íḓê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" name="íṣļiḓé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5" name="ïṣlïḑ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6" name="iṡḻïde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7" name="íṧḷiḓê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8" name="ïSlîḍe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9" name="ïšḻîďe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0" name="îṣḻîḍ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1" name="îṥḻiḓé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2" name="iŝlïď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3" name="iśḻîḋé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4" name="ís1ídé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5" name="ïṡľïḋè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6" name="išľïḑe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7" name="ïṧlîḑê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8" name="ïšḻiḑ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9" name="işlíḋ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0" name="ï$ļíḋè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1" name="iśľïḓe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2" name="îśḷ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3" name="íšļíḍ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4" name="ïŝḷïḑ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5" name="išļiďè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6" name="îŝľïḍe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7" name="íS1îḑè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8" name="ïṥlïďè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9" name="îṥḷíḍé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0" name="îśļiḑê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1" name="îṩľíď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2" name="iṣľíd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3" name="islíde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4" name="ïṡ1iḍè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5" name="îślïd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6" name="î$ľiḋ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7" name="ïṣļíḓe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8" name="ïṡļíḋè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9" name="íślîde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0" name="ïś1iḓ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1" name="îSļíḓê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2" name="ïSḻiḍè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3" name="îṣļïḋ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4" name="ïś1ïḑê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5" name="ïS1iḋê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6" name="ïšḻïḓé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7" name="îṩḷîḍe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8" name="ísḻ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9" name="îsḻiḋè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0" name="îšľî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1" name="îŝḻiḋé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2" name="íṣḻïdê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3" name="ísḻïḍ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4" name="ïš1îḑe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5" name="ïṧḷîḋ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6" name="íSḷidé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7" name="íṩḻiḍ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8" name="îš1iďe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9" name="îšľïḓê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0" name="îSlïḋé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1" name="ïşľiḑe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2" name="iś1íḍê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3" name="îŝľîdé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4" name="ïṧḻîď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</p:grpSp>
        <p:grpSp>
          <p:nvGrpSpPr>
            <p:cNvPr id="8" name="iṥ1iḓé"/>
            <p:cNvGrpSpPr/>
            <p:nvPr/>
          </p:nvGrpSpPr>
          <p:grpSpPr>
            <a:xfrm>
              <a:off x="5177660" y="2725128"/>
              <a:ext cx="3879247" cy="1410920"/>
              <a:chOff x="4412452" y="3106738"/>
              <a:chExt cx="2312689" cy="841148"/>
            </a:xfrm>
          </p:grpSpPr>
          <p:grpSp>
            <p:nvGrpSpPr>
              <p:cNvPr id="16" name="íṡḷiď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4" name="íślïḍe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8" name="íṣlíḍ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9" name="iṡlïďé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0" name="iśļíḋê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1" name="ísḻí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2" name="îṡḻiḓe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3" name="ïsḻïḓê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34" name="îśľïḍ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5" name="íşḷiḍé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6" name="ïš1í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7" name="işḷïḓ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  <p:grpSp>
            <p:nvGrpSpPr>
              <p:cNvPr id="108" name="íṥlíḓ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109" name="îSļiḋ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0" name="îsľïḓê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1" name="îṡļid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2" name="îṡḻiḋ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3" name="iṩļîďê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4" name="ïšļíḍè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5" name="iśḷïḑ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6" name="íş1iḓ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7" name="îšḻï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8" name="iśḷîďê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9" name="íşlîḓê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0" name="í$ḻiḋê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1" name="iŝḻîďè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2" name="ïsḷídê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3" name="ïSļí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</p:grpSp>
      </p:grpSp>
      <p:cxnSp>
        <p:nvCxnSpPr>
          <p:cNvPr id="139" name="直接连接符 138"/>
          <p:cNvCxnSpPr/>
          <p:nvPr/>
        </p:nvCxnSpPr>
        <p:spPr>
          <a:xfrm>
            <a:off x="0" y="868680"/>
            <a:ext cx="12192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5"/>
          <p:cNvSpPr txBox="1"/>
          <p:nvPr/>
        </p:nvSpPr>
        <p:spPr>
          <a:xfrm>
            <a:off x="245745" y="1198880"/>
            <a:ext cx="3003550" cy="4914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algn="ctr"/>
            <a:r>
              <a:rPr lang="zh-CN" altLang="en-US" sz="2600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核心研究目标</a:t>
            </a:r>
            <a:endParaRPr lang="zh-CN" altLang="en-US" sz="2600" b="1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5"/>
          <p:cNvSpPr txBox="1"/>
          <p:nvPr/>
        </p:nvSpPr>
        <p:spPr>
          <a:xfrm>
            <a:off x="583565" y="2654300"/>
            <a:ext cx="8288020" cy="42989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marL="457200" indent="-457200" algn="ctr">
              <a:buFont typeface="Wingdings" panose="05000000000000000000" charset="0"/>
              <a:buChar char="u"/>
            </a:pPr>
            <a:r>
              <a:rPr lang="zh-CN" altLang="en-US" sz="2200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诊断效率低：医生解读</a:t>
            </a:r>
            <a:r>
              <a:rPr lang="en-US" altLang="zh-CN" sz="2200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MRI</a:t>
            </a:r>
            <a:r>
              <a:rPr lang="zh-CN" altLang="en-US" sz="2200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序列耗时，紧急场景难以快速决策</a:t>
            </a:r>
            <a:endParaRPr lang="zh-CN" altLang="en-US" sz="2200" b="1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文本框 5"/>
          <p:cNvSpPr txBox="1"/>
          <p:nvPr/>
        </p:nvSpPr>
        <p:spPr>
          <a:xfrm>
            <a:off x="583565" y="3317875"/>
            <a:ext cx="8288020" cy="42989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marL="457200" indent="-457200" algn="ctr">
              <a:buFont typeface="Wingdings" panose="05000000000000000000" charset="0"/>
              <a:buChar char="u"/>
            </a:pPr>
            <a:r>
              <a:rPr lang="zh-CN" altLang="en-US" sz="2200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临床交互弱：模型局限单一任务，缺乏报告生成、医患对话等</a:t>
            </a:r>
            <a:endParaRPr lang="zh-CN" altLang="en-US" sz="2200" b="1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框 5"/>
          <p:cNvSpPr txBox="1"/>
          <p:nvPr/>
        </p:nvSpPr>
        <p:spPr>
          <a:xfrm>
            <a:off x="583565" y="4026535"/>
            <a:ext cx="8788400" cy="42989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marL="457200" indent="-457200" algn="ctr">
              <a:buFont typeface="Wingdings" panose="05000000000000000000" charset="0"/>
              <a:buChar char="u"/>
            </a:pPr>
            <a:r>
              <a:rPr lang="zh-CN" altLang="en-US" sz="2200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模型统一差：诊断与报告需全局特征，分割分类与预后需局部特征</a:t>
            </a:r>
            <a:endParaRPr lang="zh-CN" altLang="en-US" sz="2200" b="1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文本框 5"/>
          <p:cNvSpPr txBox="1"/>
          <p:nvPr/>
        </p:nvSpPr>
        <p:spPr>
          <a:xfrm>
            <a:off x="583565" y="2010410"/>
            <a:ext cx="10570845" cy="42989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marL="457200" indent="-457200" algn="ctr">
              <a:buFont typeface="Wingdings" panose="05000000000000000000" charset="0"/>
              <a:buChar char="u"/>
            </a:pPr>
            <a:r>
              <a:rPr lang="zh-CN" altLang="en-US" sz="2200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数据获取匮乏：受限患者隐私与标注成本，传统方法依赖大量图像</a:t>
            </a:r>
            <a:r>
              <a:rPr lang="en-US" altLang="zh-CN" sz="2200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200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标注监督训练</a:t>
            </a:r>
            <a:endParaRPr lang="zh-CN" altLang="en-US" sz="2200" b="1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文本框 5"/>
          <p:cNvSpPr txBox="1"/>
          <p:nvPr/>
        </p:nvSpPr>
        <p:spPr>
          <a:xfrm>
            <a:off x="583565" y="4700270"/>
            <a:ext cx="8288020" cy="42989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marL="457200" indent="-457200" algn="ctr">
              <a:buFont typeface="Wingdings" panose="05000000000000000000" charset="0"/>
              <a:buChar char="u"/>
            </a:pPr>
            <a:r>
              <a:rPr lang="zh-CN" altLang="en-US" sz="2200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临床实用性差：未通过严格临床验证，无法融入真实诊疗流程</a:t>
            </a:r>
            <a:endParaRPr lang="zh-CN" altLang="en-US" sz="2200" b="1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4" name="标题 1"/>
          <p:cNvSpPr txBox="1"/>
          <p:nvPr/>
        </p:nvSpPr>
        <p:spPr bwMode="auto">
          <a:xfrm>
            <a:off x="43815" y="175895"/>
            <a:ext cx="5455920" cy="678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3200" kern="0" dirty="0">
                <a:solidFill>
                  <a:schemeClr val="tx1"/>
                </a:solidFill>
                <a:latin typeface="+mj-ea"/>
              </a:rPr>
              <a:t>实验设计</a:t>
            </a:r>
            <a:endParaRPr lang="zh-CN" altLang="en-US" sz="3200" kern="0" dirty="0">
              <a:solidFill>
                <a:schemeClr val="tx1"/>
              </a:solidFill>
              <a:latin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1142882-0153-4ef1-ab3e-a8f8de0e06a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655810" y="76302"/>
            <a:ext cx="2200910" cy="681888"/>
            <a:chOff x="3135086" y="2512940"/>
            <a:chExt cx="5921821" cy="1835296"/>
          </a:xfrm>
        </p:grpSpPr>
        <p:grpSp>
          <p:nvGrpSpPr>
            <p:cNvPr id="3" name="ïṡľïḑé"/>
            <p:cNvGrpSpPr/>
            <p:nvPr/>
          </p:nvGrpSpPr>
          <p:grpSpPr>
            <a:xfrm>
              <a:off x="3135086" y="2512940"/>
              <a:ext cx="1823280" cy="1835296"/>
              <a:chOff x="3551238" y="3067050"/>
              <a:chExt cx="722313" cy="727075"/>
            </a:xfrm>
          </p:grpSpPr>
          <p:sp>
            <p:nvSpPr>
              <p:cNvPr id="35" name="ïşḷîďé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6" name="îṣļïḋé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7" name="îṣ1ï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8" name="iṡḻiḍé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9" name="ïśḻiḋ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0" name="íṣļíḓ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1" name="ïŝlíḑê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2" name="íṩḷïde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3" name="îś1íḓê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" name="íṣļiḓé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5" name="ïṣlïḑ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6" name="iṡḻïde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7" name="íṧḷiḓê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8" name="ïSlîḍe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9" name="ïšḻîďe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0" name="îṣḻîḍ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1" name="îṥḻiḓé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2" name="iŝlïď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3" name="iśḻîḋé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4" name="ís1ídé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5" name="ïṡľïḋè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6" name="išľïḑe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7" name="ïṧlîḑê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8" name="ïšḻiḑ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9" name="işlíḋ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0" name="ï$ļíḋè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1" name="iśľïḓe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2" name="îśḷ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3" name="íšļíḍ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4" name="ïŝḷïḑ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5" name="išļiďè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6" name="îŝľïḍe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7" name="íS1îḑè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8" name="ïṥlïďè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9" name="îṥḷíḍé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0" name="îśļiḑê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1" name="îṩľíď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2" name="iṣľíd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3" name="islíde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4" name="ïṡ1iḍè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5" name="îślïd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6" name="î$ľiḋ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7" name="ïṣļíḓe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8" name="ïṡļíḋè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9" name="íślîde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0" name="ïś1iḓ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1" name="îSļíḓê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2" name="ïSḻiḍè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3" name="îṣļïḋ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4" name="ïś1ïḑê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5" name="ïS1iḋê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6" name="ïšḻïḓé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7" name="îṩḷîḍe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8" name="ísḻ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9" name="îsḻiḋè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0" name="îšľî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1" name="îŝḻiḋé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2" name="íṣḻïdê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3" name="ísḻïḍ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4" name="ïš1îḑe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5" name="ïṧḷîḋ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6" name="íSḷidé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7" name="íṩḻiḍ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8" name="îš1iďe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9" name="îšľïḓê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0" name="îSlïḋé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1" name="ïşľiḑe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2" name="iś1íḍê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3" name="îŝľîdé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4" name="ïṧḻîď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</p:grpSp>
        <p:grpSp>
          <p:nvGrpSpPr>
            <p:cNvPr id="8" name="iṥ1iḓé"/>
            <p:cNvGrpSpPr/>
            <p:nvPr/>
          </p:nvGrpSpPr>
          <p:grpSpPr>
            <a:xfrm>
              <a:off x="5177660" y="2725128"/>
              <a:ext cx="3879247" cy="1410920"/>
              <a:chOff x="4412452" y="3106738"/>
              <a:chExt cx="2312689" cy="841148"/>
            </a:xfrm>
          </p:grpSpPr>
          <p:grpSp>
            <p:nvGrpSpPr>
              <p:cNvPr id="16" name="íṡḷiď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4" name="íślïḍe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8" name="íṣlíḍ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9" name="iṡlïďé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0" name="iśļíḋê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1" name="ísḻí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2" name="îṡḻiḓe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3" name="ïsḻïḓê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34" name="îśľïḍ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5" name="íşḷiḍé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6" name="ïš1í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7" name="işḷïḓ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  <p:grpSp>
            <p:nvGrpSpPr>
              <p:cNvPr id="108" name="íṥlíḓ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109" name="îSļiḋ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0" name="îsľïḓê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1" name="îṡļid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2" name="îṡḻiḋ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3" name="iṩļîďê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4" name="ïšļíḍè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5" name="iśḷïḑ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6" name="íş1iḓ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7" name="îšḻï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8" name="iśḷîďê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9" name="íşlîḓê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0" name="í$ḻiḋê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1" name="iŝḻîďè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2" name="ïsḷídê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3" name="ïSļí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</p:grpSp>
      </p:grpSp>
      <p:cxnSp>
        <p:nvCxnSpPr>
          <p:cNvPr id="139" name="直接连接符 138"/>
          <p:cNvCxnSpPr/>
          <p:nvPr/>
        </p:nvCxnSpPr>
        <p:spPr>
          <a:xfrm>
            <a:off x="0" y="868680"/>
            <a:ext cx="12192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5"/>
          <p:cNvSpPr txBox="1"/>
          <p:nvPr/>
        </p:nvSpPr>
        <p:spPr>
          <a:xfrm>
            <a:off x="1591310" y="2090420"/>
            <a:ext cx="4069715" cy="4914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algn="ctr"/>
            <a:r>
              <a:rPr lang="zh-CN" altLang="en-US" sz="2600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模型开发（预训练）</a:t>
            </a:r>
            <a:endParaRPr lang="zh-CN" altLang="en-US" sz="2600" b="1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16395" y="2090420"/>
            <a:ext cx="4530090" cy="4914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algn="ctr"/>
            <a:r>
              <a:rPr lang="zh-CN" altLang="en-US" sz="2600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全场景验证（多中心）</a:t>
            </a:r>
            <a:endParaRPr lang="zh-CN" altLang="en-US" sz="2600" b="1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5"/>
          <p:cNvSpPr txBox="1"/>
          <p:nvPr/>
        </p:nvSpPr>
        <p:spPr>
          <a:xfrm>
            <a:off x="1383030" y="2827020"/>
            <a:ext cx="4069715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marL="457200" indent="-457200" algn="ctr">
              <a:buFont typeface="+mj-lt"/>
              <a:buAutoNum type="arabicPeriod"/>
            </a:pPr>
            <a:r>
              <a:rPr lang="en-US" altLang="zh-CN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MRI</a:t>
            </a:r>
            <a:r>
              <a:rPr lang="zh-CN" altLang="en-US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编码器自监督学习</a:t>
            </a:r>
            <a:endParaRPr lang="zh-CN" altLang="en-US" b="1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5"/>
          <p:cNvSpPr txBox="1"/>
          <p:nvPr/>
        </p:nvSpPr>
        <p:spPr>
          <a:xfrm>
            <a:off x="1279525" y="3618230"/>
            <a:ext cx="3756025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marL="457200" indent="-457200" algn="ctr">
              <a:buFont typeface="+mj-lt"/>
              <a:buAutoNum type="arabicPeriod" startAt="2"/>
            </a:pPr>
            <a:r>
              <a:rPr lang="en-US" altLang="zh-CN" b="1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视觉-语言联合训练</a:t>
            </a:r>
            <a:endParaRPr lang="en-US" altLang="zh-CN" b="1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5"/>
          <p:cNvSpPr txBox="1"/>
          <p:nvPr/>
        </p:nvSpPr>
        <p:spPr>
          <a:xfrm>
            <a:off x="1377315" y="4459605"/>
            <a:ext cx="4069715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marL="457200" indent="-457200" algn="ctr">
              <a:buClrTx/>
              <a:buSzTx/>
              <a:buFont typeface="+mj-lt"/>
              <a:buAutoNum type="arabicPeriod" startAt="3"/>
            </a:pPr>
            <a:r>
              <a:rPr lang="en-US" altLang="zh-CN" b="1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下游任务的适配器训练</a:t>
            </a:r>
            <a:endParaRPr lang="en-US" altLang="zh-CN" b="1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5"/>
          <p:cNvSpPr txBox="1"/>
          <p:nvPr/>
        </p:nvSpPr>
        <p:spPr>
          <a:xfrm>
            <a:off x="6817360" y="2827020"/>
            <a:ext cx="4069715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marL="457200" indent="-457200" algn="ctr"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技术效能验证</a:t>
            </a:r>
            <a:r>
              <a:rPr lang="en-US" altLang="zh-CN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回顾性</a:t>
            </a:r>
            <a:endParaRPr lang="zh-CN" altLang="en-US" b="1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5"/>
          <p:cNvSpPr txBox="1"/>
          <p:nvPr/>
        </p:nvSpPr>
        <p:spPr>
          <a:xfrm>
            <a:off x="6817360" y="3618230"/>
            <a:ext cx="4069715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marL="457200" indent="-457200" algn="ctr">
              <a:buFont typeface="+mj-lt"/>
              <a:buAutoNum type="arabicPeriod" startAt="2"/>
            </a:pPr>
            <a:r>
              <a:rPr lang="zh-CN" altLang="en-US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临床效能验证</a:t>
            </a:r>
            <a:r>
              <a:rPr lang="en-US" altLang="zh-CN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前瞻性</a:t>
            </a:r>
            <a:endParaRPr lang="zh-CN" altLang="en-US" b="1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5"/>
          <p:cNvSpPr txBox="1"/>
          <p:nvPr/>
        </p:nvSpPr>
        <p:spPr>
          <a:xfrm>
            <a:off x="6673215" y="4459605"/>
            <a:ext cx="4069715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marL="457200" indent="-457200" algn="ctr">
              <a:buFont typeface="+mj-lt"/>
              <a:buAutoNum type="arabicPeriod" startAt="3"/>
            </a:pPr>
            <a:r>
              <a:rPr lang="zh-CN" altLang="en-US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临床价值验证</a:t>
            </a:r>
            <a:r>
              <a:rPr lang="en-US" altLang="zh-CN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cs typeface="微软雅黑" panose="020B0503020204020204" pitchFamily="34" charset="-122"/>
              </a:rPr>
              <a:t>对照</a:t>
            </a:r>
            <a:endParaRPr lang="zh-CN" altLang="en-US" b="1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4" name="标题 1"/>
          <p:cNvSpPr txBox="1"/>
          <p:nvPr/>
        </p:nvSpPr>
        <p:spPr bwMode="auto">
          <a:xfrm>
            <a:off x="43815" y="175895"/>
            <a:ext cx="5455920" cy="678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3200" kern="0" dirty="0">
                <a:solidFill>
                  <a:schemeClr val="tx1"/>
                </a:solidFill>
                <a:latin typeface="+mj-ea"/>
              </a:rPr>
              <a:t>实验设计</a:t>
            </a:r>
            <a:endParaRPr lang="zh-CN" altLang="en-US" sz="3200" kern="0" dirty="0">
              <a:solidFill>
                <a:schemeClr val="tx1"/>
              </a:solidFill>
              <a:latin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1142882-0153-4ef1-ab3e-a8f8de0e06a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655810" y="76302"/>
            <a:ext cx="2200910" cy="681888"/>
            <a:chOff x="3135086" y="2512940"/>
            <a:chExt cx="5921821" cy="1835296"/>
          </a:xfrm>
        </p:grpSpPr>
        <p:grpSp>
          <p:nvGrpSpPr>
            <p:cNvPr id="3" name="ïṡľïḑé"/>
            <p:cNvGrpSpPr/>
            <p:nvPr/>
          </p:nvGrpSpPr>
          <p:grpSpPr>
            <a:xfrm>
              <a:off x="3135086" y="2512940"/>
              <a:ext cx="1823280" cy="1835296"/>
              <a:chOff x="3551238" y="3067050"/>
              <a:chExt cx="722313" cy="727075"/>
            </a:xfrm>
          </p:grpSpPr>
          <p:sp>
            <p:nvSpPr>
              <p:cNvPr id="35" name="ïşḷîďé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6" name="îṣļïḋé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7" name="îṣ1ï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8" name="iṡḻiḍé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9" name="ïśḻiḋ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0" name="íṣļíḓ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1" name="ïŝlíḑê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2" name="íṩḷïde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3" name="îś1íḓê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" name="íṣļiḓé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5" name="ïṣlïḑ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6" name="iṡḻïde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7" name="íṧḷiḓê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8" name="ïSlîḍe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9" name="ïšḻîďe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0" name="îṣḻîḍ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1" name="îṥḻiḓé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2" name="iŝlïď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3" name="iśḻîḋé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4" name="ís1ídé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5" name="ïṡľïḋè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6" name="išľïḑe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7" name="ïṧlîḑê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8" name="ïšḻiḑ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9" name="işlíḋ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0" name="ï$ļíḋè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1" name="iśľïḓe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2" name="îśḷ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3" name="íšļíḍ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4" name="ïŝḷïḑ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5" name="išļiďè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6" name="îŝľïḍe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7" name="íS1îḑè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8" name="ïṥlïďè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9" name="îṥḷíḍé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0" name="îśļiḑê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1" name="îṩľíď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2" name="iṣľíd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3" name="islíde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4" name="ïṡ1iḍè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5" name="îślïd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6" name="î$ľiḋ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7" name="ïṣļíḓe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8" name="ïṡļíḋè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9" name="íślîde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0" name="ïś1iḓ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1" name="îSļíḓê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2" name="ïSḻiḍè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3" name="îṣļïḋ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4" name="ïś1ïḑê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5" name="ïS1iḋê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6" name="ïšḻïḓé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7" name="îṩḷîḍe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8" name="ísḻ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9" name="îsḻiḋè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0" name="îšľî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1" name="îŝḻiḋé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2" name="íṣḻïdê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3" name="ísḻïḍ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4" name="ïš1îḑe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5" name="ïṧḷîḋ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6" name="íSḷidé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7" name="íṩḻiḍ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8" name="îš1iďe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9" name="îšľïḓê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0" name="îSlïḋé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1" name="ïşľiḑe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2" name="iś1íḍê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3" name="îŝľîdé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4" name="ïṧḻîď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</p:grpSp>
        <p:grpSp>
          <p:nvGrpSpPr>
            <p:cNvPr id="8" name="iṥ1iḓé"/>
            <p:cNvGrpSpPr/>
            <p:nvPr/>
          </p:nvGrpSpPr>
          <p:grpSpPr>
            <a:xfrm>
              <a:off x="5177660" y="2725128"/>
              <a:ext cx="3879247" cy="1410920"/>
              <a:chOff x="4412452" y="3106738"/>
              <a:chExt cx="2312689" cy="841148"/>
            </a:xfrm>
          </p:grpSpPr>
          <p:grpSp>
            <p:nvGrpSpPr>
              <p:cNvPr id="16" name="íṡḷiď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4" name="íślïḍe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8" name="íṣlíḍ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9" name="iṡlïďé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0" name="iśļíḋê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1" name="ísḻí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2" name="îṡḻiḓe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3" name="ïsḻïḓê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34" name="îśľïḍ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5" name="íşḷiḍé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6" name="ïš1í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7" name="işḷïḓ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  <p:grpSp>
            <p:nvGrpSpPr>
              <p:cNvPr id="108" name="íṥlíḓ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109" name="îSļiḋ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0" name="îsľïḓê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1" name="îṡļid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2" name="îṡḻiḋ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3" name="iṩļîďê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4" name="ïšļíḍè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5" name="iśḷïḑ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6" name="íş1iḓ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7" name="îšḻï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8" name="iśḷîďê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9" name="íşlîḓê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0" name="í$ḻiḋê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1" name="iŝḻîďè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2" name="ïsḷídê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3" name="ïSļí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</p:grpSp>
      </p:grpSp>
      <p:cxnSp>
        <p:nvCxnSpPr>
          <p:cNvPr id="139" name="直接连接符 138"/>
          <p:cNvCxnSpPr/>
          <p:nvPr/>
        </p:nvCxnSpPr>
        <p:spPr>
          <a:xfrm>
            <a:off x="0" y="868680"/>
            <a:ext cx="12192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标题 1"/>
          <p:cNvSpPr txBox="1"/>
          <p:nvPr/>
        </p:nvSpPr>
        <p:spPr bwMode="auto">
          <a:xfrm>
            <a:off x="43815" y="175895"/>
            <a:ext cx="5455920" cy="678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3200" kern="0" dirty="0">
                <a:solidFill>
                  <a:schemeClr val="tx1"/>
                </a:solidFill>
                <a:latin typeface="+mj-ea"/>
              </a:rPr>
              <a:t>数据集</a:t>
            </a:r>
            <a:endParaRPr lang="zh-CN" altLang="en-US" sz="3200" kern="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" name="标题 1"/>
          <p:cNvSpPr txBox="1"/>
          <p:nvPr/>
        </p:nvSpPr>
        <p:spPr bwMode="auto">
          <a:xfrm>
            <a:off x="3140710" y="1268730"/>
            <a:ext cx="591121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2400" kern="0" dirty="0">
                <a:solidFill>
                  <a:srgbClr val="00B0F0"/>
                </a:solidFill>
              </a:rPr>
              <a:t>多中心整合，标准化处理，语义关联标注</a:t>
            </a:r>
            <a:endParaRPr lang="zh-CN" altLang="en-US" sz="2400" kern="0" dirty="0">
              <a:solidFill>
                <a:srgbClr val="00B0F0"/>
              </a:solidFill>
            </a:endParaRPr>
          </a:p>
        </p:txBody>
      </p:sp>
      <p:sp>
        <p:nvSpPr>
          <p:cNvPr id="17" name="标题 1"/>
          <p:cNvSpPr txBox="1"/>
          <p:nvPr/>
        </p:nvSpPr>
        <p:spPr bwMode="auto">
          <a:xfrm>
            <a:off x="805180" y="2650490"/>
            <a:ext cx="747014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患者数：</a:t>
            </a:r>
            <a:r>
              <a:rPr lang="en-US" altLang="zh-CN" sz="2000" kern="0" dirty="0">
                <a:solidFill>
                  <a:srgbClr val="FF0000"/>
                </a:solidFill>
              </a:rPr>
              <a:t>6.3</a:t>
            </a:r>
            <a:r>
              <a:rPr lang="zh-CN" altLang="en-US" sz="2000" kern="0" dirty="0">
                <a:solidFill>
                  <a:srgbClr val="FF0000"/>
                </a:solidFill>
              </a:rPr>
              <a:t>万</a:t>
            </a:r>
            <a:r>
              <a:rPr lang="zh-CN" altLang="en-US" sz="2000" kern="0" dirty="0">
                <a:solidFill>
                  <a:schemeClr val="tx2"/>
                </a:solidFill>
              </a:rPr>
              <a:t>例患者，涵盖不同性格、不同年龄段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25" name="标题 1"/>
          <p:cNvSpPr txBox="1"/>
          <p:nvPr/>
        </p:nvSpPr>
        <p:spPr bwMode="auto">
          <a:xfrm>
            <a:off x="805180" y="3493770"/>
            <a:ext cx="807656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en-US" altLang="zh-CN" sz="2000" kern="0" dirty="0">
                <a:solidFill>
                  <a:schemeClr val="tx2"/>
                </a:solidFill>
              </a:rPr>
              <a:t>MRI</a:t>
            </a:r>
            <a:r>
              <a:rPr lang="zh-CN" altLang="en-US" sz="2000" kern="0" dirty="0">
                <a:solidFill>
                  <a:schemeClr val="tx2"/>
                </a:solidFill>
              </a:rPr>
              <a:t>影像库：</a:t>
            </a:r>
            <a:r>
              <a:rPr lang="zh-CN" altLang="en-US" sz="2000" kern="0" dirty="0">
                <a:solidFill>
                  <a:srgbClr val="FF0000"/>
                </a:solidFill>
                <a:sym typeface="+mn-ea"/>
              </a:rPr>
              <a:t>超</a:t>
            </a:r>
            <a:r>
              <a:rPr lang="en-US" altLang="zh-CN" sz="2000" kern="0" dirty="0">
                <a:solidFill>
                  <a:srgbClr val="FF0000"/>
                </a:solidFill>
                <a:sym typeface="+mn-ea"/>
              </a:rPr>
              <a:t>1100</a:t>
            </a:r>
            <a:r>
              <a:rPr lang="zh-CN" altLang="en-US" sz="2000" kern="0" dirty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sz="2000" kern="0" dirty="0">
                <a:sym typeface="+mn-ea"/>
              </a:rPr>
              <a:t>张多序列</a:t>
            </a:r>
            <a:r>
              <a:rPr lang="en-US" altLang="zh-CN" sz="2000" kern="0" dirty="0">
                <a:sym typeface="+mn-ea"/>
              </a:rPr>
              <a:t>MRI</a:t>
            </a:r>
            <a:r>
              <a:rPr lang="zh-CN" altLang="en-US" sz="2000" kern="0" dirty="0">
                <a:sym typeface="+mn-ea"/>
              </a:rPr>
              <a:t>影像，包含</a:t>
            </a:r>
            <a:r>
              <a:rPr lang="en-US" altLang="zh-CN" sz="2000" kern="0" dirty="0">
                <a:sym typeface="+mn-ea"/>
              </a:rPr>
              <a:t>T1</a:t>
            </a:r>
            <a:r>
              <a:rPr lang="zh-CN" altLang="en-US" sz="2000" kern="0" dirty="0">
                <a:sym typeface="+mn-ea"/>
              </a:rPr>
              <a:t>，</a:t>
            </a:r>
            <a:r>
              <a:rPr lang="en-US" altLang="zh-CN" sz="2000" kern="0" dirty="0">
                <a:sym typeface="+mn-ea"/>
              </a:rPr>
              <a:t>T2</a:t>
            </a:r>
            <a:r>
              <a:rPr lang="zh-CN" altLang="en-US" sz="2000" kern="0" dirty="0">
                <a:sym typeface="+mn-ea"/>
              </a:rPr>
              <a:t>，</a:t>
            </a:r>
            <a:r>
              <a:rPr lang="en-US" altLang="zh-CN" sz="2000" kern="0" dirty="0">
                <a:sym typeface="+mn-ea"/>
              </a:rPr>
              <a:t>DWI</a:t>
            </a:r>
            <a:r>
              <a:rPr lang="zh-CN" altLang="en-US" sz="2000" kern="0" dirty="0">
                <a:sym typeface="+mn-ea"/>
              </a:rPr>
              <a:t>等</a:t>
            </a:r>
            <a:endParaRPr lang="zh-CN" altLang="en-US" sz="2000" kern="0" dirty="0">
              <a:solidFill>
                <a:schemeClr val="tx2"/>
              </a:solidFill>
            </a:endParaRPr>
          </a:p>
          <a:p>
            <a:pPr marL="342900" indent="-342900" algn="l">
              <a:buFont typeface="Wingdings" panose="05000000000000000000" charset="0"/>
              <a:buChar char="u"/>
            </a:pP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27" name="标题 1"/>
          <p:cNvSpPr txBox="1"/>
          <p:nvPr/>
        </p:nvSpPr>
        <p:spPr bwMode="auto">
          <a:xfrm>
            <a:off x="805180" y="2008505"/>
            <a:ext cx="451040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indent="0" algn="l">
              <a:buFont typeface="Wingdings" panose="05000000000000000000" charset="0"/>
              <a:buNone/>
            </a:pPr>
            <a:r>
              <a:rPr lang="zh-CN" altLang="en-US" sz="2200" kern="0" dirty="0">
                <a:solidFill>
                  <a:schemeClr val="tx2"/>
                </a:solidFill>
              </a:rPr>
              <a:t>图像编码器预训练阶段：</a:t>
            </a:r>
            <a:endParaRPr lang="zh-CN" altLang="en-US" sz="2200" kern="0" dirty="0">
              <a:solidFill>
                <a:schemeClr val="tx2"/>
              </a:solidFill>
            </a:endParaRPr>
          </a:p>
        </p:txBody>
      </p:sp>
      <p:sp>
        <p:nvSpPr>
          <p:cNvPr id="28" name="标题 1"/>
          <p:cNvSpPr txBox="1"/>
          <p:nvPr/>
        </p:nvSpPr>
        <p:spPr bwMode="auto">
          <a:xfrm>
            <a:off x="805180" y="3997325"/>
            <a:ext cx="498856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疾病覆盖：正常、肿瘤等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29" name="标题 1"/>
          <p:cNvSpPr txBox="1"/>
          <p:nvPr/>
        </p:nvSpPr>
        <p:spPr bwMode="auto">
          <a:xfrm>
            <a:off x="805180" y="4598035"/>
            <a:ext cx="498856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训练：验证划分</a:t>
            </a:r>
            <a:r>
              <a:rPr lang="en-US" altLang="zh-CN" sz="2000" kern="0" dirty="0">
                <a:solidFill>
                  <a:schemeClr val="tx2"/>
                </a:solidFill>
              </a:rPr>
              <a:t> = </a:t>
            </a:r>
            <a:r>
              <a:rPr lang="en-US" altLang="zh-CN" sz="2000" kern="0" dirty="0">
                <a:solidFill>
                  <a:srgbClr val="FF0000"/>
                </a:solidFill>
              </a:rPr>
              <a:t>8:2</a:t>
            </a:r>
            <a:endParaRPr lang="en-US" altLang="zh-CN" sz="2000" kern="0" dirty="0">
              <a:solidFill>
                <a:srgbClr val="FF0000"/>
              </a:solidFill>
            </a:endParaRPr>
          </a:p>
        </p:txBody>
      </p:sp>
      <p:sp>
        <p:nvSpPr>
          <p:cNvPr id="30" name="标题 1"/>
          <p:cNvSpPr txBox="1"/>
          <p:nvPr/>
        </p:nvSpPr>
        <p:spPr bwMode="auto">
          <a:xfrm>
            <a:off x="805180" y="5215255"/>
            <a:ext cx="799020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/>
              <a:t>影像处理：统一Resize 256×256，像素至</a:t>
            </a:r>
            <a:r>
              <a:rPr lang="en-US" altLang="zh-CN" sz="2000" kern="0" dirty="0"/>
              <a:t>[0,255]</a:t>
            </a:r>
            <a:r>
              <a:rPr lang="zh-CN" altLang="en-US" sz="2000" kern="0" dirty="0"/>
              <a:t>，排除伪影</a:t>
            </a:r>
            <a:endParaRPr lang="zh-CN" altLang="en-US" sz="2000" kern="0" dirty="0"/>
          </a:p>
        </p:txBody>
      </p:sp>
      <p:sp>
        <p:nvSpPr>
          <p:cNvPr id="31" name="标题 1"/>
          <p:cNvSpPr txBox="1"/>
          <p:nvPr/>
        </p:nvSpPr>
        <p:spPr bwMode="auto">
          <a:xfrm>
            <a:off x="805180" y="5777230"/>
            <a:ext cx="799020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/>
              <a:t>数据增强：随机</a:t>
            </a:r>
            <a:r>
              <a:rPr lang="zh-CN" altLang="en-US" sz="2000" kern="0" dirty="0">
                <a:sym typeface="+mn-ea"/>
              </a:rPr>
              <a:t>旋转、翻转、对比度等调整</a:t>
            </a:r>
            <a:endParaRPr lang="zh-CN" altLang="en-US" sz="2000" kern="0" dirty="0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1142882-0153-4ef1-ab3e-a8f8de0e06a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655810" y="76302"/>
            <a:ext cx="2200910" cy="681888"/>
            <a:chOff x="3135086" y="2512940"/>
            <a:chExt cx="5921821" cy="1835296"/>
          </a:xfrm>
        </p:grpSpPr>
        <p:grpSp>
          <p:nvGrpSpPr>
            <p:cNvPr id="3" name="ïṡľïḑé"/>
            <p:cNvGrpSpPr/>
            <p:nvPr/>
          </p:nvGrpSpPr>
          <p:grpSpPr>
            <a:xfrm>
              <a:off x="3135086" y="2512940"/>
              <a:ext cx="1823280" cy="1835296"/>
              <a:chOff x="3551238" y="3067050"/>
              <a:chExt cx="722313" cy="727075"/>
            </a:xfrm>
          </p:grpSpPr>
          <p:sp>
            <p:nvSpPr>
              <p:cNvPr id="35" name="ïşḷîďé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6" name="îṣļïḋé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7" name="îṣ1ï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8" name="iṡḻiḍé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9" name="ïśḻiḋ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0" name="íṣļíḓ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1" name="ïŝlíḑê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2" name="íṩḷïde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3" name="îś1íḓê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" name="íṣļiḓé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5" name="ïṣlïḑ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6" name="iṡḻïde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7" name="íṧḷiḓê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8" name="ïSlîḍe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9" name="ïšḻîďe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0" name="îṣḻîḍ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1" name="îṥḻiḓé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2" name="iŝlïď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3" name="iśḻîḋé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4" name="ís1ídé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5" name="ïṡľïḋè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6" name="išľïḑe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7" name="ïṧlîḑê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8" name="ïšḻiḑ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9" name="işlíḋ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0" name="ï$ļíḋè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1" name="iśľïḓe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2" name="îśḷ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3" name="íšļíḍ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4" name="ïŝḷïḑ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5" name="išļiďè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6" name="îŝľïḍe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7" name="íS1îḑè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8" name="ïṥlïďè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9" name="îṥḷíḍé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0" name="îśļiḑê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1" name="îṩľíď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2" name="iṣľíd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3" name="islíde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4" name="ïṡ1iḍè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5" name="îślïd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6" name="î$ľiḋ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7" name="ïṣļíḓe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8" name="ïṡļíḋè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9" name="íślîde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0" name="ïś1iḓ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1" name="îSļíḓê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2" name="ïSḻiḍè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3" name="îṣļïḋ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4" name="ïś1ïḑê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5" name="ïS1iḋê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6" name="ïšḻïḓé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7" name="îṩḷîḍe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8" name="ísḻ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9" name="îsḻiḋè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0" name="îšľî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1" name="îŝḻiḋé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2" name="íṣḻïdê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3" name="ísḻïḍ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4" name="ïš1îḑe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5" name="ïṧḷîḋ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6" name="íSḷidé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7" name="íṩḻiḍ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8" name="îš1iďe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9" name="îšľïḓê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0" name="îSlïḋé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1" name="ïşľiḑe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2" name="iś1íḍê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3" name="îŝľîdé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4" name="ïṧḻîď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</p:grpSp>
        <p:grpSp>
          <p:nvGrpSpPr>
            <p:cNvPr id="8" name="iṥ1iḓé"/>
            <p:cNvGrpSpPr/>
            <p:nvPr/>
          </p:nvGrpSpPr>
          <p:grpSpPr>
            <a:xfrm>
              <a:off x="5177660" y="2725128"/>
              <a:ext cx="3879247" cy="1410920"/>
              <a:chOff x="4412452" y="3106738"/>
              <a:chExt cx="2312689" cy="841148"/>
            </a:xfrm>
          </p:grpSpPr>
          <p:grpSp>
            <p:nvGrpSpPr>
              <p:cNvPr id="16" name="íṡḷiď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4" name="íślïḍe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8" name="íṣlíḍ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9" name="iṡlïďé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0" name="iśļíḋê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1" name="ísḻí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2" name="îṡḻiḓe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3" name="ïsḻïḓê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34" name="îśľïḍ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5" name="íşḷiḍé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6" name="ïš1í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7" name="işḷïḓ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  <p:grpSp>
            <p:nvGrpSpPr>
              <p:cNvPr id="108" name="íṥlíḓ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109" name="îSļiḋ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0" name="îsľïḓê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1" name="îṡļid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2" name="îṡḻiḋ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3" name="iṩļîďê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4" name="ïšļíḍè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5" name="iśḷïḑ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6" name="íş1iḓ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7" name="îšḻï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8" name="iśḷîďê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9" name="íşlîḓê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0" name="í$ḻiḋê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1" name="iŝḻîďè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2" name="ïsḷídê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3" name="ïSļí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</p:grpSp>
      </p:grpSp>
      <p:cxnSp>
        <p:nvCxnSpPr>
          <p:cNvPr id="139" name="直接连接符 138"/>
          <p:cNvCxnSpPr/>
          <p:nvPr/>
        </p:nvCxnSpPr>
        <p:spPr>
          <a:xfrm>
            <a:off x="0" y="868680"/>
            <a:ext cx="12192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标题 1"/>
          <p:cNvSpPr txBox="1"/>
          <p:nvPr/>
        </p:nvSpPr>
        <p:spPr bwMode="auto">
          <a:xfrm>
            <a:off x="43815" y="175895"/>
            <a:ext cx="5455920" cy="678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3200" kern="0" dirty="0">
                <a:solidFill>
                  <a:schemeClr val="tx1"/>
                </a:solidFill>
                <a:latin typeface="+mj-ea"/>
              </a:rPr>
              <a:t>数据集</a:t>
            </a:r>
            <a:endParaRPr lang="zh-CN" altLang="en-US" sz="3200" kern="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" name="标题 1"/>
          <p:cNvSpPr txBox="1"/>
          <p:nvPr/>
        </p:nvSpPr>
        <p:spPr bwMode="auto">
          <a:xfrm>
            <a:off x="3140710" y="1268730"/>
            <a:ext cx="591121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2400" kern="0" dirty="0">
                <a:solidFill>
                  <a:srgbClr val="00B0F0"/>
                </a:solidFill>
              </a:rPr>
              <a:t>多中心整合，标准化处理，语义关联标注</a:t>
            </a:r>
            <a:endParaRPr lang="zh-CN" altLang="en-US" sz="2400" kern="0" dirty="0">
              <a:solidFill>
                <a:srgbClr val="00B0F0"/>
              </a:solidFill>
            </a:endParaRPr>
          </a:p>
        </p:txBody>
      </p:sp>
      <p:sp>
        <p:nvSpPr>
          <p:cNvPr id="17" name="标题 1"/>
          <p:cNvSpPr txBox="1"/>
          <p:nvPr/>
        </p:nvSpPr>
        <p:spPr bwMode="auto">
          <a:xfrm>
            <a:off x="639445" y="2650490"/>
            <a:ext cx="747014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图像</a:t>
            </a:r>
            <a:r>
              <a:rPr lang="en-US" altLang="zh-CN" sz="2000" kern="0" dirty="0">
                <a:solidFill>
                  <a:schemeClr val="tx2"/>
                </a:solidFill>
              </a:rPr>
              <a:t>-</a:t>
            </a:r>
            <a:r>
              <a:rPr lang="zh-CN" altLang="en-US" sz="2000" kern="0" dirty="0">
                <a:solidFill>
                  <a:schemeClr val="tx2"/>
                </a:solidFill>
              </a:rPr>
              <a:t>文本对：</a:t>
            </a:r>
            <a:r>
              <a:rPr lang="zh-CN" altLang="en-US" sz="2000" kern="0" dirty="0">
                <a:solidFill>
                  <a:srgbClr val="FF0000"/>
                </a:solidFill>
              </a:rPr>
              <a:t>2万</a:t>
            </a:r>
            <a:r>
              <a:rPr lang="zh-CN" altLang="en-US" sz="2000" kern="0" dirty="0"/>
              <a:t>条图像</a:t>
            </a:r>
            <a:r>
              <a:rPr lang="en-US" altLang="zh-CN" sz="2000" kern="0" dirty="0"/>
              <a:t>-</a:t>
            </a:r>
            <a:r>
              <a:rPr lang="zh-CN" altLang="en-US" sz="2000" kern="0" dirty="0"/>
              <a:t>报告匹配对，学习专业术语</a:t>
            </a:r>
            <a:endParaRPr lang="zh-CN" altLang="en-US" sz="2000" kern="0" dirty="0"/>
          </a:p>
        </p:txBody>
      </p:sp>
      <p:sp>
        <p:nvSpPr>
          <p:cNvPr id="25" name="标题 1"/>
          <p:cNvSpPr txBox="1"/>
          <p:nvPr/>
        </p:nvSpPr>
        <p:spPr bwMode="auto">
          <a:xfrm>
            <a:off x="639445" y="3435350"/>
            <a:ext cx="807656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多任务指令：</a:t>
            </a:r>
            <a:r>
              <a:rPr lang="en-US" altLang="zh-CN" sz="2000" kern="0" dirty="0">
                <a:solidFill>
                  <a:srgbClr val="FF0000"/>
                </a:solidFill>
              </a:rPr>
              <a:t>8</a:t>
            </a:r>
            <a:r>
              <a:rPr lang="zh-CN" altLang="en-US" sz="2000" kern="0" dirty="0">
                <a:solidFill>
                  <a:srgbClr val="FF0000"/>
                </a:solidFill>
              </a:rPr>
              <a:t>万</a:t>
            </a:r>
            <a:r>
              <a:rPr lang="zh-CN" altLang="en-US" sz="2000" kern="0" dirty="0">
                <a:solidFill>
                  <a:schemeClr val="tx2"/>
                </a:solidFill>
              </a:rPr>
              <a:t>条指令</a:t>
            </a:r>
            <a:r>
              <a:rPr lang="en-US" altLang="zh-CN" sz="2000" kern="0" dirty="0">
                <a:solidFill>
                  <a:schemeClr val="tx2"/>
                </a:solidFill>
              </a:rPr>
              <a:t>-</a:t>
            </a:r>
            <a:r>
              <a:rPr lang="zh-CN" altLang="en-US" sz="2000" kern="0" dirty="0">
                <a:solidFill>
                  <a:schemeClr val="tx2"/>
                </a:solidFill>
              </a:rPr>
              <a:t>响应对，包含报告生成、病情解释等</a:t>
            </a:r>
            <a:endParaRPr lang="zh-CN" altLang="en-US" sz="2000" kern="0" dirty="0">
              <a:solidFill>
                <a:schemeClr val="tx2"/>
              </a:solidFill>
            </a:endParaRPr>
          </a:p>
          <a:p>
            <a:pPr marL="342900" indent="-342900" algn="l">
              <a:buFont typeface="Wingdings" panose="05000000000000000000" charset="0"/>
              <a:buChar char="u"/>
            </a:pP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27" name="标题 1"/>
          <p:cNvSpPr txBox="1"/>
          <p:nvPr/>
        </p:nvSpPr>
        <p:spPr bwMode="auto">
          <a:xfrm>
            <a:off x="639445" y="2008505"/>
            <a:ext cx="451040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indent="0" algn="l">
              <a:buFont typeface="Wingdings" panose="05000000000000000000" charset="0"/>
              <a:buNone/>
            </a:pPr>
            <a:r>
              <a:rPr lang="zh-CN" altLang="en-US" sz="2200" kern="0" dirty="0">
                <a:solidFill>
                  <a:schemeClr val="tx2"/>
                </a:solidFill>
              </a:rPr>
              <a:t>视觉</a:t>
            </a:r>
            <a:r>
              <a:rPr lang="en-US" altLang="zh-CN" sz="2200" kern="0" dirty="0">
                <a:solidFill>
                  <a:schemeClr val="tx2"/>
                </a:solidFill>
              </a:rPr>
              <a:t>-</a:t>
            </a:r>
            <a:r>
              <a:rPr lang="zh-CN" altLang="en-US" sz="2200" kern="0" dirty="0">
                <a:solidFill>
                  <a:schemeClr val="tx2"/>
                </a:solidFill>
              </a:rPr>
              <a:t>语言联合训练阶段：</a:t>
            </a:r>
            <a:endParaRPr lang="zh-CN" altLang="en-US" sz="2200" kern="0" dirty="0">
              <a:solidFill>
                <a:schemeClr val="tx2"/>
              </a:solidFill>
            </a:endParaRPr>
          </a:p>
        </p:txBody>
      </p:sp>
      <p:sp>
        <p:nvSpPr>
          <p:cNvPr id="28" name="标题 1"/>
          <p:cNvSpPr txBox="1"/>
          <p:nvPr/>
        </p:nvSpPr>
        <p:spPr bwMode="auto">
          <a:xfrm>
            <a:off x="639445" y="3942080"/>
            <a:ext cx="832802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疾病覆盖：脑肿瘤、感染、脑血管、脑外伤、脑畸形、内分泌等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29" name="标题 1"/>
          <p:cNvSpPr txBox="1"/>
          <p:nvPr/>
        </p:nvSpPr>
        <p:spPr bwMode="auto">
          <a:xfrm>
            <a:off x="639445" y="4598035"/>
            <a:ext cx="498856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训练：验证划分</a:t>
            </a:r>
            <a:r>
              <a:rPr lang="en-US" altLang="zh-CN" sz="2000" kern="0" dirty="0">
                <a:solidFill>
                  <a:schemeClr val="tx2"/>
                </a:solidFill>
              </a:rPr>
              <a:t> = </a:t>
            </a:r>
            <a:r>
              <a:rPr lang="en-US" altLang="zh-CN" sz="2000" kern="0" dirty="0">
                <a:solidFill>
                  <a:srgbClr val="FF0000"/>
                </a:solidFill>
              </a:rPr>
              <a:t>8:2</a:t>
            </a:r>
            <a:endParaRPr lang="en-US" altLang="zh-CN" sz="2000" kern="0" dirty="0">
              <a:solidFill>
                <a:srgbClr val="FF0000"/>
              </a:solidFill>
            </a:endParaRPr>
          </a:p>
        </p:txBody>
      </p:sp>
      <p:sp>
        <p:nvSpPr>
          <p:cNvPr id="30" name="标题 1"/>
          <p:cNvSpPr txBox="1"/>
          <p:nvPr/>
        </p:nvSpPr>
        <p:spPr bwMode="auto">
          <a:xfrm>
            <a:off x="639445" y="5215255"/>
            <a:ext cx="969391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/>
              <a:t>文本处理：影像报告进行结构化解析，提取疾病类型、病变位置、描述等关键信息</a:t>
            </a:r>
            <a:endParaRPr lang="zh-CN" altLang="en-US" sz="2000" kern="0" dirty="0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1142882-0153-4ef1-ab3e-a8f8de0e06a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655810" y="76302"/>
            <a:ext cx="2200910" cy="681888"/>
            <a:chOff x="3135086" y="2512940"/>
            <a:chExt cx="5921821" cy="1835296"/>
          </a:xfrm>
        </p:grpSpPr>
        <p:grpSp>
          <p:nvGrpSpPr>
            <p:cNvPr id="3" name="ïṡľïḑé"/>
            <p:cNvGrpSpPr/>
            <p:nvPr/>
          </p:nvGrpSpPr>
          <p:grpSpPr>
            <a:xfrm>
              <a:off x="3135086" y="2512940"/>
              <a:ext cx="1823280" cy="1835296"/>
              <a:chOff x="3551238" y="3067050"/>
              <a:chExt cx="722313" cy="727075"/>
            </a:xfrm>
          </p:grpSpPr>
          <p:sp>
            <p:nvSpPr>
              <p:cNvPr id="35" name="ïşḷîďé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6" name="îṣļïḋé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7" name="îṣ1ï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8" name="iṡḻiḍé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9" name="ïśḻiḋ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0" name="íṣļíḓ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1" name="ïŝlíḑê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2" name="íṩḷïde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3" name="îś1íḓê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" name="íṣļiḓé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5" name="ïṣlïḑ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6" name="iṡḻïde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7" name="íṧḷiḓê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8" name="ïSlîḍe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9" name="ïšḻîďe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0" name="îṣḻîḍ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1" name="îṥḻiḓé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2" name="iŝlïď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3" name="iśḻîḋé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4" name="ís1ídé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5" name="ïṡľïḋè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6" name="išľïḑe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7" name="ïṧlîḑê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8" name="ïšḻiḑ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9" name="işlíḋ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0" name="ï$ļíḋè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1" name="iśľïḓe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2" name="îśḷ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3" name="íšļíḍ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4" name="ïŝḷïḑ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5" name="išļiďè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6" name="îŝľïḍe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7" name="íS1îḑè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8" name="ïṥlïďè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9" name="îṥḷíḍé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0" name="îśļiḑê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1" name="îṩľíď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2" name="iṣľíd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3" name="islíde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4" name="ïṡ1iḍè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5" name="îślïd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6" name="î$ľiḋ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7" name="ïṣļíḓe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8" name="ïṡļíḋè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9" name="íślîde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0" name="ïś1iḓ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1" name="îSļíḓê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2" name="ïSḻiḍè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3" name="îṣļïḋ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4" name="ïś1ïḑê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5" name="ïS1iḋê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6" name="ïšḻïḓé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7" name="îṩḷîḍe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8" name="ísḻ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9" name="îsḻiḋè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0" name="îšľî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1" name="îŝḻiḋé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2" name="íṣḻïdê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3" name="ísḻïḍ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4" name="ïš1îḑe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5" name="ïṧḷîḋ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6" name="íSḷidé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7" name="íṩḻiḍ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8" name="îš1iďe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9" name="îšľïḓê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0" name="îSlïḋé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1" name="ïşľiḑe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2" name="iś1íḍê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3" name="îŝľîdé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4" name="ïṧḻîď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</p:grpSp>
        <p:grpSp>
          <p:nvGrpSpPr>
            <p:cNvPr id="8" name="iṥ1iḓé"/>
            <p:cNvGrpSpPr/>
            <p:nvPr/>
          </p:nvGrpSpPr>
          <p:grpSpPr>
            <a:xfrm>
              <a:off x="5177660" y="2725128"/>
              <a:ext cx="3879247" cy="1410920"/>
              <a:chOff x="4412452" y="3106738"/>
              <a:chExt cx="2312689" cy="841148"/>
            </a:xfrm>
          </p:grpSpPr>
          <p:grpSp>
            <p:nvGrpSpPr>
              <p:cNvPr id="16" name="íṡḷiď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4" name="íślïḍe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8" name="íṣlíḍ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9" name="iṡlïďé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0" name="iśļíḋê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1" name="ísḻí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2" name="îṡḻiḓe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3" name="ïsḻïḓê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34" name="îśľïḍ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5" name="íşḷiḍé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6" name="ïš1í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7" name="işḷïḓ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  <p:grpSp>
            <p:nvGrpSpPr>
              <p:cNvPr id="108" name="íṥlíḓ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109" name="îSļiḋ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0" name="îsľïḓê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1" name="îṡļid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2" name="îṡḻiḋ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3" name="iṩļîďê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4" name="ïšļíḍè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5" name="iśḷïḑ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6" name="íş1iḓ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7" name="îšḻï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8" name="iśḷîďê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9" name="íşlîḓê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0" name="í$ḻiḋê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1" name="iŝḻîďè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2" name="ïsḷídê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3" name="ïSļí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</p:grpSp>
      </p:grpSp>
      <p:cxnSp>
        <p:nvCxnSpPr>
          <p:cNvPr id="139" name="直接连接符 138"/>
          <p:cNvCxnSpPr/>
          <p:nvPr/>
        </p:nvCxnSpPr>
        <p:spPr>
          <a:xfrm>
            <a:off x="0" y="868680"/>
            <a:ext cx="12192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标题 1"/>
          <p:cNvSpPr txBox="1"/>
          <p:nvPr/>
        </p:nvSpPr>
        <p:spPr bwMode="auto">
          <a:xfrm>
            <a:off x="43815" y="175895"/>
            <a:ext cx="5455920" cy="678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3200" kern="0" dirty="0">
                <a:solidFill>
                  <a:schemeClr val="tx1"/>
                </a:solidFill>
                <a:latin typeface="+mj-ea"/>
              </a:rPr>
              <a:t>数据集</a:t>
            </a:r>
            <a:endParaRPr lang="zh-CN" altLang="en-US" sz="3200" kern="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" name="标题 1"/>
          <p:cNvSpPr txBox="1"/>
          <p:nvPr/>
        </p:nvSpPr>
        <p:spPr bwMode="auto">
          <a:xfrm>
            <a:off x="3140710" y="1268730"/>
            <a:ext cx="591121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2400" kern="0" dirty="0">
                <a:solidFill>
                  <a:srgbClr val="00B0F0"/>
                </a:solidFill>
              </a:rPr>
              <a:t>多中心整合，标准化处理，语义关联标注</a:t>
            </a:r>
            <a:endParaRPr lang="zh-CN" altLang="en-US" sz="2400" kern="0" dirty="0">
              <a:solidFill>
                <a:srgbClr val="00B0F0"/>
              </a:solidFill>
            </a:endParaRPr>
          </a:p>
        </p:txBody>
      </p:sp>
      <p:sp>
        <p:nvSpPr>
          <p:cNvPr id="17" name="标题 1"/>
          <p:cNvSpPr txBox="1"/>
          <p:nvPr/>
        </p:nvSpPr>
        <p:spPr bwMode="auto">
          <a:xfrm>
            <a:off x="639445" y="3575050"/>
            <a:ext cx="747014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报告生成：</a:t>
            </a:r>
            <a:r>
              <a:rPr lang="en-US" altLang="zh-CN" sz="2000" kern="0" dirty="0">
                <a:solidFill>
                  <a:srgbClr val="FF0000"/>
                </a:solidFill>
              </a:rPr>
              <a:t>2500</a:t>
            </a:r>
            <a:r>
              <a:rPr lang="zh-CN" altLang="en-US" sz="2000" kern="0" dirty="0">
                <a:solidFill>
                  <a:schemeClr val="tx2"/>
                </a:solidFill>
              </a:rPr>
              <a:t>份报告</a:t>
            </a:r>
            <a:r>
              <a:rPr lang="zh-CN" altLang="en-US" sz="2000" kern="0" dirty="0"/>
              <a:t>，包含诊断意见、影像所见</a:t>
            </a:r>
            <a:endParaRPr lang="zh-CN" altLang="en-US" sz="2000" kern="0" dirty="0"/>
          </a:p>
        </p:txBody>
      </p:sp>
      <p:sp>
        <p:nvSpPr>
          <p:cNvPr id="25" name="标题 1"/>
          <p:cNvSpPr txBox="1"/>
          <p:nvPr/>
        </p:nvSpPr>
        <p:spPr bwMode="auto">
          <a:xfrm>
            <a:off x="639445" y="4359910"/>
            <a:ext cx="665924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多轮对话：</a:t>
            </a:r>
            <a:r>
              <a:rPr lang="en-US" altLang="zh-CN" sz="2000" kern="0" dirty="0">
                <a:solidFill>
                  <a:srgbClr val="FF0000"/>
                </a:solidFill>
              </a:rPr>
              <a:t>1</a:t>
            </a:r>
            <a:r>
              <a:rPr lang="zh-CN" altLang="en-US" sz="2000" kern="0" dirty="0">
                <a:solidFill>
                  <a:srgbClr val="FF0000"/>
                </a:solidFill>
              </a:rPr>
              <a:t>万</a:t>
            </a:r>
            <a:r>
              <a:rPr lang="zh-CN" altLang="en-US" sz="2000" kern="0" dirty="0">
                <a:solidFill>
                  <a:schemeClr val="tx2"/>
                </a:solidFill>
              </a:rPr>
              <a:t>条指令</a:t>
            </a:r>
            <a:r>
              <a:rPr lang="en-US" altLang="zh-CN" sz="2000" kern="0" dirty="0">
                <a:solidFill>
                  <a:schemeClr val="tx2"/>
                </a:solidFill>
              </a:rPr>
              <a:t>-</a:t>
            </a:r>
            <a:r>
              <a:rPr lang="zh-CN" altLang="en-US" sz="2000" kern="0" dirty="0">
                <a:solidFill>
                  <a:schemeClr val="tx2"/>
                </a:solidFill>
              </a:rPr>
              <a:t>响应对</a:t>
            </a:r>
            <a:endParaRPr lang="zh-CN" altLang="en-US" sz="2000" kern="0" dirty="0">
              <a:solidFill>
                <a:schemeClr val="tx2"/>
              </a:solidFill>
            </a:endParaRPr>
          </a:p>
          <a:p>
            <a:pPr marL="342900" indent="-342900" algn="l">
              <a:buFont typeface="Wingdings" panose="05000000000000000000" charset="0"/>
              <a:buChar char="u"/>
            </a:pP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27" name="标题 1"/>
          <p:cNvSpPr txBox="1"/>
          <p:nvPr/>
        </p:nvSpPr>
        <p:spPr bwMode="auto">
          <a:xfrm>
            <a:off x="639445" y="2008505"/>
            <a:ext cx="451040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indent="0" algn="l">
              <a:buFont typeface="Wingdings" panose="05000000000000000000" charset="0"/>
              <a:buNone/>
            </a:pPr>
            <a:r>
              <a:rPr lang="zh-CN" altLang="en-US" sz="2200" kern="0" dirty="0">
                <a:solidFill>
                  <a:schemeClr val="tx2"/>
                </a:solidFill>
              </a:rPr>
              <a:t>下游多任务训练阶段：</a:t>
            </a:r>
            <a:endParaRPr lang="zh-CN" altLang="en-US" sz="2200" kern="0" dirty="0">
              <a:solidFill>
                <a:schemeClr val="tx2"/>
              </a:solidFill>
            </a:endParaRPr>
          </a:p>
        </p:txBody>
      </p:sp>
      <p:sp>
        <p:nvSpPr>
          <p:cNvPr id="28" name="标题 1"/>
          <p:cNvSpPr txBox="1"/>
          <p:nvPr/>
        </p:nvSpPr>
        <p:spPr bwMode="auto">
          <a:xfrm>
            <a:off x="639445" y="4866640"/>
            <a:ext cx="934085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疾病覆盖：脑肿瘤、感染、脑血管、脑外伤、脑畸形、内分泌、海马硬化等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29" name="标题 1"/>
          <p:cNvSpPr txBox="1"/>
          <p:nvPr/>
        </p:nvSpPr>
        <p:spPr bwMode="auto">
          <a:xfrm>
            <a:off x="639445" y="5522595"/>
            <a:ext cx="498856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训练：验证划分</a:t>
            </a:r>
            <a:r>
              <a:rPr lang="en-US" altLang="zh-CN" sz="2000" kern="0" dirty="0">
                <a:solidFill>
                  <a:schemeClr val="tx2"/>
                </a:solidFill>
              </a:rPr>
              <a:t> = </a:t>
            </a:r>
            <a:r>
              <a:rPr lang="zh-CN" altLang="en-US" sz="2000" kern="0" dirty="0">
                <a:solidFill>
                  <a:srgbClr val="FF0000"/>
                </a:solidFill>
              </a:rPr>
              <a:t>7:3</a:t>
            </a:r>
            <a:endParaRPr lang="en-US" altLang="zh-CN" sz="2000" kern="0" dirty="0">
              <a:solidFill>
                <a:srgbClr val="FF0000"/>
              </a:solidFill>
            </a:endParaRPr>
          </a:p>
        </p:txBody>
      </p:sp>
      <p:sp>
        <p:nvSpPr>
          <p:cNvPr id="30" name="标题 1"/>
          <p:cNvSpPr txBox="1"/>
          <p:nvPr/>
        </p:nvSpPr>
        <p:spPr bwMode="auto">
          <a:xfrm>
            <a:off x="639445" y="2969895"/>
            <a:ext cx="81407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/>
              <a:t>分类与分割：超</a:t>
            </a:r>
            <a:r>
              <a:rPr lang="en-US" altLang="zh-CN" sz="2000" kern="0" dirty="0">
                <a:solidFill>
                  <a:srgbClr val="FF0000"/>
                </a:solidFill>
              </a:rPr>
              <a:t>1.5</a:t>
            </a:r>
            <a:r>
              <a:rPr lang="zh-CN" altLang="en-US" sz="2000" kern="0" dirty="0">
                <a:solidFill>
                  <a:srgbClr val="FF0000"/>
                </a:solidFill>
              </a:rPr>
              <a:t>万</a:t>
            </a:r>
            <a:r>
              <a:rPr lang="zh-CN" altLang="en-US" sz="2000" kern="0" dirty="0"/>
              <a:t>张</a:t>
            </a:r>
            <a:r>
              <a:rPr lang="en-US" altLang="zh-CN" sz="2000" kern="0" dirty="0"/>
              <a:t>MRI</a:t>
            </a:r>
            <a:r>
              <a:rPr lang="zh-CN" altLang="en-US" sz="2000" kern="0" dirty="0"/>
              <a:t>图片</a:t>
            </a:r>
            <a:r>
              <a:rPr lang="en-US" altLang="zh-CN" sz="2000" kern="0" dirty="0"/>
              <a:t>—</a:t>
            </a:r>
            <a:r>
              <a:rPr lang="zh-CN" altLang="en-US" sz="2000" kern="0" dirty="0"/>
              <a:t>病灶标注与疾病类型匹配对</a:t>
            </a:r>
            <a:endParaRPr lang="zh-CN" altLang="en-US" sz="2000" kern="0" dirty="0"/>
          </a:p>
        </p:txBody>
      </p:sp>
      <p:sp>
        <p:nvSpPr>
          <p:cNvPr id="12" name="标题 1"/>
          <p:cNvSpPr txBox="1"/>
          <p:nvPr/>
        </p:nvSpPr>
        <p:spPr bwMode="auto">
          <a:xfrm>
            <a:off x="639445" y="2496820"/>
            <a:ext cx="362077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患者数：</a:t>
            </a:r>
            <a:r>
              <a:rPr lang="en-US" altLang="zh-CN" sz="2000" kern="0" dirty="0">
                <a:solidFill>
                  <a:srgbClr val="FF0000"/>
                </a:solidFill>
              </a:rPr>
              <a:t>2500</a:t>
            </a:r>
            <a:r>
              <a:rPr lang="zh-CN" altLang="en-US" sz="2000" kern="0" dirty="0">
                <a:solidFill>
                  <a:schemeClr val="tx2"/>
                </a:solidFill>
              </a:rPr>
              <a:t>例患者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 1"/>
          <p:cNvSpPr txBox="1"/>
          <p:nvPr/>
        </p:nvSpPr>
        <p:spPr bwMode="auto">
          <a:xfrm>
            <a:off x="43560" y="176032"/>
            <a:ext cx="12043666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3200" kern="0" dirty="0">
                <a:solidFill>
                  <a:schemeClr val="tx1"/>
                </a:solidFill>
                <a:latin typeface="+mj-ea"/>
              </a:rPr>
              <a:t>模型架构</a:t>
            </a:r>
            <a:endParaRPr lang="zh-CN" altLang="en-US" sz="3200" kern="0" dirty="0">
              <a:solidFill>
                <a:schemeClr val="tx1"/>
              </a:solidFill>
              <a:latin typeface="+mj-ea"/>
            </a:endParaRPr>
          </a:p>
        </p:txBody>
      </p:sp>
      <p:grpSp>
        <p:nvGrpSpPr>
          <p:cNvPr id="4" name="b1142882-0153-4ef1-ab3e-a8f8de0e06a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998529" y="213697"/>
            <a:ext cx="1941301" cy="601649"/>
            <a:chOff x="3135086" y="2512940"/>
            <a:chExt cx="5921821" cy="1835296"/>
          </a:xfrm>
        </p:grpSpPr>
        <p:grpSp>
          <p:nvGrpSpPr>
            <p:cNvPr id="2" name="ïṡľïḑé"/>
            <p:cNvGrpSpPr/>
            <p:nvPr/>
          </p:nvGrpSpPr>
          <p:grpSpPr>
            <a:xfrm>
              <a:off x="3135086" y="2512940"/>
              <a:ext cx="1823280" cy="1835296"/>
              <a:chOff x="3551238" y="3067050"/>
              <a:chExt cx="722313" cy="727075"/>
            </a:xfrm>
          </p:grpSpPr>
          <p:sp>
            <p:nvSpPr>
              <p:cNvPr id="35" name="ïşḷîďé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6" name="îṣļïḋé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7" name="îṣ1ï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8" name="iṡḻiḍé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9" name="ïśḻiḋ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0" name="íṣļíḓ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1" name="ïŝlíḑê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2" name="íṩḷïde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3" name="îś1íḓê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" name="íṣļiḓé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5" name="ïṣlïḑ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6" name="iṡḻïde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7" name="íṧḷiḓê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8" name="ïSlîḍe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9" name="ïšḻîďe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0" name="îṣḻîḍ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1" name="îṥḻiḓé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2" name="iŝlïď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3" name="iśḻîḋé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4" name="ís1ídé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5" name="ïṡľïḋè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6" name="išľïḑe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7" name="ïṧlîḑê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8" name="ïšḻiḑ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9" name="işlíḋ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0" name="ï$ļíḋè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1" name="iśľïḓe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2" name="îśḷ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3" name="íšļíḍ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4" name="ïŝḷïḑ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5" name="išļiďè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6" name="îŝľïḍe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7" name="íS1îḑè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8" name="ïṥlïďè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9" name="îṥḷíḍé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0" name="îśļiḑê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1" name="îṩľíď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2" name="iṣľíd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3" name="islíde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4" name="ïṡ1iḍè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5" name="îślïd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6" name="î$ľiḋ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7" name="ïṣļíḓe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8" name="ïṡļíḋè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9" name="íślîde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0" name="ïś1iḓ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1" name="îSļíḓê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2" name="ïSḻiḍè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3" name="îṣļïḋ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4" name="ïś1ïḑê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5" name="ïS1iḋê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6" name="ïšḻïḓé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7" name="îṩḷîḍe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8" name="ísḻ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9" name="îsḻiḋè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0" name="îšľî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1" name="îŝḻiḋé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2" name="íṣḻïdê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3" name="ísḻïḍ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4" name="ïš1îḑe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5" name="ïṧḷîḋ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6" name="íSḷidé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7" name="íṩḻiḍ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8" name="îš1iďe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9" name="îšľïḓê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0" name="îSlïḋé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1" name="ïşľiḑe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2" name="iś1íḍê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3" name="îŝľîdé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4" name="ïṧḻîď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</p:grpSp>
        <p:grpSp>
          <p:nvGrpSpPr>
            <p:cNvPr id="8" name="iṥ1iḓé"/>
            <p:cNvGrpSpPr/>
            <p:nvPr/>
          </p:nvGrpSpPr>
          <p:grpSpPr>
            <a:xfrm>
              <a:off x="5177660" y="2725128"/>
              <a:ext cx="3879247" cy="1410920"/>
              <a:chOff x="4412452" y="3106738"/>
              <a:chExt cx="2312689" cy="841148"/>
            </a:xfrm>
          </p:grpSpPr>
          <p:grpSp>
            <p:nvGrpSpPr>
              <p:cNvPr id="16" name="íṡḷiď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4" name="íślïḍe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8" name="íṣlíḍ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9" name="iṡlïďé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0" name="iśļíḋê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1" name="ísḻí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2" name="îṡḻiḓe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3" name="ïsḻïḓê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34" name="îśľïḍ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5" name="íşḷiḍé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6" name="ïš1í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7" name="işḷïḓ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  <p:grpSp>
            <p:nvGrpSpPr>
              <p:cNvPr id="108" name="íṥlíḓ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109" name="îSļiḋ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0" name="îsľïḓê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1" name="îṡļid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2" name="îṡḻiḋ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3" name="iṩļîďê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4" name="ïšļíḍè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5" name="iśḷïḑ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6" name="íş1iḓ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7" name="îšḻï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8" name="iśḷîďê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9" name="íşlîḓê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0" name="í$ḻiḋê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1" name="iŝḻîďè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2" name="ïsḷídê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3" name="ïSļí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</p:grpSp>
      </p:grpSp>
      <p:sp>
        <p:nvSpPr>
          <p:cNvPr id="143" name="标题 1"/>
          <p:cNvSpPr txBox="1"/>
          <p:nvPr/>
        </p:nvSpPr>
        <p:spPr bwMode="auto">
          <a:xfrm>
            <a:off x="283845" y="1360170"/>
            <a:ext cx="780097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200" kern="0" dirty="0">
                <a:solidFill>
                  <a:schemeClr val="tx2"/>
                </a:solidFill>
              </a:rPr>
              <a:t>第一阶段：</a:t>
            </a:r>
            <a:r>
              <a:rPr lang="en-US" altLang="zh-CN" sz="2200" kern="0" dirty="0">
                <a:solidFill>
                  <a:schemeClr val="tx2"/>
                </a:solidFill>
              </a:rPr>
              <a:t>MRI</a:t>
            </a:r>
            <a:r>
              <a:rPr lang="zh-CN" altLang="en-US" sz="2200" kern="0" dirty="0">
                <a:solidFill>
                  <a:schemeClr val="tx2"/>
                </a:solidFill>
              </a:rPr>
              <a:t>图像编码器预训练，</a:t>
            </a:r>
            <a:r>
              <a:rPr lang="zh-CN" altLang="en-US" sz="2200" kern="0" dirty="0">
                <a:solidFill>
                  <a:schemeClr val="tx1"/>
                </a:solidFill>
                <a:sym typeface="+mn-ea"/>
              </a:rPr>
              <a:t>自监督的医学知识学习</a:t>
            </a:r>
            <a:endParaRPr lang="zh-CN" altLang="en-US" sz="2200" kern="0" dirty="0">
              <a:solidFill>
                <a:schemeClr val="tx1"/>
              </a:solidFill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endParaRPr lang="zh-CN" altLang="en-US" sz="2200" kern="0" dirty="0">
              <a:solidFill>
                <a:schemeClr val="tx2"/>
              </a:solidFill>
            </a:endParaRPr>
          </a:p>
        </p:txBody>
      </p:sp>
      <p:sp>
        <p:nvSpPr>
          <p:cNvPr id="13" name="标题 1"/>
          <p:cNvSpPr txBox="1"/>
          <p:nvPr/>
        </p:nvSpPr>
        <p:spPr bwMode="auto">
          <a:xfrm>
            <a:off x="270510" y="1599565"/>
            <a:ext cx="638302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1800" kern="0" dirty="0">
                <a:solidFill>
                  <a:schemeClr val="tx2"/>
                </a:solidFill>
              </a:rPr>
              <a:t>模型（</a:t>
            </a:r>
            <a:r>
              <a:rPr lang="en-US" altLang="zh-CN" sz="1800" kern="0" dirty="0">
                <a:solidFill>
                  <a:schemeClr val="tx2"/>
                </a:solidFill>
              </a:rPr>
              <a:t>Transformer--</a:t>
            </a:r>
            <a:r>
              <a:rPr lang="zh-CN" altLang="en-US" sz="1800" kern="0" dirty="0">
                <a:solidFill>
                  <a:schemeClr val="tx2"/>
                </a:solidFill>
              </a:rPr>
              <a:t>全局</a:t>
            </a:r>
            <a:r>
              <a:rPr lang="en-US" altLang="zh-CN" sz="1800" kern="0" dirty="0">
                <a:solidFill>
                  <a:schemeClr val="tx2"/>
                </a:solidFill>
              </a:rPr>
              <a:t> + ConvNext--</a:t>
            </a:r>
            <a:r>
              <a:rPr lang="zh-CN" altLang="en-US" sz="1800" kern="0" dirty="0">
                <a:solidFill>
                  <a:schemeClr val="tx2"/>
                </a:solidFill>
              </a:rPr>
              <a:t>细节）</a:t>
            </a:r>
            <a:endParaRPr lang="zh-CN" altLang="en-US" sz="1800" kern="0" dirty="0">
              <a:solidFill>
                <a:schemeClr val="tx2"/>
              </a:solidFill>
            </a:endParaRPr>
          </a:p>
        </p:txBody>
      </p:sp>
      <p:sp>
        <p:nvSpPr>
          <p:cNvPr id="5" name="标题 1"/>
          <p:cNvSpPr txBox="1"/>
          <p:nvPr/>
        </p:nvSpPr>
        <p:spPr bwMode="auto">
          <a:xfrm>
            <a:off x="270510" y="2057400"/>
            <a:ext cx="73406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1800" kern="0" dirty="0">
                <a:solidFill>
                  <a:schemeClr val="tx2"/>
                </a:solidFill>
              </a:rPr>
              <a:t>策略</a:t>
            </a:r>
            <a:r>
              <a:rPr lang="en-US" altLang="zh-CN" sz="1800" kern="0" dirty="0">
                <a:solidFill>
                  <a:schemeClr val="tx2"/>
                </a:solidFill>
              </a:rPr>
              <a:t>--</a:t>
            </a:r>
            <a:r>
              <a:rPr lang="zh-CN" altLang="en-US" sz="1800" kern="0" dirty="0">
                <a:solidFill>
                  <a:schemeClr val="tx2"/>
                </a:solidFill>
              </a:rPr>
              <a:t>自监督掩码</a:t>
            </a:r>
            <a:r>
              <a:rPr lang="en-US" altLang="zh-CN" sz="1800" kern="0" dirty="0">
                <a:solidFill>
                  <a:schemeClr val="tx2"/>
                </a:solidFill>
              </a:rPr>
              <a:t>50-75%</a:t>
            </a:r>
            <a:r>
              <a:rPr lang="zh-CN" altLang="en-US" sz="1800" kern="0" dirty="0">
                <a:solidFill>
                  <a:schemeClr val="tx2"/>
                </a:solidFill>
              </a:rPr>
              <a:t>（重建与一致性对比损失）</a:t>
            </a:r>
            <a:endParaRPr lang="zh-CN" altLang="en-US" sz="1800" kern="0" dirty="0">
              <a:solidFill>
                <a:schemeClr val="tx2"/>
              </a:solidFill>
            </a:endParaRPr>
          </a:p>
        </p:txBody>
      </p:sp>
      <p:sp>
        <p:nvSpPr>
          <p:cNvPr id="6" name="标题 1"/>
          <p:cNvSpPr txBox="1"/>
          <p:nvPr/>
        </p:nvSpPr>
        <p:spPr bwMode="auto">
          <a:xfrm>
            <a:off x="6144895" y="1599565"/>
            <a:ext cx="579056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1800" kern="0" dirty="0">
                <a:solidFill>
                  <a:schemeClr val="tx2"/>
                </a:solidFill>
              </a:rPr>
              <a:t>数据增强</a:t>
            </a:r>
            <a:r>
              <a:rPr lang="en-US" altLang="zh-CN" sz="1800" kern="0" dirty="0">
                <a:solidFill>
                  <a:schemeClr val="tx2"/>
                </a:solidFill>
              </a:rPr>
              <a:t>--</a:t>
            </a:r>
            <a:r>
              <a:rPr lang="zh-CN" altLang="en-US" sz="1800" kern="0" dirty="0">
                <a:solidFill>
                  <a:schemeClr val="tx2"/>
                </a:solidFill>
              </a:rPr>
              <a:t>旋转、翻转、对比度调整（提升鲁棒性）</a:t>
            </a:r>
            <a:endParaRPr lang="zh-CN" altLang="en-US" sz="1800" kern="0" dirty="0">
              <a:solidFill>
                <a:schemeClr val="tx2"/>
              </a:solidFill>
            </a:endParaRPr>
          </a:p>
        </p:txBody>
      </p:sp>
      <p:sp>
        <p:nvSpPr>
          <p:cNvPr id="7" name="标题 1"/>
          <p:cNvSpPr txBox="1"/>
          <p:nvPr/>
        </p:nvSpPr>
        <p:spPr bwMode="auto">
          <a:xfrm>
            <a:off x="6144895" y="2057400"/>
            <a:ext cx="549846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1800" kern="0" dirty="0">
                <a:solidFill>
                  <a:schemeClr val="tx2"/>
                </a:solidFill>
              </a:rPr>
              <a:t>训练：验证</a:t>
            </a:r>
            <a:r>
              <a:rPr lang="en-US" altLang="zh-CN" sz="1800" kern="0" dirty="0">
                <a:solidFill>
                  <a:schemeClr val="tx2"/>
                </a:solidFill>
              </a:rPr>
              <a:t> = 8</a:t>
            </a:r>
            <a:r>
              <a:rPr lang="zh-CN" altLang="en-US" sz="1800" kern="0" dirty="0">
                <a:solidFill>
                  <a:schemeClr val="tx2"/>
                </a:solidFill>
              </a:rPr>
              <a:t>：</a:t>
            </a:r>
            <a:r>
              <a:rPr lang="en-US" altLang="zh-CN" sz="1800" kern="0" dirty="0">
                <a:solidFill>
                  <a:schemeClr val="tx2"/>
                </a:solidFill>
              </a:rPr>
              <a:t>2</a:t>
            </a:r>
            <a:r>
              <a:rPr lang="zh-CN" altLang="en-US" sz="1800" kern="0" dirty="0">
                <a:solidFill>
                  <a:schemeClr val="tx2"/>
                </a:solidFill>
              </a:rPr>
              <a:t>；评价标准（</a:t>
            </a:r>
            <a:r>
              <a:rPr lang="en-US" altLang="zh-CN" sz="1800" kern="0" dirty="0">
                <a:solidFill>
                  <a:schemeClr val="tx2"/>
                </a:solidFill>
              </a:rPr>
              <a:t>SSIM</a:t>
            </a:r>
            <a:r>
              <a:rPr lang="zh-CN" altLang="en-US" sz="1800" kern="0" dirty="0">
                <a:solidFill>
                  <a:schemeClr val="tx2"/>
                </a:solidFill>
              </a:rPr>
              <a:t>、</a:t>
            </a:r>
            <a:r>
              <a:rPr lang="en-US" altLang="zh-CN" sz="1800" kern="0" dirty="0">
                <a:solidFill>
                  <a:schemeClr val="tx2"/>
                </a:solidFill>
              </a:rPr>
              <a:t>PSNR</a:t>
            </a:r>
            <a:r>
              <a:rPr lang="zh-CN" altLang="en-US" sz="1800" kern="0" dirty="0">
                <a:solidFill>
                  <a:schemeClr val="tx2"/>
                </a:solidFill>
              </a:rPr>
              <a:t>）</a:t>
            </a:r>
            <a:endParaRPr lang="zh-CN" altLang="en-US" sz="1800" kern="0" dirty="0">
              <a:solidFill>
                <a:schemeClr val="tx2"/>
              </a:solidFill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628015" y="2435860"/>
            <a:ext cx="20885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en-US" altLang="zh-CN" sz="1600" b="1" kern="0" dirty="0">
                <a:latin typeface="+mj-lt"/>
                <a:ea typeface="+mj-ea"/>
                <a:cs typeface="+mj-cs"/>
              </a:rPr>
              <a:t>Masked</a:t>
            </a:r>
            <a:r>
              <a:rPr lang="zh-CN" altLang="en-US" sz="1600" b="1" kern="0" dirty="0">
                <a:latin typeface="+mj-lt"/>
                <a:ea typeface="+mj-ea"/>
                <a:cs typeface="+mj-cs"/>
              </a:rPr>
              <a:t>重建</a:t>
            </a:r>
            <a:endParaRPr lang="zh-CN" altLang="en-US" sz="1600" b="1" kern="0" dirty="0">
              <a:latin typeface="+mj-lt"/>
              <a:ea typeface="+mj-ea"/>
              <a:cs typeface="+mj-cs"/>
            </a:endParaRPr>
          </a:p>
        </p:txBody>
      </p:sp>
      <p:pic>
        <p:nvPicPr>
          <p:cNvPr id="253" name="图片 25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09955" y="2800350"/>
            <a:ext cx="1118235" cy="1018540"/>
          </a:xfrm>
          <a:prstGeom prst="rect">
            <a:avLst/>
          </a:prstGeom>
        </p:spPr>
      </p:pic>
      <p:cxnSp>
        <p:nvCxnSpPr>
          <p:cNvPr id="254" name="直接箭头连接符 253"/>
          <p:cNvCxnSpPr/>
          <p:nvPr>
            <p:custDataLst>
              <p:tags r:id="rId4"/>
            </p:custDataLst>
          </p:nvPr>
        </p:nvCxnSpPr>
        <p:spPr>
          <a:xfrm>
            <a:off x="2085143" y="3335092"/>
            <a:ext cx="13696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5" name="文本框 254"/>
          <p:cNvSpPr txBox="1"/>
          <p:nvPr>
            <p:custDataLst>
              <p:tags r:id="rId5"/>
            </p:custDataLst>
          </p:nvPr>
        </p:nvSpPr>
        <p:spPr>
          <a:xfrm>
            <a:off x="2085340" y="3415030"/>
            <a:ext cx="1710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Font typeface="+mj-ea"/>
              <a:buNone/>
            </a:pPr>
            <a:r>
              <a:rPr lang="en-US" altLang="zh-CN" sz="1600" b="1" kern="0" dirty="0">
                <a:latin typeface="+mj-lt"/>
                <a:ea typeface="+mj-ea"/>
                <a:cs typeface="+mj-cs"/>
              </a:rPr>
              <a:t>Rand Mask</a:t>
            </a:r>
            <a:endParaRPr lang="en-US" altLang="zh-CN" sz="1600" b="1" kern="0" dirty="0">
              <a:latin typeface="+mj-lt"/>
              <a:ea typeface="+mj-ea"/>
              <a:cs typeface="+mj-cs"/>
            </a:endParaRPr>
          </a:p>
          <a:p>
            <a:pPr marL="0" indent="0">
              <a:buFont typeface="+mj-ea"/>
              <a:buNone/>
            </a:pPr>
            <a:r>
              <a:rPr lang="zh-CN" altLang="en-US" sz="1600" b="1" kern="0" dirty="0">
                <a:latin typeface="+mj-lt"/>
                <a:ea typeface="+mj-ea"/>
                <a:cs typeface="+mj-cs"/>
              </a:rPr>
              <a:t>（</a:t>
            </a:r>
            <a:r>
              <a:rPr lang="en-US" altLang="zh-CN" sz="1600" b="1" kern="0" dirty="0">
                <a:latin typeface="+mj-lt"/>
                <a:ea typeface="+mj-ea"/>
                <a:cs typeface="+mj-cs"/>
              </a:rPr>
              <a:t>50-75%</a:t>
            </a:r>
            <a:r>
              <a:rPr lang="zh-CN" altLang="en-US" sz="1600" b="1" kern="0" dirty="0">
                <a:latin typeface="+mj-lt"/>
                <a:ea typeface="+mj-ea"/>
                <a:cs typeface="+mj-cs"/>
              </a:rPr>
              <a:t>）</a:t>
            </a:r>
            <a:endParaRPr lang="zh-CN" altLang="en-US" sz="1600" b="1" kern="0" dirty="0">
              <a:latin typeface="+mj-lt"/>
              <a:ea typeface="+mj-ea"/>
              <a:cs typeface="+mj-cs"/>
            </a:endParaRPr>
          </a:p>
        </p:txBody>
      </p:sp>
      <p:pic>
        <p:nvPicPr>
          <p:cNvPr id="256" name="图片 25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"/>
          <a:srcRect l="29472" r="54231" b="77990"/>
          <a:stretch>
            <a:fillRect/>
          </a:stretch>
        </p:blipFill>
        <p:spPr>
          <a:xfrm>
            <a:off x="5012055" y="2820035"/>
            <a:ext cx="182245" cy="168275"/>
          </a:xfrm>
          <a:prstGeom prst="rect">
            <a:avLst/>
          </a:prstGeom>
        </p:spPr>
      </p:pic>
      <p:cxnSp>
        <p:nvCxnSpPr>
          <p:cNvPr id="257" name="直接箭头连接符 256"/>
          <p:cNvCxnSpPr/>
          <p:nvPr>
            <p:custDataLst>
              <p:tags r:id="rId7"/>
            </p:custDataLst>
          </p:nvPr>
        </p:nvCxnSpPr>
        <p:spPr>
          <a:xfrm>
            <a:off x="5308403" y="3335092"/>
            <a:ext cx="26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58" name="图片 25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"/>
          <a:srcRect l="29472" r="54231" b="77990"/>
          <a:stretch>
            <a:fillRect/>
          </a:stretch>
        </p:blipFill>
        <p:spPr>
          <a:xfrm>
            <a:off x="5012055" y="3074035"/>
            <a:ext cx="182245" cy="168275"/>
          </a:xfrm>
          <a:prstGeom prst="rect">
            <a:avLst/>
          </a:prstGeom>
        </p:spPr>
      </p:pic>
      <p:pic>
        <p:nvPicPr>
          <p:cNvPr id="259" name="图片 25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"/>
          <a:srcRect l="29472" r="54231" b="77990"/>
          <a:stretch>
            <a:fillRect/>
          </a:stretch>
        </p:blipFill>
        <p:spPr>
          <a:xfrm>
            <a:off x="5012055" y="3283585"/>
            <a:ext cx="182245" cy="168275"/>
          </a:xfrm>
          <a:prstGeom prst="rect">
            <a:avLst/>
          </a:prstGeom>
        </p:spPr>
      </p:pic>
      <p:pic>
        <p:nvPicPr>
          <p:cNvPr id="260" name="图片 25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"/>
          <a:srcRect l="29472" r="54231" b="77990"/>
          <a:stretch>
            <a:fillRect/>
          </a:stretch>
        </p:blipFill>
        <p:spPr>
          <a:xfrm>
            <a:off x="5012055" y="3527425"/>
            <a:ext cx="182245" cy="168275"/>
          </a:xfrm>
          <a:prstGeom prst="rect">
            <a:avLst/>
          </a:prstGeom>
        </p:spPr>
      </p:pic>
      <p:pic>
        <p:nvPicPr>
          <p:cNvPr id="261" name="图片 26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"/>
          <a:srcRect l="29472" r="54231" b="77990"/>
          <a:stretch>
            <a:fillRect/>
          </a:stretch>
        </p:blipFill>
        <p:spPr>
          <a:xfrm>
            <a:off x="5012055" y="3785870"/>
            <a:ext cx="182245" cy="168275"/>
          </a:xfrm>
          <a:prstGeom prst="rect">
            <a:avLst/>
          </a:prstGeom>
        </p:spPr>
      </p:pic>
      <p:sp>
        <p:nvSpPr>
          <p:cNvPr id="262" name="梯形 261"/>
          <p:cNvSpPr/>
          <p:nvPr>
            <p:custDataLst>
              <p:tags r:id="rId12"/>
            </p:custDataLst>
          </p:nvPr>
        </p:nvSpPr>
        <p:spPr>
          <a:xfrm rot="5400000">
            <a:off x="5744845" y="2825115"/>
            <a:ext cx="998855" cy="1028700"/>
          </a:xfrm>
          <a:prstGeom prst="trapezoid">
            <a:avLst/>
          </a:prstGeom>
          <a:solidFill>
            <a:schemeClr val="accent2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3" name="文本框 262"/>
          <p:cNvSpPr txBox="1"/>
          <p:nvPr>
            <p:custDataLst>
              <p:tags r:id="rId13"/>
            </p:custDataLst>
          </p:nvPr>
        </p:nvSpPr>
        <p:spPr>
          <a:xfrm>
            <a:off x="5639435" y="3074035"/>
            <a:ext cx="1118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+mj-ea"/>
              <a:buNone/>
            </a:pPr>
            <a:r>
              <a:rPr lang="en-US" altLang="zh-CN" sz="1400" b="1" kern="0" dirty="0">
                <a:latin typeface="+mj-lt"/>
                <a:ea typeface="+mj-ea"/>
                <a:cs typeface="+mj-cs"/>
              </a:rPr>
              <a:t>Transformer</a:t>
            </a:r>
            <a:endParaRPr lang="en-US" altLang="zh-CN" sz="1400" b="1" kern="0" dirty="0">
              <a:latin typeface="+mj-lt"/>
              <a:ea typeface="+mj-ea"/>
              <a:cs typeface="+mj-cs"/>
            </a:endParaRPr>
          </a:p>
        </p:txBody>
      </p:sp>
      <p:cxnSp>
        <p:nvCxnSpPr>
          <p:cNvPr id="264" name="直接箭头连接符 263"/>
          <p:cNvCxnSpPr/>
          <p:nvPr>
            <p:custDataLst>
              <p:tags r:id="rId14"/>
            </p:custDataLst>
          </p:nvPr>
        </p:nvCxnSpPr>
        <p:spPr>
          <a:xfrm>
            <a:off x="6758743" y="3335092"/>
            <a:ext cx="26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5" name="圆角矩形 161"/>
          <p:cNvSpPr/>
          <p:nvPr>
            <p:custDataLst>
              <p:tags r:id="rId15"/>
            </p:custDataLst>
          </p:nvPr>
        </p:nvSpPr>
        <p:spPr>
          <a:xfrm>
            <a:off x="7020268" y="2545900"/>
            <a:ext cx="225140" cy="2274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66" name="圆角矩形 161"/>
          <p:cNvSpPr/>
          <p:nvPr>
            <p:custDataLst>
              <p:tags r:id="rId16"/>
            </p:custDataLst>
          </p:nvPr>
        </p:nvSpPr>
        <p:spPr>
          <a:xfrm>
            <a:off x="7018998" y="2840540"/>
            <a:ext cx="225140" cy="2274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67" name="圆角矩形 161"/>
          <p:cNvSpPr/>
          <p:nvPr>
            <p:custDataLst>
              <p:tags r:id="rId17"/>
            </p:custDataLst>
          </p:nvPr>
        </p:nvSpPr>
        <p:spPr>
          <a:xfrm>
            <a:off x="7020268" y="3178995"/>
            <a:ext cx="225140" cy="2274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68" name="圆角矩形 161"/>
          <p:cNvSpPr/>
          <p:nvPr>
            <p:custDataLst>
              <p:tags r:id="rId18"/>
            </p:custDataLst>
          </p:nvPr>
        </p:nvSpPr>
        <p:spPr>
          <a:xfrm>
            <a:off x="7020268" y="3487605"/>
            <a:ext cx="225140" cy="2274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69" name="圆角矩形 161"/>
          <p:cNvSpPr/>
          <p:nvPr>
            <p:custDataLst>
              <p:tags r:id="rId19"/>
            </p:custDataLst>
          </p:nvPr>
        </p:nvSpPr>
        <p:spPr>
          <a:xfrm>
            <a:off x="7019633" y="3791770"/>
            <a:ext cx="225140" cy="2274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cxnSp>
        <p:nvCxnSpPr>
          <p:cNvPr id="270" name="直接箭头连接符 269"/>
          <p:cNvCxnSpPr/>
          <p:nvPr>
            <p:custDataLst>
              <p:tags r:id="rId20"/>
            </p:custDataLst>
          </p:nvPr>
        </p:nvCxnSpPr>
        <p:spPr>
          <a:xfrm>
            <a:off x="7320083" y="3305882"/>
            <a:ext cx="26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1" name="圆角矩形 161"/>
          <p:cNvSpPr/>
          <p:nvPr>
            <p:custDataLst>
              <p:tags r:id="rId21"/>
            </p:custDataLst>
          </p:nvPr>
        </p:nvSpPr>
        <p:spPr>
          <a:xfrm>
            <a:off x="7641298" y="2757990"/>
            <a:ext cx="225140" cy="2274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72" name="圆角矩形 161"/>
          <p:cNvSpPr/>
          <p:nvPr>
            <p:custDataLst>
              <p:tags r:id="rId22"/>
            </p:custDataLst>
          </p:nvPr>
        </p:nvSpPr>
        <p:spPr>
          <a:xfrm>
            <a:off x="7641298" y="3016435"/>
            <a:ext cx="225140" cy="2274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73" name="圆角矩形 161"/>
          <p:cNvSpPr/>
          <p:nvPr>
            <p:custDataLst>
              <p:tags r:id="rId23"/>
            </p:custDataLst>
          </p:nvPr>
        </p:nvSpPr>
        <p:spPr>
          <a:xfrm>
            <a:off x="7641298" y="3487605"/>
            <a:ext cx="225140" cy="2274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75" name="圆角矩形 161"/>
          <p:cNvSpPr/>
          <p:nvPr>
            <p:custDataLst>
              <p:tags r:id="rId24"/>
            </p:custDataLst>
          </p:nvPr>
        </p:nvSpPr>
        <p:spPr>
          <a:xfrm>
            <a:off x="7640663" y="2481130"/>
            <a:ext cx="225140" cy="227416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76" name="圆角矩形 161"/>
          <p:cNvSpPr/>
          <p:nvPr>
            <p:custDataLst>
              <p:tags r:id="rId25"/>
            </p:custDataLst>
          </p:nvPr>
        </p:nvSpPr>
        <p:spPr>
          <a:xfrm>
            <a:off x="7641298" y="3243765"/>
            <a:ext cx="225140" cy="227416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77" name="圆角矩形 161"/>
          <p:cNvSpPr/>
          <p:nvPr>
            <p:custDataLst>
              <p:tags r:id="rId26"/>
            </p:custDataLst>
          </p:nvPr>
        </p:nvSpPr>
        <p:spPr>
          <a:xfrm>
            <a:off x="7641298" y="3771450"/>
            <a:ext cx="225140" cy="227416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cxnSp>
        <p:nvCxnSpPr>
          <p:cNvPr id="278" name="直接箭头连接符 277"/>
          <p:cNvCxnSpPr/>
          <p:nvPr>
            <p:custDataLst>
              <p:tags r:id="rId27"/>
            </p:custDataLst>
          </p:nvPr>
        </p:nvCxnSpPr>
        <p:spPr>
          <a:xfrm>
            <a:off x="7938573" y="3305882"/>
            <a:ext cx="26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9" name="梯形 278"/>
          <p:cNvSpPr/>
          <p:nvPr>
            <p:custDataLst>
              <p:tags r:id="rId28"/>
            </p:custDataLst>
          </p:nvPr>
        </p:nvSpPr>
        <p:spPr>
          <a:xfrm rot="16200000">
            <a:off x="8284210" y="2771775"/>
            <a:ext cx="998855" cy="1028700"/>
          </a:xfrm>
          <a:prstGeom prst="trapezoid">
            <a:avLst/>
          </a:prstGeom>
          <a:solidFill>
            <a:schemeClr val="accent2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0" name="文本框 279"/>
          <p:cNvSpPr txBox="1"/>
          <p:nvPr>
            <p:custDataLst>
              <p:tags r:id="rId29"/>
            </p:custDataLst>
          </p:nvPr>
        </p:nvSpPr>
        <p:spPr>
          <a:xfrm>
            <a:off x="8214995" y="3145155"/>
            <a:ext cx="11188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+mj-ea"/>
              <a:buNone/>
            </a:pPr>
            <a:r>
              <a:rPr lang="en-US" altLang="zh-CN" sz="1400" b="1" kern="0" dirty="0">
                <a:latin typeface="+mj-lt"/>
                <a:ea typeface="+mj-ea"/>
                <a:cs typeface="+mj-cs"/>
              </a:rPr>
              <a:t>Decoder</a:t>
            </a:r>
            <a:endParaRPr lang="en-US" altLang="zh-CN" sz="1400" b="1" kern="0" dirty="0">
              <a:latin typeface="+mj-lt"/>
              <a:ea typeface="+mj-ea"/>
              <a:cs typeface="+mj-cs"/>
            </a:endParaRPr>
          </a:p>
        </p:txBody>
      </p:sp>
      <p:cxnSp>
        <p:nvCxnSpPr>
          <p:cNvPr id="281" name="直接箭头连接符 280"/>
          <p:cNvCxnSpPr/>
          <p:nvPr>
            <p:custDataLst>
              <p:tags r:id="rId30"/>
            </p:custDataLst>
          </p:nvPr>
        </p:nvCxnSpPr>
        <p:spPr>
          <a:xfrm>
            <a:off x="4651813" y="3335092"/>
            <a:ext cx="26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2" name="直接箭头连接符 281"/>
          <p:cNvCxnSpPr/>
          <p:nvPr>
            <p:custDataLst>
              <p:tags r:id="rId31"/>
            </p:custDataLst>
          </p:nvPr>
        </p:nvCxnSpPr>
        <p:spPr>
          <a:xfrm>
            <a:off x="9388278" y="3283657"/>
            <a:ext cx="26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3" name="文本框 282"/>
          <p:cNvSpPr txBox="1"/>
          <p:nvPr>
            <p:custDataLst>
              <p:tags r:id="rId32"/>
            </p:custDataLst>
          </p:nvPr>
        </p:nvSpPr>
        <p:spPr>
          <a:xfrm>
            <a:off x="9774555" y="2708275"/>
            <a:ext cx="11188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+mj-ea"/>
              <a:buNone/>
            </a:pPr>
            <a:r>
              <a:rPr lang="zh-CN" altLang="en-US" sz="1600" b="1" kern="0" dirty="0">
                <a:latin typeface="+mj-lt"/>
                <a:ea typeface="+mj-ea"/>
                <a:cs typeface="+mj-cs"/>
              </a:rPr>
              <a:t>重建</a:t>
            </a:r>
            <a:endParaRPr lang="zh-CN" altLang="en-US" sz="1600" b="1" kern="0" dirty="0">
              <a:latin typeface="+mj-lt"/>
              <a:ea typeface="+mj-ea"/>
              <a:cs typeface="+mj-cs"/>
            </a:endParaRPr>
          </a:p>
        </p:txBody>
      </p:sp>
      <p:cxnSp>
        <p:nvCxnSpPr>
          <p:cNvPr id="284" name="直接箭头连接符 192"/>
          <p:cNvCxnSpPr>
            <a:stCxn id="287" idx="2"/>
            <a:endCxn id="253" idx="2"/>
          </p:cNvCxnSpPr>
          <p:nvPr>
            <p:custDataLst>
              <p:tags r:id="rId33"/>
            </p:custDataLst>
          </p:nvPr>
        </p:nvCxnSpPr>
        <p:spPr>
          <a:xfrm rot="5400000">
            <a:off x="5892800" y="-646430"/>
            <a:ext cx="41910" cy="8888730"/>
          </a:xfrm>
          <a:prstGeom prst="bentConnector3">
            <a:avLst>
              <a:gd name="adj1" fmla="val 668182"/>
            </a:avLst>
          </a:prstGeom>
          <a:ln w="25400" cap="flat" cmpd="sng">
            <a:solidFill>
              <a:schemeClr val="tx1"/>
            </a:solidFill>
            <a:prstDash val="solid"/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5" name="文本框 284"/>
          <p:cNvSpPr txBox="1"/>
          <p:nvPr>
            <p:custDataLst>
              <p:tags r:id="rId34"/>
            </p:custDataLst>
          </p:nvPr>
        </p:nvSpPr>
        <p:spPr>
          <a:xfrm>
            <a:off x="7729220" y="3714750"/>
            <a:ext cx="24771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+mj-ea"/>
              <a:buNone/>
            </a:pPr>
            <a:r>
              <a:rPr lang="en-US" altLang="zh-CN" sz="1400" b="1" kern="0" dirty="0">
                <a:latin typeface="+mj-lt"/>
                <a:ea typeface="+mj-ea"/>
                <a:cs typeface="+mj-cs"/>
              </a:rPr>
              <a:t>Reconstruction </a:t>
            </a:r>
            <a:r>
              <a:rPr lang="en-US" altLang="zh-CN" sz="1600" b="1" kern="0" dirty="0">
                <a:latin typeface="+mj-lt"/>
                <a:ea typeface="+mj-ea"/>
                <a:cs typeface="+mj-cs"/>
              </a:rPr>
              <a:t>Loss</a:t>
            </a:r>
            <a:endParaRPr lang="en-US" altLang="zh-CN" sz="1600" b="1" kern="0" dirty="0">
              <a:latin typeface="+mj-lt"/>
              <a:ea typeface="+mj-ea"/>
              <a:cs typeface="+mj-cs"/>
            </a:endParaRPr>
          </a:p>
        </p:txBody>
      </p:sp>
      <p:pic>
        <p:nvPicPr>
          <p:cNvPr id="286" name="图片 285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/>
          <a:srcRect l="7955"/>
          <a:stretch>
            <a:fillRect/>
          </a:stretch>
        </p:blipFill>
        <p:spPr>
          <a:xfrm>
            <a:off x="3455035" y="2773045"/>
            <a:ext cx="1197610" cy="1127760"/>
          </a:xfrm>
          <a:prstGeom prst="rect">
            <a:avLst/>
          </a:prstGeom>
        </p:spPr>
      </p:pic>
      <p:pic>
        <p:nvPicPr>
          <p:cNvPr id="287" name="图片 286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98685" y="2758440"/>
            <a:ext cx="1118235" cy="1018540"/>
          </a:xfrm>
          <a:prstGeom prst="rect">
            <a:avLst/>
          </a:prstGeom>
        </p:spPr>
      </p:pic>
      <p:sp>
        <p:nvSpPr>
          <p:cNvPr id="288" name="文本框 287"/>
          <p:cNvSpPr txBox="1"/>
          <p:nvPr>
            <p:custDataLst>
              <p:tags r:id="rId38"/>
            </p:custDataLst>
          </p:nvPr>
        </p:nvSpPr>
        <p:spPr>
          <a:xfrm>
            <a:off x="664845" y="4150360"/>
            <a:ext cx="20885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zh-CN" altLang="en-US" sz="1600" b="1" kern="0" dirty="0">
                <a:latin typeface="+mj-lt"/>
                <a:ea typeface="+mj-ea"/>
                <a:cs typeface="+mj-cs"/>
              </a:rPr>
              <a:t>一致性约束</a:t>
            </a:r>
            <a:endParaRPr lang="zh-CN" altLang="en-US" sz="1600" b="1" kern="0" dirty="0">
              <a:latin typeface="+mj-lt"/>
              <a:ea typeface="+mj-ea"/>
              <a:cs typeface="+mj-cs"/>
            </a:endParaRPr>
          </a:p>
        </p:txBody>
      </p:sp>
      <p:cxnSp>
        <p:nvCxnSpPr>
          <p:cNvPr id="289" name="直接箭头连接符 288"/>
          <p:cNvCxnSpPr/>
          <p:nvPr>
            <p:custDataLst>
              <p:tags r:id="rId39"/>
            </p:custDataLst>
          </p:nvPr>
        </p:nvCxnSpPr>
        <p:spPr>
          <a:xfrm>
            <a:off x="2084508" y="5097852"/>
            <a:ext cx="13696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0" name="文本框 289"/>
          <p:cNvSpPr txBox="1"/>
          <p:nvPr>
            <p:custDataLst>
              <p:tags r:id="rId40"/>
            </p:custDataLst>
          </p:nvPr>
        </p:nvSpPr>
        <p:spPr>
          <a:xfrm>
            <a:off x="2084705" y="5177790"/>
            <a:ext cx="1710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Font typeface="+mj-ea"/>
              <a:buNone/>
            </a:pPr>
            <a:r>
              <a:rPr lang="en-US" altLang="zh-CN" sz="1600" b="1" kern="0" dirty="0">
                <a:latin typeface="+mj-lt"/>
                <a:ea typeface="+mj-ea"/>
                <a:cs typeface="+mj-cs"/>
              </a:rPr>
              <a:t>Rand Mask</a:t>
            </a:r>
            <a:endParaRPr lang="en-US" altLang="zh-CN" sz="1600" b="1" kern="0" dirty="0">
              <a:latin typeface="+mj-lt"/>
              <a:ea typeface="+mj-ea"/>
              <a:cs typeface="+mj-cs"/>
            </a:endParaRPr>
          </a:p>
          <a:p>
            <a:pPr marL="0" indent="0">
              <a:buFont typeface="+mj-ea"/>
              <a:buNone/>
            </a:pPr>
            <a:r>
              <a:rPr lang="zh-CN" altLang="en-US" sz="1600" b="1" kern="0" dirty="0">
                <a:latin typeface="+mj-lt"/>
                <a:ea typeface="+mj-ea"/>
                <a:cs typeface="+mj-cs"/>
              </a:rPr>
              <a:t>（</a:t>
            </a:r>
            <a:r>
              <a:rPr lang="en-US" altLang="zh-CN" sz="1600" b="1" kern="0" dirty="0">
                <a:latin typeface="+mj-lt"/>
                <a:ea typeface="+mj-ea"/>
                <a:cs typeface="+mj-cs"/>
              </a:rPr>
              <a:t>50-75%</a:t>
            </a:r>
            <a:r>
              <a:rPr lang="zh-CN" altLang="en-US" sz="1600" b="1" kern="0" dirty="0">
                <a:latin typeface="+mj-lt"/>
                <a:ea typeface="+mj-ea"/>
                <a:cs typeface="+mj-cs"/>
              </a:rPr>
              <a:t>）</a:t>
            </a:r>
            <a:endParaRPr lang="zh-CN" altLang="en-US" sz="1600" b="1" kern="0" dirty="0">
              <a:latin typeface="+mj-lt"/>
              <a:ea typeface="+mj-ea"/>
              <a:cs typeface="+mj-cs"/>
            </a:endParaRPr>
          </a:p>
        </p:txBody>
      </p:sp>
      <p:pic>
        <p:nvPicPr>
          <p:cNvPr id="291" name="图片 290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3"/>
          <a:srcRect l="29472" r="54231" b="77990"/>
          <a:stretch>
            <a:fillRect/>
          </a:stretch>
        </p:blipFill>
        <p:spPr>
          <a:xfrm>
            <a:off x="5011420" y="4582795"/>
            <a:ext cx="182245" cy="168275"/>
          </a:xfrm>
          <a:prstGeom prst="rect">
            <a:avLst/>
          </a:prstGeom>
        </p:spPr>
      </p:pic>
      <p:cxnSp>
        <p:nvCxnSpPr>
          <p:cNvPr id="297" name="直接箭头连接符 296"/>
          <p:cNvCxnSpPr/>
          <p:nvPr>
            <p:custDataLst>
              <p:tags r:id="rId42"/>
            </p:custDataLst>
          </p:nvPr>
        </p:nvCxnSpPr>
        <p:spPr>
          <a:xfrm>
            <a:off x="5307768" y="5097852"/>
            <a:ext cx="26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98" name="图片 297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3"/>
          <a:srcRect l="29472" r="54231" b="77990"/>
          <a:stretch>
            <a:fillRect/>
          </a:stretch>
        </p:blipFill>
        <p:spPr>
          <a:xfrm>
            <a:off x="5011420" y="4836795"/>
            <a:ext cx="182245" cy="168275"/>
          </a:xfrm>
          <a:prstGeom prst="rect">
            <a:avLst/>
          </a:prstGeom>
        </p:spPr>
      </p:pic>
      <p:pic>
        <p:nvPicPr>
          <p:cNvPr id="299" name="图片 298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3"/>
          <a:srcRect l="29472" r="54231" b="77990"/>
          <a:stretch>
            <a:fillRect/>
          </a:stretch>
        </p:blipFill>
        <p:spPr>
          <a:xfrm>
            <a:off x="5011420" y="5046345"/>
            <a:ext cx="182245" cy="168275"/>
          </a:xfrm>
          <a:prstGeom prst="rect">
            <a:avLst/>
          </a:prstGeom>
        </p:spPr>
      </p:pic>
      <p:pic>
        <p:nvPicPr>
          <p:cNvPr id="300" name="图片 299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3"/>
          <a:srcRect l="29472" r="54231" b="77990"/>
          <a:stretch>
            <a:fillRect/>
          </a:stretch>
        </p:blipFill>
        <p:spPr>
          <a:xfrm>
            <a:off x="5011420" y="5290185"/>
            <a:ext cx="182245" cy="168275"/>
          </a:xfrm>
          <a:prstGeom prst="rect">
            <a:avLst/>
          </a:prstGeom>
        </p:spPr>
      </p:pic>
      <p:pic>
        <p:nvPicPr>
          <p:cNvPr id="301" name="图片 300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3"/>
          <a:srcRect l="29472" r="54231" b="77990"/>
          <a:stretch>
            <a:fillRect/>
          </a:stretch>
        </p:blipFill>
        <p:spPr>
          <a:xfrm>
            <a:off x="5011420" y="5548630"/>
            <a:ext cx="182245" cy="168275"/>
          </a:xfrm>
          <a:prstGeom prst="rect">
            <a:avLst/>
          </a:prstGeom>
        </p:spPr>
      </p:pic>
      <p:sp>
        <p:nvSpPr>
          <p:cNvPr id="302" name="梯形 301"/>
          <p:cNvSpPr/>
          <p:nvPr>
            <p:custDataLst>
              <p:tags r:id="rId47"/>
            </p:custDataLst>
          </p:nvPr>
        </p:nvSpPr>
        <p:spPr>
          <a:xfrm rot="5400000">
            <a:off x="5744210" y="4587875"/>
            <a:ext cx="998855" cy="1028700"/>
          </a:xfrm>
          <a:prstGeom prst="trapezoid">
            <a:avLst/>
          </a:prstGeom>
          <a:solidFill>
            <a:schemeClr val="accent2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3" name="文本框 302"/>
          <p:cNvSpPr txBox="1"/>
          <p:nvPr>
            <p:custDataLst>
              <p:tags r:id="rId48"/>
            </p:custDataLst>
          </p:nvPr>
        </p:nvSpPr>
        <p:spPr>
          <a:xfrm>
            <a:off x="5638800" y="4836795"/>
            <a:ext cx="1118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+mj-ea"/>
              <a:buNone/>
            </a:pPr>
            <a:r>
              <a:rPr lang="en-US" altLang="zh-CN" sz="1400" b="1" kern="0" dirty="0">
                <a:latin typeface="+mj-lt"/>
                <a:ea typeface="+mj-ea"/>
                <a:cs typeface="+mj-cs"/>
                <a:sym typeface="+mn-ea"/>
              </a:rPr>
              <a:t>Transformer</a:t>
            </a:r>
            <a:endParaRPr lang="en-US" altLang="zh-CN" sz="1600" b="1" kern="0" dirty="0">
              <a:latin typeface="+mj-lt"/>
              <a:ea typeface="+mj-ea"/>
              <a:cs typeface="+mj-cs"/>
            </a:endParaRPr>
          </a:p>
        </p:txBody>
      </p:sp>
      <p:cxnSp>
        <p:nvCxnSpPr>
          <p:cNvPr id="304" name="直接箭头连接符 303"/>
          <p:cNvCxnSpPr/>
          <p:nvPr>
            <p:custDataLst>
              <p:tags r:id="rId49"/>
            </p:custDataLst>
          </p:nvPr>
        </p:nvCxnSpPr>
        <p:spPr>
          <a:xfrm>
            <a:off x="6758108" y="5097852"/>
            <a:ext cx="26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5" name="直接箭头连接符 304"/>
          <p:cNvCxnSpPr/>
          <p:nvPr>
            <p:custDataLst>
              <p:tags r:id="rId50"/>
            </p:custDataLst>
          </p:nvPr>
        </p:nvCxnSpPr>
        <p:spPr>
          <a:xfrm>
            <a:off x="8006518" y="5097852"/>
            <a:ext cx="26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6" name="梯形 305"/>
          <p:cNvSpPr/>
          <p:nvPr>
            <p:custDataLst>
              <p:tags r:id="rId51"/>
            </p:custDataLst>
          </p:nvPr>
        </p:nvSpPr>
        <p:spPr>
          <a:xfrm rot="16200000">
            <a:off x="8283575" y="4567555"/>
            <a:ext cx="998855" cy="1028700"/>
          </a:xfrm>
          <a:prstGeom prst="trapezoid">
            <a:avLst/>
          </a:prstGeom>
          <a:solidFill>
            <a:schemeClr val="accent2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7" name="文本框 306"/>
          <p:cNvSpPr txBox="1"/>
          <p:nvPr>
            <p:custDataLst>
              <p:tags r:id="rId52"/>
            </p:custDataLst>
          </p:nvPr>
        </p:nvSpPr>
        <p:spPr>
          <a:xfrm>
            <a:off x="8268970" y="4913630"/>
            <a:ext cx="11188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+mj-ea"/>
              <a:buNone/>
            </a:pPr>
            <a:r>
              <a:rPr lang="en-US" altLang="zh-CN" sz="1400" b="1" kern="0" dirty="0">
                <a:latin typeface="+mj-lt"/>
                <a:ea typeface="+mj-ea"/>
                <a:cs typeface="+mj-cs"/>
              </a:rPr>
              <a:t>Decoder</a:t>
            </a:r>
            <a:endParaRPr lang="en-US" altLang="zh-CN" sz="1600" b="1" kern="0" dirty="0">
              <a:latin typeface="+mj-lt"/>
              <a:ea typeface="+mj-ea"/>
              <a:cs typeface="+mj-cs"/>
            </a:endParaRPr>
          </a:p>
        </p:txBody>
      </p:sp>
      <p:cxnSp>
        <p:nvCxnSpPr>
          <p:cNvPr id="308" name="直接箭头连接符 307"/>
          <p:cNvCxnSpPr/>
          <p:nvPr>
            <p:custDataLst>
              <p:tags r:id="rId53"/>
            </p:custDataLst>
          </p:nvPr>
        </p:nvCxnSpPr>
        <p:spPr>
          <a:xfrm>
            <a:off x="4651178" y="5097852"/>
            <a:ext cx="26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9" name="直接箭头连接符 308"/>
          <p:cNvCxnSpPr/>
          <p:nvPr>
            <p:custDataLst>
              <p:tags r:id="rId54"/>
            </p:custDataLst>
          </p:nvPr>
        </p:nvCxnSpPr>
        <p:spPr>
          <a:xfrm>
            <a:off x="9387643" y="5046417"/>
            <a:ext cx="26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0" name="梯形 309"/>
          <p:cNvSpPr/>
          <p:nvPr>
            <p:custDataLst>
              <p:tags r:id="rId55"/>
            </p:custDataLst>
          </p:nvPr>
        </p:nvSpPr>
        <p:spPr>
          <a:xfrm rot="5400000">
            <a:off x="5743575" y="5746115"/>
            <a:ext cx="998855" cy="1028700"/>
          </a:xfrm>
          <a:prstGeom prst="trapezoid">
            <a:avLst/>
          </a:prstGeom>
          <a:solidFill>
            <a:schemeClr val="accent1">
              <a:lumMod val="9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1" name="文本框 310"/>
          <p:cNvSpPr txBox="1"/>
          <p:nvPr>
            <p:custDataLst>
              <p:tags r:id="rId56"/>
            </p:custDataLst>
          </p:nvPr>
        </p:nvSpPr>
        <p:spPr>
          <a:xfrm>
            <a:off x="5568950" y="5969000"/>
            <a:ext cx="12903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+mj-ea"/>
              <a:buNone/>
            </a:pPr>
            <a:r>
              <a:rPr lang="en-US" altLang="zh-CN" sz="1600" b="1" kern="0" dirty="0">
                <a:latin typeface="+mj-lt"/>
                <a:ea typeface="+mj-ea"/>
                <a:cs typeface="+mj-cs"/>
              </a:rPr>
              <a:t>Conv</a:t>
            </a:r>
            <a:endParaRPr lang="en-US" altLang="zh-CN" sz="1600" b="1" kern="0" dirty="0">
              <a:latin typeface="+mj-lt"/>
              <a:ea typeface="+mj-ea"/>
              <a:cs typeface="+mj-cs"/>
            </a:endParaRPr>
          </a:p>
          <a:p>
            <a:pPr marL="0" indent="0" algn="ctr">
              <a:buFont typeface="+mj-ea"/>
              <a:buNone/>
            </a:pPr>
            <a:r>
              <a:rPr lang="en-US" altLang="zh-CN" sz="1600" b="1" kern="0" dirty="0">
                <a:latin typeface="+mj-lt"/>
                <a:ea typeface="+mj-ea"/>
                <a:cs typeface="+mj-cs"/>
              </a:rPr>
              <a:t>Nextv2</a:t>
            </a:r>
            <a:endParaRPr lang="en-US" altLang="zh-CN" sz="1600" b="1" kern="0" dirty="0">
              <a:latin typeface="+mj-lt"/>
              <a:ea typeface="+mj-ea"/>
              <a:cs typeface="+mj-cs"/>
            </a:endParaRPr>
          </a:p>
        </p:txBody>
      </p:sp>
      <p:sp>
        <p:nvSpPr>
          <p:cNvPr id="312" name="梯形 311"/>
          <p:cNvSpPr/>
          <p:nvPr>
            <p:custDataLst>
              <p:tags r:id="rId57"/>
            </p:custDataLst>
          </p:nvPr>
        </p:nvSpPr>
        <p:spPr>
          <a:xfrm rot="16200000">
            <a:off x="8319770" y="5746115"/>
            <a:ext cx="998855" cy="1028700"/>
          </a:xfrm>
          <a:prstGeom prst="trapezoid">
            <a:avLst/>
          </a:prstGeom>
          <a:solidFill>
            <a:schemeClr val="accent1">
              <a:lumMod val="9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3" name="文本框 312"/>
          <p:cNvSpPr txBox="1"/>
          <p:nvPr>
            <p:custDataLst>
              <p:tags r:id="rId58"/>
            </p:custDataLst>
          </p:nvPr>
        </p:nvSpPr>
        <p:spPr>
          <a:xfrm>
            <a:off x="8305165" y="6092190"/>
            <a:ext cx="11188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+mj-ea"/>
              <a:buNone/>
            </a:pPr>
            <a:r>
              <a:rPr lang="en-US" altLang="zh-CN" sz="1400" b="1" kern="0" dirty="0">
                <a:latin typeface="+mj-lt"/>
                <a:ea typeface="+mj-ea"/>
                <a:cs typeface="+mj-cs"/>
              </a:rPr>
              <a:t>Decoder</a:t>
            </a:r>
            <a:endParaRPr lang="en-US" altLang="zh-CN" sz="1600" b="1" kern="0" dirty="0">
              <a:latin typeface="+mj-lt"/>
              <a:ea typeface="+mj-ea"/>
              <a:cs typeface="+mj-cs"/>
            </a:endParaRPr>
          </a:p>
        </p:txBody>
      </p:sp>
      <p:cxnSp>
        <p:nvCxnSpPr>
          <p:cNvPr id="314" name="直接箭头连接符 313"/>
          <p:cNvCxnSpPr/>
          <p:nvPr>
            <p:custDataLst>
              <p:tags r:id="rId59"/>
            </p:custDataLst>
          </p:nvPr>
        </p:nvCxnSpPr>
        <p:spPr>
          <a:xfrm>
            <a:off x="9423838" y="6181797"/>
            <a:ext cx="26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5" name="直接箭头连接符 314"/>
          <p:cNvCxnSpPr/>
          <p:nvPr>
            <p:custDataLst>
              <p:tags r:id="rId60"/>
            </p:custDataLst>
          </p:nvPr>
        </p:nvCxnSpPr>
        <p:spPr>
          <a:xfrm>
            <a:off x="6757473" y="6261172"/>
            <a:ext cx="26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6" name="直接箭头连接符 315"/>
          <p:cNvCxnSpPr/>
          <p:nvPr>
            <p:custDataLst>
              <p:tags r:id="rId61"/>
            </p:custDataLst>
          </p:nvPr>
        </p:nvCxnSpPr>
        <p:spPr>
          <a:xfrm>
            <a:off x="8006518" y="6261172"/>
            <a:ext cx="261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7" name="圆角矩形 161"/>
          <p:cNvSpPr/>
          <p:nvPr>
            <p:custDataLst>
              <p:tags r:id="rId62"/>
            </p:custDataLst>
          </p:nvPr>
        </p:nvSpPr>
        <p:spPr>
          <a:xfrm>
            <a:off x="7093928" y="4987475"/>
            <a:ext cx="225140" cy="2274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18" name="圆角矩形 161"/>
          <p:cNvSpPr/>
          <p:nvPr>
            <p:custDataLst>
              <p:tags r:id="rId63"/>
            </p:custDataLst>
          </p:nvPr>
        </p:nvSpPr>
        <p:spPr>
          <a:xfrm>
            <a:off x="7415238" y="4987475"/>
            <a:ext cx="225140" cy="2274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19" name="圆角矩形 161"/>
          <p:cNvSpPr/>
          <p:nvPr>
            <p:custDataLst>
              <p:tags r:id="rId64"/>
            </p:custDataLst>
          </p:nvPr>
        </p:nvSpPr>
        <p:spPr>
          <a:xfrm>
            <a:off x="7712418" y="4987475"/>
            <a:ext cx="225140" cy="2274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20" name="圆角矩形 161"/>
          <p:cNvSpPr/>
          <p:nvPr>
            <p:custDataLst>
              <p:tags r:id="rId65"/>
            </p:custDataLst>
          </p:nvPr>
        </p:nvSpPr>
        <p:spPr>
          <a:xfrm>
            <a:off x="7090753" y="6146985"/>
            <a:ext cx="225140" cy="227416"/>
          </a:xfrm>
          <a:prstGeom prst="roundRect">
            <a:avLst/>
          </a:prstGeom>
          <a:solidFill>
            <a:srgbClr val="FF9900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21" name="圆角矩形 161"/>
          <p:cNvSpPr/>
          <p:nvPr>
            <p:custDataLst>
              <p:tags r:id="rId66"/>
            </p:custDataLst>
          </p:nvPr>
        </p:nvSpPr>
        <p:spPr>
          <a:xfrm>
            <a:off x="7401618" y="6146985"/>
            <a:ext cx="224790" cy="227416"/>
          </a:xfrm>
          <a:prstGeom prst="roundRect">
            <a:avLst/>
          </a:prstGeom>
          <a:solidFill>
            <a:srgbClr val="FF9900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22" name="圆角矩形 161"/>
          <p:cNvSpPr/>
          <p:nvPr>
            <p:custDataLst>
              <p:tags r:id="rId67"/>
            </p:custDataLst>
          </p:nvPr>
        </p:nvSpPr>
        <p:spPr>
          <a:xfrm>
            <a:off x="7712133" y="6146985"/>
            <a:ext cx="224790" cy="227416"/>
          </a:xfrm>
          <a:prstGeom prst="roundRect">
            <a:avLst/>
          </a:prstGeom>
          <a:solidFill>
            <a:srgbClr val="FF9900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cxnSp>
        <p:nvCxnSpPr>
          <p:cNvPr id="323" name="直接箭头连接符 124"/>
          <p:cNvCxnSpPr>
            <a:stCxn id="328" idx="2"/>
            <a:endCxn id="311" idx="1"/>
          </p:cNvCxnSpPr>
          <p:nvPr>
            <p:custDataLst>
              <p:tags r:id="rId68"/>
            </p:custDataLst>
          </p:nvPr>
        </p:nvCxnSpPr>
        <p:spPr>
          <a:xfrm rot="5400000" flipV="1">
            <a:off x="3188970" y="3881120"/>
            <a:ext cx="659765" cy="41001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4" name="直接箭头连接符 192"/>
          <p:cNvCxnSpPr/>
          <p:nvPr>
            <p:custDataLst>
              <p:tags r:id="rId69"/>
            </p:custDataLst>
          </p:nvPr>
        </p:nvCxnSpPr>
        <p:spPr>
          <a:xfrm flipV="1">
            <a:off x="10913110" y="5076190"/>
            <a:ext cx="3175" cy="1291590"/>
          </a:xfrm>
          <a:prstGeom prst="bentConnector3">
            <a:avLst>
              <a:gd name="adj1" fmla="val 7500000"/>
            </a:avLst>
          </a:prstGeom>
          <a:ln w="25400" cap="flat" cmpd="sng">
            <a:solidFill>
              <a:schemeClr val="tx1"/>
            </a:solidFill>
            <a:prstDash val="solid"/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5" name="文本框 324"/>
          <p:cNvSpPr txBox="1"/>
          <p:nvPr>
            <p:custDataLst>
              <p:tags r:id="rId70"/>
            </p:custDataLst>
          </p:nvPr>
        </p:nvSpPr>
        <p:spPr>
          <a:xfrm rot="16200000">
            <a:off x="10256520" y="5577840"/>
            <a:ext cx="22872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+mj-ea"/>
              <a:buNone/>
            </a:pPr>
            <a:r>
              <a:rPr lang="en-US" altLang="zh-CN" sz="1600" b="1" kern="0" dirty="0">
                <a:latin typeface="+mj-lt"/>
                <a:ea typeface="+mj-ea"/>
                <a:cs typeface="+mj-cs"/>
              </a:rPr>
              <a:t>Constraint Loss</a:t>
            </a:r>
            <a:endParaRPr lang="en-US" altLang="zh-CN" sz="1600" b="1" kern="0" dirty="0">
              <a:latin typeface="+mj-lt"/>
              <a:ea typeface="+mj-ea"/>
              <a:cs typeface="+mj-cs"/>
            </a:endParaRPr>
          </a:p>
        </p:txBody>
      </p:sp>
      <p:cxnSp>
        <p:nvCxnSpPr>
          <p:cNvPr id="326" name="直接箭头连接符 325"/>
          <p:cNvCxnSpPr/>
          <p:nvPr>
            <p:custDataLst>
              <p:tags r:id="rId71"/>
            </p:custDataLst>
          </p:nvPr>
        </p:nvCxnSpPr>
        <p:spPr>
          <a:xfrm flipV="1">
            <a:off x="6338373" y="5548702"/>
            <a:ext cx="0" cy="26543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27" name="图片 326"/>
          <p:cNvPicPr>
            <a:picLocks noChangeAspect="1"/>
          </p:cNvPicPr>
          <p:nvPr>
            <p:custDataLst>
              <p:tags r:id="rId72"/>
            </p:custDataLst>
          </p:nvPr>
        </p:nvPicPr>
        <p:blipFill>
          <a:blip r:embed="rId36"/>
          <a:srcRect l="7955"/>
          <a:stretch>
            <a:fillRect/>
          </a:stretch>
        </p:blipFill>
        <p:spPr>
          <a:xfrm>
            <a:off x="3453765" y="4453890"/>
            <a:ext cx="1197610" cy="1127760"/>
          </a:xfrm>
          <a:prstGeom prst="rect">
            <a:avLst/>
          </a:prstGeom>
        </p:spPr>
      </p:pic>
      <p:pic>
        <p:nvPicPr>
          <p:cNvPr id="328" name="图片 327"/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09320" y="4582795"/>
            <a:ext cx="1118235" cy="1018540"/>
          </a:xfrm>
          <a:prstGeom prst="rect">
            <a:avLst/>
          </a:prstGeom>
        </p:spPr>
      </p:pic>
      <p:pic>
        <p:nvPicPr>
          <p:cNvPr id="329" name="图片 328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23755" y="4530090"/>
            <a:ext cx="1118235" cy="1018540"/>
          </a:xfrm>
          <a:prstGeom prst="rect">
            <a:avLst/>
          </a:prstGeom>
        </p:spPr>
      </p:pic>
      <p:pic>
        <p:nvPicPr>
          <p:cNvPr id="330" name="图片 329"/>
          <p:cNvPicPr>
            <a:picLocks noChangeAspect="1"/>
          </p:cNvPicPr>
          <p:nvPr>
            <p:custDataLst>
              <p:tags r:id="rId75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72650" y="5741670"/>
            <a:ext cx="1118235" cy="10185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76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98340" y="5892165"/>
            <a:ext cx="810260" cy="73850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77"/>
            </p:custDataLst>
          </p:nvPr>
        </p:nvSpPr>
        <p:spPr>
          <a:xfrm>
            <a:off x="3085465" y="5969000"/>
            <a:ext cx="17106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Font typeface="+mj-ea"/>
              <a:buNone/>
            </a:pPr>
            <a:r>
              <a:rPr lang="en-US" altLang="zh-CN" sz="1600" b="1" kern="0" dirty="0">
                <a:latin typeface="+mj-lt"/>
                <a:ea typeface="+mj-ea"/>
                <a:cs typeface="+mj-cs"/>
              </a:rPr>
              <a:t>Resize</a:t>
            </a:r>
            <a:endParaRPr lang="en-US" altLang="zh-CN" sz="1600" b="1" kern="0" dirty="0">
              <a:latin typeface="+mj-lt"/>
              <a:ea typeface="+mj-ea"/>
              <a:cs typeface="+mj-cs"/>
            </a:endParaRPr>
          </a:p>
        </p:txBody>
      </p:sp>
    </p:spTree>
    <p:custDataLst>
      <p:tags r:id="rId78"/>
    </p:custData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圆角矩形 161"/>
          <p:cNvSpPr/>
          <p:nvPr>
            <p:custDataLst>
              <p:tags r:id="rId1"/>
            </p:custDataLst>
          </p:nvPr>
        </p:nvSpPr>
        <p:spPr>
          <a:xfrm>
            <a:off x="4114165" y="6158865"/>
            <a:ext cx="3140710" cy="45974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rgbClr val="393D3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4" name="标题 1"/>
          <p:cNvSpPr txBox="1"/>
          <p:nvPr/>
        </p:nvSpPr>
        <p:spPr bwMode="auto">
          <a:xfrm>
            <a:off x="43560" y="176032"/>
            <a:ext cx="12043666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3200" kern="0" dirty="0">
                <a:solidFill>
                  <a:schemeClr val="tx1"/>
                </a:solidFill>
                <a:latin typeface="+mj-ea"/>
              </a:rPr>
              <a:t>模型架构</a:t>
            </a:r>
            <a:endParaRPr lang="zh-CN" altLang="en-US" sz="3200" kern="0" dirty="0">
              <a:solidFill>
                <a:schemeClr val="tx1"/>
              </a:solidFill>
              <a:latin typeface="+mj-ea"/>
            </a:endParaRPr>
          </a:p>
        </p:txBody>
      </p:sp>
      <p:grpSp>
        <p:nvGrpSpPr>
          <p:cNvPr id="4" name="b1142882-0153-4ef1-ab3e-a8f8de0e06a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9998529" y="213697"/>
            <a:ext cx="1941301" cy="601649"/>
            <a:chOff x="3135086" y="2512940"/>
            <a:chExt cx="5921821" cy="1835296"/>
          </a:xfrm>
        </p:grpSpPr>
        <p:grpSp>
          <p:nvGrpSpPr>
            <p:cNvPr id="2" name="ïṡľïḑé"/>
            <p:cNvGrpSpPr/>
            <p:nvPr/>
          </p:nvGrpSpPr>
          <p:grpSpPr>
            <a:xfrm>
              <a:off x="3135086" y="2512940"/>
              <a:ext cx="1823280" cy="1835296"/>
              <a:chOff x="3551238" y="3067050"/>
              <a:chExt cx="722313" cy="727075"/>
            </a:xfrm>
          </p:grpSpPr>
          <p:sp>
            <p:nvSpPr>
              <p:cNvPr id="35" name="ïşḷîďé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6" name="îṣļïḋé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7" name="îṣ1ï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8" name="iṡḻiḍé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9" name="ïśḻiḋ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0" name="íṣļíḓ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1" name="ïŝlíḑê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2" name="íṩḷïde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3" name="îś1íḓê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" name="íṣļiḓé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5" name="ïṣlïḑ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6" name="iṡḻïde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7" name="íṧḷiḓê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8" name="ïSlîḍe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9" name="ïšḻîďe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0" name="îṣḻîḍ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1" name="îṥḻiḓé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2" name="iŝlïď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3" name="iśḻîḋé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4" name="ís1ídé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5" name="ïṡľïḋè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6" name="išľïḑe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7" name="ïṧlîḑê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8" name="ïšḻiḑ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9" name="işlíḋ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0" name="ï$ļíḋè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1" name="iśľïḓe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2" name="îśḷ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3" name="íšļíḍ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4" name="ïŝḷïḑ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5" name="išļiďè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6" name="îŝľïḍe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7" name="íS1îḑè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8" name="ïṥlïďè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9" name="îṥḷíḍé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0" name="îśļiḑê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1" name="îṩľíď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2" name="iṣľíd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3" name="islíde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4" name="ïṡ1iḍè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5" name="îślïd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6" name="î$ľiḋ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7" name="ïṣļíḓe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8" name="ïṡļíḋè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9" name="íślîde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0" name="ïś1iḓ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1" name="îSļíḓê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2" name="ïSḻiḍè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3" name="îṣļïḋ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4" name="ïś1ïḑê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5" name="ïS1iḋê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6" name="ïšḻïḓé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7" name="îṩḷîḍe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8" name="ísḻ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9" name="îsḻiḋè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0" name="îšľî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1" name="îŝḻiḋé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2" name="íṣḻïdê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3" name="ísḻïḍ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4" name="ïš1îḑe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5" name="ïṧḷîḋ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6" name="íSḷidé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7" name="íṩḻiḍ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8" name="îš1iďe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9" name="îšľïḓê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0" name="îSlïḋé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1" name="ïşľiḑe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2" name="iś1íḍê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3" name="îŝľîdé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4" name="ïṧḻîď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</p:grpSp>
        <p:grpSp>
          <p:nvGrpSpPr>
            <p:cNvPr id="8" name="iṥ1iḓé"/>
            <p:cNvGrpSpPr/>
            <p:nvPr/>
          </p:nvGrpSpPr>
          <p:grpSpPr>
            <a:xfrm>
              <a:off x="5177660" y="2725128"/>
              <a:ext cx="3879247" cy="1410920"/>
              <a:chOff x="4412452" y="3106738"/>
              <a:chExt cx="2312689" cy="841148"/>
            </a:xfrm>
          </p:grpSpPr>
          <p:grpSp>
            <p:nvGrpSpPr>
              <p:cNvPr id="16" name="íṡḷiď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4" name="íślïḍe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8" name="íṣlíḍ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9" name="iṡlïďé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0" name="iśļíḋê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1" name="ísḻí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2" name="îṡḻiḓe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3" name="ïsḻïḓê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34" name="îśľïḍ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5" name="íşḷiḍé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6" name="ïš1í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7" name="işḷïḓ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  <p:grpSp>
            <p:nvGrpSpPr>
              <p:cNvPr id="108" name="íṥlíḓ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109" name="îSļiḋ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0" name="îsľïḓê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1" name="îṡļid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2" name="îṡḻiḋ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3" name="iṩļîďê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4" name="ïšļíḍè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5" name="iśḷïḑ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6" name="íş1iḓ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7" name="îšḻï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8" name="iśḷîďê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9" name="íşlîḓê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0" name="í$ḻiḋê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1" name="iŝḻîďè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2" name="ïsḷídê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3" name="ïSļí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</p:grpSp>
      </p:grpSp>
      <p:sp>
        <p:nvSpPr>
          <p:cNvPr id="143" name="标题 1"/>
          <p:cNvSpPr txBox="1"/>
          <p:nvPr/>
        </p:nvSpPr>
        <p:spPr bwMode="auto">
          <a:xfrm>
            <a:off x="283845" y="1230630"/>
            <a:ext cx="780097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200" kern="0" dirty="0">
                <a:solidFill>
                  <a:schemeClr val="tx2"/>
                </a:solidFill>
              </a:rPr>
              <a:t>第二阶段：视觉</a:t>
            </a:r>
            <a:r>
              <a:rPr lang="en-US" altLang="zh-CN" sz="2200" kern="0" dirty="0">
                <a:solidFill>
                  <a:schemeClr val="tx2"/>
                </a:solidFill>
              </a:rPr>
              <a:t>-</a:t>
            </a:r>
            <a:r>
              <a:rPr lang="zh-CN" altLang="en-US" sz="2200" kern="0" dirty="0">
                <a:solidFill>
                  <a:schemeClr val="tx2"/>
                </a:solidFill>
              </a:rPr>
              <a:t>语言联合训练，图像</a:t>
            </a:r>
            <a:r>
              <a:rPr lang="en-US" altLang="zh-CN" sz="2200" kern="0" dirty="0">
                <a:solidFill>
                  <a:schemeClr val="tx2"/>
                </a:solidFill>
              </a:rPr>
              <a:t>-</a:t>
            </a:r>
            <a:r>
              <a:rPr lang="zh-CN" altLang="en-US" sz="2200" kern="0" dirty="0">
                <a:solidFill>
                  <a:schemeClr val="tx2"/>
                </a:solidFill>
              </a:rPr>
              <a:t>文本语义对齐</a:t>
            </a:r>
            <a:endParaRPr lang="zh-CN" altLang="en-US" sz="2200" kern="0" dirty="0">
              <a:solidFill>
                <a:schemeClr val="tx2"/>
              </a:solidFill>
            </a:endParaRPr>
          </a:p>
        </p:txBody>
      </p:sp>
      <p:sp>
        <p:nvSpPr>
          <p:cNvPr id="13" name="标题 1"/>
          <p:cNvSpPr txBox="1"/>
          <p:nvPr/>
        </p:nvSpPr>
        <p:spPr bwMode="auto">
          <a:xfrm>
            <a:off x="270510" y="1599565"/>
            <a:ext cx="638302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1800" kern="0" dirty="0">
                <a:solidFill>
                  <a:schemeClr val="tx2"/>
                </a:solidFill>
              </a:rPr>
              <a:t>提取报告中的结构化信息，学习专属术语</a:t>
            </a:r>
            <a:endParaRPr lang="zh-CN" altLang="en-US" sz="1800" kern="0" dirty="0">
              <a:solidFill>
                <a:schemeClr val="tx2"/>
              </a:solidFill>
            </a:endParaRPr>
          </a:p>
        </p:txBody>
      </p:sp>
      <p:sp>
        <p:nvSpPr>
          <p:cNvPr id="6" name="标题 1"/>
          <p:cNvSpPr txBox="1"/>
          <p:nvPr/>
        </p:nvSpPr>
        <p:spPr bwMode="auto">
          <a:xfrm>
            <a:off x="6144895" y="1599565"/>
            <a:ext cx="579056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1800" kern="0" dirty="0">
                <a:solidFill>
                  <a:schemeClr val="tx2"/>
                </a:solidFill>
              </a:rPr>
              <a:t>对齐机制与对比学习，最大化图像</a:t>
            </a:r>
            <a:r>
              <a:rPr lang="en-US" altLang="zh-CN" sz="1800" kern="0" dirty="0">
                <a:solidFill>
                  <a:schemeClr val="tx2"/>
                </a:solidFill>
              </a:rPr>
              <a:t>-</a:t>
            </a:r>
            <a:r>
              <a:rPr lang="zh-CN" altLang="en-US" sz="1800" kern="0" dirty="0">
                <a:solidFill>
                  <a:schemeClr val="tx2"/>
                </a:solidFill>
              </a:rPr>
              <a:t>文本匹配对</a:t>
            </a:r>
            <a:endParaRPr lang="zh-CN" altLang="en-US" sz="1800" kern="0" dirty="0">
              <a:solidFill>
                <a:schemeClr val="tx2"/>
              </a:solidFill>
            </a:endParaRPr>
          </a:p>
        </p:txBody>
      </p:sp>
      <p:sp>
        <p:nvSpPr>
          <p:cNvPr id="9" name="标题 1"/>
          <p:cNvSpPr txBox="1"/>
          <p:nvPr/>
        </p:nvSpPr>
        <p:spPr bwMode="auto">
          <a:xfrm>
            <a:off x="270510" y="1983740"/>
            <a:ext cx="638302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1800" kern="0" dirty="0">
                <a:solidFill>
                  <a:schemeClr val="tx2"/>
                </a:solidFill>
              </a:rPr>
              <a:t>指令</a:t>
            </a:r>
            <a:r>
              <a:rPr lang="en-US" altLang="zh-CN" sz="1800" kern="0" dirty="0">
                <a:solidFill>
                  <a:schemeClr val="tx2"/>
                </a:solidFill>
              </a:rPr>
              <a:t>Finetune</a:t>
            </a:r>
            <a:r>
              <a:rPr lang="zh-CN" altLang="en-US" sz="1800" kern="0" dirty="0">
                <a:solidFill>
                  <a:schemeClr val="tx2"/>
                </a:solidFill>
              </a:rPr>
              <a:t>，多任务学习</a:t>
            </a:r>
            <a:endParaRPr lang="zh-CN" altLang="en-US" sz="1800" kern="0" dirty="0">
              <a:solidFill>
                <a:schemeClr val="tx2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802" y="2664439"/>
            <a:ext cx="1118100" cy="764715"/>
          </a:xfrm>
          <a:prstGeom prst="rect">
            <a:avLst/>
          </a:prstGeom>
        </p:spPr>
      </p:pic>
      <p:sp>
        <p:nvSpPr>
          <p:cNvPr id="11" name="梯形 10"/>
          <p:cNvSpPr/>
          <p:nvPr/>
        </p:nvSpPr>
        <p:spPr>
          <a:xfrm rot="5400000">
            <a:off x="4788730" y="2813562"/>
            <a:ext cx="998809" cy="676528"/>
          </a:xfrm>
          <a:prstGeom prst="trapezoid">
            <a:avLst/>
          </a:prstGeom>
          <a:solidFill>
            <a:schemeClr val="accent6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2" name="标题 1"/>
          <p:cNvSpPr txBox="1"/>
          <p:nvPr/>
        </p:nvSpPr>
        <p:spPr bwMode="auto">
          <a:xfrm>
            <a:off x="4949825" y="2954655"/>
            <a:ext cx="799465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en-US" altLang="zh-CN" sz="1400" kern="0" dirty="0">
                <a:solidFill>
                  <a:schemeClr val="tx1"/>
                </a:solidFill>
              </a:rPr>
              <a:t>MRI-</a:t>
            </a:r>
            <a:endParaRPr lang="en-US" altLang="zh-CN" sz="1400" kern="0" dirty="0">
              <a:solidFill>
                <a:schemeClr val="tx1"/>
              </a:solidFill>
            </a:endParaRPr>
          </a:p>
          <a:p>
            <a:pPr algn="l"/>
            <a:r>
              <a:rPr lang="en-US" altLang="zh-CN" sz="1400" kern="0" dirty="0">
                <a:solidFill>
                  <a:schemeClr val="tx1"/>
                </a:solidFill>
              </a:rPr>
              <a:t>Encoder</a:t>
            </a:r>
            <a:endParaRPr lang="en-US" altLang="zh-CN" sz="1400" kern="0" dirty="0">
              <a:solidFill>
                <a:schemeClr val="tx1"/>
              </a:solidFill>
            </a:endParaRPr>
          </a:p>
        </p:txBody>
      </p:sp>
      <p:sp>
        <p:nvSpPr>
          <p:cNvPr id="195" name="圆角矩形 161"/>
          <p:cNvSpPr/>
          <p:nvPr>
            <p:custDataLst>
              <p:tags r:id="rId4"/>
            </p:custDataLst>
          </p:nvPr>
        </p:nvSpPr>
        <p:spPr>
          <a:xfrm>
            <a:off x="6270767" y="2903373"/>
            <a:ext cx="1144270" cy="38481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en-US" altLang="zh-CN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Porj</a:t>
            </a:r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投射</a:t>
            </a:r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7" name="圆角矩形 161"/>
          <p:cNvSpPr/>
          <p:nvPr>
            <p:custDataLst>
              <p:tags r:id="rId5"/>
            </p:custDataLst>
          </p:nvPr>
        </p:nvSpPr>
        <p:spPr>
          <a:xfrm>
            <a:off x="8059420" y="2902585"/>
            <a:ext cx="1144270" cy="137287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语言基础模型</a:t>
            </a:r>
            <a:endParaRPr lang="zh-CN" altLang="en-US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5840" y="3815080"/>
            <a:ext cx="371475" cy="421640"/>
          </a:xfrm>
          <a:prstGeom prst="rect">
            <a:avLst/>
          </a:prstGeom>
        </p:spPr>
      </p:pic>
      <p:sp>
        <p:nvSpPr>
          <p:cNvPr id="199" name="圆角矩形 161"/>
          <p:cNvSpPr/>
          <p:nvPr>
            <p:custDataLst>
              <p:tags r:id="rId7"/>
            </p:custDataLst>
          </p:nvPr>
        </p:nvSpPr>
        <p:spPr>
          <a:xfrm>
            <a:off x="4059555" y="3815715"/>
            <a:ext cx="3250565" cy="593725"/>
          </a:xfrm>
          <a:prstGeom prst="roundRect">
            <a:avLst/>
          </a:prstGeom>
          <a:solidFill>
            <a:schemeClr val="bg1"/>
          </a:solidFill>
          <a:ln w="12700" cmpd="sng">
            <a:solidFill>
              <a:srgbClr val="393D3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5" name="标题 1"/>
          <p:cNvSpPr txBox="1"/>
          <p:nvPr/>
        </p:nvSpPr>
        <p:spPr bwMode="auto">
          <a:xfrm>
            <a:off x="3381549" y="3429154"/>
            <a:ext cx="1202055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1400" kern="0" dirty="0">
                <a:solidFill>
                  <a:schemeClr val="tx1"/>
                </a:solidFill>
              </a:rPr>
              <a:t>医学图像</a:t>
            </a:r>
            <a:endParaRPr lang="zh-CN" altLang="en-US" sz="1400" kern="0" dirty="0">
              <a:solidFill>
                <a:schemeClr val="tx1"/>
              </a:solidFill>
            </a:endParaRPr>
          </a:p>
        </p:txBody>
      </p:sp>
      <p:sp>
        <p:nvSpPr>
          <p:cNvPr id="207" name="标题 1"/>
          <p:cNvSpPr txBox="1"/>
          <p:nvPr/>
        </p:nvSpPr>
        <p:spPr bwMode="auto">
          <a:xfrm>
            <a:off x="4049478" y="3918636"/>
            <a:ext cx="3260451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just"/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-Please provide an interpretation from this image.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标题 1"/>
          <p:cNvSpPr txBox="1"/>
          <p:nvPr/>
        </p:nvSpPr>
        <p:spPr bwMode="auto">
          <a:xfrm>
            <a:off x="601069" y="2545833"/>
            <a:ext cx="2331754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457200" indent="-457200" algn="l">
              <a:buClrTx/>
              <a:buSzTx/>
              <a:buFont typeface="+mj-ea"/>
              <a:buAutoNum type="circleNumDbPlain"/>
            </a:pPr>
            <a:r>
              <a:rPr lang="en-US" altLang="zh-CN" sz="1600" kern="0" dirty="0">
                <a:solidFill>
                  <a:schemeClr val="tx1"/>
                </a:solidFill>
              </a:rPr>
              <a:t>对齐学习</a:t>
            </a:r>
            <a:endParaRPr lang="en-US" altLang="zh-CN" sz="1600" kern="0" dirty="0">
              <a:solidFill>
                <a:schemeClr val="tx1"/>
              </a:solidFill>
            </a:endParaRPr>
          </a:p>
        </p:txBody>
      </p:sp>
      <p:sp>
        <p:nvSpPr>
          <p:cNvPr id="212" name="标题 1"/>
          <p:cNvSpPr txBox="1"/>
          <p:nvPr/>
        </p:nvSpPr>
        <p:spPr bwMode="auto">
          <a:xfrm>
            <a:off x="558524" y="2991660"/>
            <a:ext cx="2331754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CN" altLang="en-US" sz="1400" b="0" kern="0" dirty="0">
                <a:solidFill>
                  <a:schemeClr val="tx1"/>
                </a:solidFill>
              </a:rPr>
              <a:t>使用图像</a:t>
            </a:r>
            <a:r>
              <a:rPr lang="en-US" altLang="zh-CN" sz="1400" b="0" kern="0" dirty="0">
                <a:solidFill>
                  <a:schemeClr val="tx1"/>
                </a:solidFill>
              </a:rPr>
              <a:t>-</a:t>
            </a:r>
            <a:r>
              <a:rPr lang="zh-CN" altLang="en-US" sz="1400" b="0" kern="0" dirty="0">
                <a:solidFill>
                  <a:schemeClr val="tx1"/>
                </a:solidFill>
              </a:rPr>
              <a:t>文本对预训练</a:t>
            </a:r>
            <a:endParaRPr lang="zh-CN" altLang="en-US" sz="1400" b="0" kern="0" dirty="0">
              <a:solidFill>
                <a:schemeClr val="tx1"/>
              </a:solidFill>
            </a:endParaRPr>
          </a:p>
        </p:txBody>
      </p:sp>
      <p:sp>
        <p:nvSpPr>
          <p:cNvPr id="213" name="标题 1"/>
          <p:cNvSpPr txBox="1"/>
          <p:nvPr/>
        </p:nvSpPr>
        <p:spPr bwMode="auto">
          <a:xfrm>
            <a:off x="558618" y="3475296"/>
            <a:ext cx="2331754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CN" altLang="en-US" sz="1400" b="0" kern="0" dirty="0">
                <a:solidFill>
                  <a:schemeClr val="tx1"/>
                </a:solidFill>
              </a:rPr>
              <a:t>冻结视觉编码器和语言模型，训练投射层</a:t>
            </a:r>
            <a:endParaRPr lang="zh-CN" altLang="en-US" sz="1400" b="0" kern="0" dirty="0">
              <a:solidFill>
                <a:schemeClr val="tx1"/>
              </a:solidFill>
            </a:endParaRPr>
          </a:p>
        </p:txBody>
      </p:sp>
      <p:pic>
        <p:nvPicPr>
          <p:cNvPr id="236" name="图片 2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026" y="4875016"/>
            <a:ext cx="1118100" cy="764715"/>
          </a:xfrm>
          <a:prstGeom prst="rect">
            <a:avLst/>
          </a:prstGeom>
        </p:spPr>
      </p:pic>
      <p:sp>
        <p:nvSpPr>
          <p:cNvPr id="238" name="梯形 237"/>
          <p:cNvSpPr/>
          <p:nvPr/>
        </p:nvSpPr>
        <p:spPr>
          <a:xfrm rot="5400000">
            <a:off x="4683954" y="5024139"/>
            <a:ext cx="998809" cy="676528"/>
          </a:xfrm>
          <a:prstGeom prst="trapezoid">
            <a:avLst/>
          </a:prstGeom>
          <a:solidFill>
            <a:schemeClr val="accent6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3" name="圆角矩形 161"/>
          <p:cNvSpPr/>
          <p:nvPr>
            <p:custDataLst>
              <p:tags r:id="rId8"/>
            </p:custDataLst>
          </p:nvPr>
        </p:nvSpPr>
        <p:spPr>
          <a:xfrm>
            <a:off x="7954645" y="5173980"/>
            <a:ext cx="1144270" cy="13258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语言基础模型</a:t>
            </a:r>
            <a:endParaRPr lang="zh-CN" altLang="en-US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245" name="图片 2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5525" y="6055360"/>
            <a:ext cx="391795" cy="444500"/>
          </a:xfrm>
          <a:prstGeom prst="rect">
            <a:avLst/>
          </a:prstGeom>
        </p:spPr>
      </p:pic>
      <p:sp>
        <p:nvSpPr>
          <p:cNvPr id="248" name="标题 1"/>
          <p:cNvSpPr txBox="1"/>
          <p:nvPr/>
        </p:nvSpPr>
        <p:spPr bwMode="auto">
          <a:xfrm>
            <a:off x="3276773" y="5639731"/>
            <a:ext cx="1202055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1400" kern="0" dirty="0">
                <a:solidFill>
                  <a:schemeClr val="tx1"/>
                </a:solidFill>
              </a:rPr>
              <a:t>医学图像</a:t>
            </a:r>
            <a:endParaRPr lang="zh-CN" altLang="en-US" sz="1400" kern="0" dirty="0">
              <a:solidFill>
                <a:schemeClr val="tx1"/>
              </a:solidFill>
            </a:endParaRPr>
          </a:p>
        </p:txBody>
      </p:sp>
      <p:sp>
        <p:nvSpPr>
          <p:cNvPr id="250" name="标题 1"/>
          <p:cNvSpPr txBox="1"/>
          <p:nvPr/>
        </p:nvSpPr>
        <p:spPr bwMode="auto">
          <a:xfrm>
            <a:off x="4217754" y="6159135"/>
            <a:ext cx="3260451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just"/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1400" b="0" kern="0" dirty="0">
                <a:solidFill>
                  <a:schemeClr val="tx1"/>
                </a:solidFill>
              </a:rPr>
              <a:t> 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you generate a summary report ?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4695" y="4537710"/>
            <a:ext cx="300355" cy="28321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9650" y="4745355"/>
            <a:ext cx="283845" cy="305435"/>
          </a:xfrm>
          <a:prstGeom prst="rect">
            <a:avLst/>
          </a:prstGeom>
        </p:spPr>
      </p:pic>
      <p:sp>
        <p:nvSpPr>
          <p:cNvPr id="25" name="标题 1"/>
          <p:cNvSpPr txBox="1"/>
          <p:nvPr/>
        </p:nvSpPr>
        <p:spPr bwMode="auto">
          <a:xfrm>
            <a:off x="558800" y="5112915"/>
            <a:ext cx="2615155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457200" indent="-457200" algn="l">
              <a:buClrTx/>
              <a:buSzTx/>
              <a:buFont typeface="+mj-ea"/>
              <a:buAutoNum type="circleNumDbPlain" startAt="2"/>
            </a:pPr>
            <a:r>
              <a:rPr lang="zh-CN" altLang="en-US" sz="1600" kern="0" dirty="0">
                <a:solidFill>
                  <a:schemeClr val="tx1"/>
                </a:solidFill>
              </a:rPr>
              <a:t>指令学习</a:t>
            </a:r>
            <a:endParaRPr lang="zh-CN" altLang="en-US" sz="1600" kern="0" dirty="0">
              <a:solidFill>
                <a:schemeClr val="tx1"/>
              </a:solidFill>
            </a:endParaRPr>
          </a:p>
        </p:txBody>
      </p:sp>
      <p:sp>
        <p:nvSpPr>
          <p:cNvPr id="27" name="标题 1"/>
          <p:cNvSpPr txBox="1"/>
          <p:nvPr/>
        </p:nvSpPr>
        <p:spPr bwMode="auto">
          <a:xfrm>
            <a:off x="558593" y="5652936"/>
            <a:ext cx="2331754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CN" altLang="en-US" sz="1400" b="0" kern="0" dirty="0">
                <a:solidFill>
                  <a:schemeClr val="tx1"/>
                </a:solidFill>
              </a:rPr>
              <a:t>冻结视觉编码器，训练投射层和语言模型</a:t>
            </a:r>
            <a:endParaRPr lang="zh-CN" altLang="en-US" sz="1400" b="0" kern="0" dirty="0">
              <a:solidFill>
                <a:schemeClr val="tx1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4940" y="4820920"/>
            <a:ext cx="284480" cy="306070"/>
          </a:xfrm>
          <a:prstGeom prst="rect">
            <a:avLst/>
          </a:prstGeom>
        </p:spPr>
      </p:pic>
      <p:sp>
        <p:nvSpPr>
          <p:cNvPr id="31" name="圆角矩形 9"/>
          <p:cNvSpPr/>
          <p:nvPr/>
        </p:nvSpPr>
        <p:spPr>
          <a:xfrm>
            <a:off x="884962" y="4060313"/>
            <a:ext cx="1621735" cy="911104"/>
          </a:xfrm>
          <a:prstGeom prst="roundRect">
            <a:avLst/>
          </a:prstGeom>
          <a:noFill/>
          <a:ln w="15875">
            <a:solidFill>
              <a:srgbClr val="0066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436" y="4132469"/>
            <a:ext cx="359039" cy="33781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8733" y="4529153"/>
            <a:ext cx="346742" cy="372748"/>
          </a:xfrm>
          <a:prstGeom prst="rect">
            <a:avLst/>
          </a:prstGeom>
        </p:spPr>
      </p:pic>
      <p:sp>
        <p:nvSpPr>
          <p:cNvPr id="124" name="标题 1"/>
          <p:cNvSpPr txBox="1"/>
          <p:nvPr/>
        </p:nvSpPr>
        <p:spPr bwMode="auto">
          <a:xfrm>
            <a:off x="1532745" y="4093339"/>
            <a:ext cx="1202055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1400" kern="0" dirty="0">
                <a:solidFill>
                  <a:schemeClr val="tx1"/>
                </a:solidFill>
              </a:rPr>
              <a:t>冻结</a:t>
            </a:r>
            <a:endParaRPr lang="zh-CN" altLang="en-US" sz="1400" kern="0" dirty="0">
              <a:solidFill>
                <a:schemeClr val="tx1"/>
              </a:solidFill>
            </a:endParaRPr>
          </a:p>
        </p:txBody>
      </p:sp>
      <p:sp>
        <p:nvSpPr>
          <p:cNvPr id="125" name="标题 1"/>
          <p:cNvSpPr txBox="1"/>
          <p:nvPr/>
        </p:nvSpPr>
        <p:spPr bwMode="auto">
          <a:xfrm>
            <a:off x="1541965" y="4537974"/>
            <a:ext cx="1202055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1400" kern="0" dirty="0">
                <a:solidFill>
                  <a:schemeClr val="tx1"/>
                </a:solidFill>
              </a:rPr>
              <a:t>训练</a:t>
            </a:r>
            <a:endParaRPr lang="zh-CN" altLang="en-US" sz="1400" kern="0" dirty="0">
              <a:solidFill>
                <a:schemeClr val="tx1"/>
              </a:solidFill>
            </a:endParaRPr>
          </a:p>
        </p:txBody>
      </p:sp>
      <p:sp>
        <p:nvSpPr>
          <p:cNvPr id="126" name="标题 1"/>
          <p:cNvSpPr txBox="1"/>
          <p:nvPr/>
        </p:nvSpPr>
        <p:spPr bwMode="auto">
          <a:xfrm>
            <a:off x="4845050" y="5173345"/>
            <a:ext cx="799465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en-US" altLang="zh-CN" sz="1400" kern="0" dirty="0">
                <a:solidFill>
                  <a:schemeClr val="tx1"/>
                </a:solidFill>
              </a:rPr>
              <a:t>MRI-</a:t>
            </a:r>
            <a:endParaRPr lang="en-US" altLang="zh-CN" sz="1400" kern="0" dirty="0">
              <a:solidFill>
                <a:schemeClr val="tx1"/>
              </a:solidFill>
            </a:endParaRPr>
          </a:p>
          <a:p>
            <a:pPr algn="l"/>
            <a:r>
              <a:rPr lang="en-US" altLang="zh-CN" sz="1400" kern="0" dirty="0">
                <a:solidFill>
                  <a:schemeClr val="tx1"/>
                </a:solidFill>
              </a:rPr>
              <a:t>Encoder</a:t>
            </a:r>
            <a:endParaRPr lang="en-US" altLang="zh-CN" sz="1400" kern="0" dirty="0">
              <a:solidFill>
                <a:schemeClr val="tx1"/>
              </a:solidFill>
            </a:endParaRPr>
          </a:p>
        </p:txBody>
      </p:sp>
      <p:pic>
        <p:nvPicPr>
          <p:cNvPr id="127" name="图片 1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1065" y="2326005"/>
            <a:ext cx="285750" cy="269875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4895" y="2545715"/>
            <a:ext cx="281305" cy="302260"/>
          </a:xfrm>
          <a:prstGeom prst="rect">
            <a:avLst/>
          </a:prstGeom>
        </p:spPr>
      </p:pic>
      <p:sp>
        <p:nvSpPr>
          <p:cNvPr id="5" name="圆角矩形 161"/>
          <p:cNvSpPr/>
          <p:nvPr>
            <p:custDataLst>
              <p:tags r:id="rId11"/>
            </p:custDataLst>
          </p:nvPr>
        </p:nvSpPr>
        <p:spPr>
          <a:xfrm>
            <a:off x="9937257" y="2713508"/>
            <a:ext cx="1144270" cy="384810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疾病类型</a:t>
            </a:r>
            <a:endParaRPr lang="zh-CN" altLang="en-US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圆角矩形 161"/>
          <p:cNvSpPr/>
          <p:nvPr>
            <p:custDataLst>
              <p:tags r:id="rId12"/>
            </p:custDataLst>
          </p:nvPr>
        </p:nvSpPr>
        <p:spPr>
          <a:xfrm>
            <a:off x="9936622" y="3349143"/>
            <a:ext cx="1144270" cy="384810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影像术语</a:t>
            </a:r>
            <a:endParaRPr lang="zh-CN" altLang="en-US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9" name="圆角矩形 161"/>
          <p:cNvSpPr/>
          <p:nvPr>
            <p:custDataLst>
              <p:tags r:id="rId13"/>
            </p:custDataLst>
          </p:nvPr>
        </p:nvSpPr>
        <p:spPr>
          <a:xfrm>
            <a:off x="9938527" y="4024783"/>
            <a:ext cx="1144270" cy="384810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病变区域</a:t>
            </a:r>
            <a:endParaRPr lang="zh-CN" altLang="en-US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30" name="圆角矩形 161"/>
          <p:cNvSpPr/>
          <p:nvPr>
            <p:custDataLst>
              <p:tags r:id="rId14"/>
            </p:custDataLst>
          </p:nvPr>
        </p:nvSpPr>
        <p:spPr>
          <a:xfrm>
            <a:off x="9938527" y="5173498"/>
            <a:ext cx="1144270" cy="384810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诊断意见</a:t>
            </a:r>
            <a:endParaRPr lang="zh-CN" altLang="en-US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31" name="圆角矩形 161"/>
          <p:cNvSpPr/>
          <p:nvPr>
            <p:custDataLst>
              <p:tags r:id="rId15"/>
            </p:custDataLst>
          </p:nvPr>
        </p:nvSpPr>
        <p:spPr>
          <a:xfrm>
            <a:off x="9938527" y="5921528"/>
            <a:ext cx="1144270" cy="384810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影像报告</a:t>
            </a:r>
            <a:endParaRPr lang="zh-CN" altLang="en-US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32" name="标题 1"/>
          <p:cNvSpPr txBox="1"/>
          <p:nvPr/>
        </p:nvSpPr>
        <p:spPr bwMode="auto">
          <a:xfrm>
            <a:off x="6144895" y="1983740"/>
            <a:ext cx="579056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1800" kern="0" dirty="0">
                <a:sym typeface="+mn-ea"/>
              </a:rPr>
              <a:t>临床扩展</a:t>
            </a:r>
            <a:r>
              <a:rPr lang="en-US" altLang="zh-CN" sz="1800" kern="0" dirty="0">
                <a:sym typeface="+mn-ea"/>
              </a:rPr>
              <a:t>—</a:t>
            </a:r>
            <a:r>
              <a:rPr lang="zh-CN" altLang="en-US" sz="1800" kern="0" dirty="0">
                <a:sym typeface="+mn-ea"/>
              </a:rPr>
              <a:t>报告生成学习与视觉语言对话</a:t>
            </a:r>
            <a:endParaRPr lang="zh-CN" altLang="en-US" sz="1800" kern="0" dirty="0">
              <a:solidFill>
                <a:schemeClr val="tx2"/>
              </a:solidFill>
            </a:endParaRPr>
          </a:p>
        </p:txBody>
      </p:sp>
      <p:cxnSp>
        <p:nvCxnSpPr>
          <p:cNvPr id="254" name="直接箭头连接符 253"/>
          <p:cNvCxnSpPr/>
          <p:nvPr>
            <p:custDataLst>
              <p:tags r:id="rId16"/>
            </p:custDataLst>
          </p:nvPr>
        </p:nvCxnSpPr>
        <p:spPr>
          <a:xfrm flipV="1">
            <a:off x="4437183" y="3084902"/>
            <a:ext cx="463550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/>
          <p:nvPr>
            <p:custDataLst>
              <p:tags r:id="rId17"/>
            </p:custDataLst>
          </p:nvPr>
        </p:nvCxnSpPr>
        <p:spPr>
          <a:xfrm flipV="1">
            <a:off x="5702103" y="3091887"/>
            <a:ext cx="463550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/>
          <p:nvPr>
            <p:custDataLst>
              <p:tags r:id="rId18"/>
            </p:custDataLst>
          </p:nvPr>
        </p:nvCxnSpPr>
        <p:spPr>
          <a:xfrm flipV="1">
            <a:off x="7478198" y="3079187"/>
            <a:ext cx="463550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>
            <p:custDataLst>
              <p:tags r:id="rId19"/>
            </p:custDataLst>
          </p:nvPr>
        </p:nvCxnSpPr>
        <p:spPr>
          <a:xfrm flipV="1">
            <a:off x="7478198" y="4060262"/>
            <a:ext cx="463550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0" name="右箭头 30"/>
          <p:cNvSpPr/>
          <p:nvPr/>
        </p:nvSpPr>
        <p:spPr>
          <a:xfrm>
            <a:off x="9339407" y="3376719"/>
            <a:ext cx="453390" cy="311785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41" name="直接箭头连接符 140"/>
          <p:cNvCxnSpPr/>
          <p:nvPr>
            <p:custDataLst>
              <p:tags r:id="rId20"/>
            </p:custDataLst>
          </p:nvPr>
        </p:nvCxnSpPr>
        <p:spPr>
          <a:xfrm flipV="1">
            <a:off x="4332408" y="5316292"/>
            <a:ext cx="463550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2" name="直接箭头连接符 141"/>
          <p:cNvCxnSpPr/>
          <p:nvPr>
            <p:custDataLst>
              <p:tags r:id="rId21"/>
            </p:custDataLst>
          </p:nvPr>
        </p:nvCxnSpPr>
        <p:spPr>
          <a:xfrm flipV="1">
            <a:off x="5625903" y="5316292"/>
            <a:ext cx="463550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4" name="圆角矩形 161"/>
          <p:cNvSpPr/>
          <p:nvPr>
            <p:custDataLst>
              <p:tags r:id="rId22"/>
            </p:custDataLst>
          </p:nvPr>
        </p:nvSpPr>
        <p:spPr>
          <a:xfrm>
            <a:off x="6166627" y="5148098"/>
            <a:ext cx="1144270" cy="38481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en-US" altLang="zh-CN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Porj</a:t>
            </a:r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投射</a:t>
            </a:r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cxnSp>
        <p:nvCxnSpPr>
          <p:cNvPr id="145" name="直接箭头连接符 144"/>
          <p:cNvCxnSpPr/>
          <p:nvPr>
            <p:custDataLst>
              <p:tags r:id="rId23"/>
            </p:custDataLst>
          </p:nvPr>
        </p:nvCxnSpPr>
        <p:spPr>
          <a:xfrm flipV="1">
            <a:off x="7414698" y="5323277"/>
            <a:ext cx="463550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>
            <p:custDataLst>
              <p:tags r:id="rId24"/>
            </p:custDataLst>
          </p:nvPr>
        </p:nvCxnSpPr>
        <p:spPr>
          <a:xfrm flipV="1">
            <a:off x="7365803" y="6341182"/>
            <a:ext cx="463550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8" name="右箭头 30"/>
          <p:cNvSpPr/>
          <p:nvPr/>
        </p:nvSpPr>
        <p:spPr>
          <a:xfrm>
            <a:off x="9240347" y="5606839"/>
            <a:ext cx="453390" cy="311785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25"/>
    </p:custData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矩形 184"/>
          <p:cNvSpPr/>
          <p:nvPr/>
        </p:nvSpPr>
        <p:spPr>
          <a:xfrm>
            <a:off x="6680835" y="3001645"/>
            <a:ext cx="1260475" cy="1494155"/>
          </a:xfrm>
          <a:prstGeom prst="rect">
            <a:avLst/>
          </a:prstGeom>
          <a:solidFill>
            <a:schemeClr val="bg1"/>
          </a:solidFill>
          <a:ln w="19050" cmpd="sng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82" name="矩形 181"/>
          <p:cNvSpPr/>
          <p:nvPr/>
        </p:nvSpPr>
        <p:spPr>
          <a:xfrm>
            <a:off x="8324850" y="2742565"/>
            <a:ext cx="3045460" cy="1833880"/>
          </a:xfrm>
          <a:prstGeom prst="rect">
            <a:avLst/>
          </a:prstGeom>
          <a:solidFill>
            <a:schemeClr val="bg1"/>
          </a:solidFill>
          <a:ln w="19050" cmpd="sng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8364220" y="4993640"/>
            <a:ext cx="2893060" cy="1430655"/>
          </a:xfrm>
          <a:prstGeom prst="rect">
            <a:avLst/>
          </a:prstGeom>
          <a:solidFill>
            <a:schemeClr val="bg1"/>
          </a:solidFill>
          <a:ln w="19050" cmpd="sng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4" name="标题 1"/>
          <p:cNvSpPr txBox="1"/>
          <p:nvPr/>
        </p:nvSpPr>
        <p:spPr bwMode="auto">
          <a:xfrm>
            <a:off x="43560" y="176032"/>
            <a:ext cx="12043666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3200" kern="0" dirty="0">
                <a:solidFill>
                  <a:schemeClr val="tx1"/>
                </a:solidFill>
                <a:latin typeface="+mj-ea"/>
              </a:rPr>
              <a:t>模型架构</a:t>
            </a:r>
            <a:endParaRPr lang="zh-CN" altLang="en-US" sz="3200" kern="0" dirty="0">
              <a:solidFill>
                <a:schemeClr val="tx1"/>
              </a:solidFill>
              <a:latin typeface="+mj-ea"/>
            </a:endParaRPr>
          </a:p>
        </p:txBody>
      </p:sp>
      <p:grpSp>
        <p:nvGrpSpPr>
          <p:cNvPr id="4" name="b1142882-0153-4ef1-ab3e-a8f8de0e06a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998529" y="213697"/>
            <a:ext cx="1941301" cy="601649"/>
            <a:chOff x="3135086" y="2512940"/>
            <a:chExt cx="5921821" cy="1835296"/>
          </a:xfrm>
        </p:grpSpPr>
        <p:grpSp>
          <p:nvGrpSpPr>
            <p:cNvPr id="2" name="ïṡľïḑé"/>
            <p:cNvGrpSpPr/>
            <p:nvPr/>
          </p:nvGrpSpPr>
          <p:grpSpPr>
            <a:xfrm>
              <a:off x="3135086" y="2512940"/>
              <a:ext cx="1823280" cy="1835296"/>
              <a:chOff x="3551238" y="3067050"/>
              <a:chExt cx="722313" cy="727075"/>
            </a:xfrm>
          </p:grpSpPr>
          <p:sp>
            <p:nvSpPr>
              <p:cNvPr id="35" name="ïşḷîďé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6" name="îṣļïḋé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7" name="îṣ1ï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8" name="iṡḻiḍé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9" name="ïśḻiḋ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0" name="íṣļíḓ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1" name="ïŝlíḑê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2" name="íṩḷïde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3" name="îś1íḓê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" name="íṣļiḓé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5" name="ïṣlïḑ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6" name="iṡḻïde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7" name="íṧḷiḓê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8" name="ïSlîḍe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9" name="ïšḻîďe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0" name="îṣḻîḍ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1" name="îṥḻiḓé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2" name="iŝlïď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3" name="iśḻîḋé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4" name="ís1ídé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5" name="ïṡľïḋè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6" name="išľïḑe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7" name="ïṧlîḑê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8" name="ïšḻiḑ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9" name="işlíḋ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0" name="ï$ļíḋè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1" name="iśľïḓe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2" name="îśḷ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3" name="íšļíḍ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4" name="ïŝḷïḑ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5" name="išļiďè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6" name="îŝľïḍe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7" name="íS1îḑè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8" name="ïṥlïďè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9" name="îṥḷíḍé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0" name="îśļiḑê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1" name="îṩľíď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2" name="iṣľíd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3" name="islíde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4" name="ïṡ1iḍè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5" name="îślïd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6" name="î$ľiḋ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7" name="ïṣļíḓe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8" name="ïṡļíḋè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9" name="íślîde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0" name="ïś1iḓ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1" name="îSļíḓê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2" name="ïSḻiḍè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3" name="îṣļïḋ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4" name="ïś1ïḑê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5" name="ïS1iḋê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6" name="ïšḻïḓé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7" name="îṩḷîḍe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8" name="ísḻ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9" name="îsḻiḋè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0" name="îšľî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1" name="îŝḻiḋé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2" name="íṣḻïdê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3" name="ísḻïḍ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4" name="ïš1îḑe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5" name="ïṧḷîḋ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6" name="íSḷidé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7" name="íṩḻiḍ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8" name="îš1iďe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9" name="îšľïḓê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0" name="îSlïḋé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1" name="ïşľiḑe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2" name="iś1íḍê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3" name="îŝľîdé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4" name="ïṧḻîď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</p:grpSp>
        <p:grpSp>
          <p:nvGrpSpPr>
            <p:cNvPr id="8" name="iṥ1iḓé"/>
            <p:cNvGrpSpPr/>
            <p:nvPr/>
          </p:nvGrpSpPr>
          <p:grpSpPr>
            <a:xfrm>
              <a:off x="5177660" y="2725128"/>
              <a:ext cx="3879247" cy="1410920"/>
              <a:chOff x="4412452" y="3106738"/>
              <a:chExt cx="2312689" cy="841148"/>
            </a:xfrm>
          </p:grpSpPr>
          <p:grpSp>
            <p:nvGrpSpPr>
              <p:cNvPr id="16" name="íṡḷiď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4" name="íślïḍe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8" name="íṣlíḍ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9" name="iṡlïďé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0" name="iśļíḋê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1" name="ísḻí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2" name="îṡḻiḓe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3" name="ïsḻïḓê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34" name="îśľïḍ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5" name="íşḷiḍé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6" name="ïš1í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7" name="işḷïḓ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  <p:grpSp>
            <p:nvGrpSpPr>
              <p:cNvPr id="108" name="íṥlíḓ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109" name="îSļiḋ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0" name="îsľïḓê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1" name="îṡļid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2" name="îṡḻiḋ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3" name="iṩļîďê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4" name="ïšļíḍè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5" name="iśḷïḑ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6" name="íş1iḓ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7" name="îšḻï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8" name="iśḷîďê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9" name="íşlîḓê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0" name="í$ḻiḋê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1" name="iŝḻîďè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2" name="ïsḷídê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3" name="ïSļí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</p:grpSp>
      </p:grpSp>
      <p:sp>
        <p:nvSpPr>
          <p:cNvPr id="143" name="标题 1"/>
          <p:cNvSpPr txBox="1"/>
          <p:nvPr/>
        </p:nvSpPr>
        <p:spPr bwMode="auto">
          <a:xfrm>
            <a:off x="283845" y="1230630"/>
            <a:ext cx="529717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200" kern="0" dirty="0">
                <a:solidFill>
                  <a:schemeClr val="tx2"/>
                </a:solidFill>
              </a:rPr>
              <a:t>第三阶段：下游任务的适配器训练</a:t>
            </a:r>
            <a:endParaRPr lang="zh-CN" altLang="en-US" sz="2200" kern="0" dirty="0">
              <a:solidFill>
                <a:schemeClr val="tx2"/>
              </a:solidFill>
            </a:endParaRPr>
          </a:p>
        </p:txBody>
      </p:sp>
      <p:sp>
        <p:nvSpPr>
          <p:cNvPr id="13" name="标题 1"/>
          <p:cNvSpPr txBox="1"/>
          <p:nvPr/>
        </p:nvSpPr>
        <p:spPr bwMode="auto">
          <a:xfrm>
            <a:off x="270510" y="1599565"/>
            <a:ext cx="638302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1800" kern="0" dirty="0">
                <a:solidFill>
                  <a:schemeClr val="tx2"/>
                </a:solidFill>
              </a:rPr>
              <a:t>分割：图像编码器</a:t>
            </a:r>
            <a:r>
              <a:rPr lang="en-US" altLang="zh-CN" sz="1800" kern="0" dirty="0">
                <a:solidFill>
                  <a:schemeClr val="tx2"/>
                </a:solidFill>
              </a:rPr>
              <a:t> + </a:t>
            </a:r>
            <a:r>
              <a:rPr lang="zh-CN" altLang="en-US" sz="1800" kern="0" dirty="0">
                <a:solidFill>
                  <a:schemeClr val="tx2"/>
                </a:solidFill>
              </a:rPr>
              <a:t>分割</a:t>
            </a:r>
            <a:r>
              <a:rPr lang="en-US" altLang="zh-CN" sz="1800" kern="0" dirty="0">
                <a:solidFill>
                  <a:schemeClr val="tx2"/>
                </a:solidFill>
              </a:rPr>
              <a:t>Head</a:t>
            </a:r>
            <a:endParaRPr lang="en-US" altLang="zh-CN" sz="1800" kern="0" dirty="0">
              <a:solidFill>
                <a:schemeClr val="tx2"/>
              </a:solidFill>
            </a:endParaRPr>
          </a:p>
        </p:txBody>
      </p:sp>
      <p:sp>
        <p:nvSpPr>
          <p:cNvPr id="6" name="标题 1"/>
          <p:cNvSpPr txBox="1"/>
          <p:nvPr/>
        </p:nvSpPr>
        <p:spPr bwMode="auto">
          <a:xfrm>
            <a:off x="6144895" y="1599565"/>
            <a:ext cx="579056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1800" kern="0" dirty="0">
                <a:solidFill>
                  <a:schemeClr val="tx2"/>
                </a:solidFill>
              </a:rPr>
              <a:t>报告生成与对话：图像编码器</a:t>
            </a:r>
            <a:r>
              <a:rPr lang="en-US" altLang="zh-CN" sz="1800" kern="0" dirty="0">
                <a:solidFill>
                  <a:schemeClr val="tx2"/>
                </a:solidFill>
              </a:rPr>
              <a:t> + </a:t>
            </a:r>
            <a:r>
              <a:rPr lang="zh-CN" altLang="en-US" sz="1800" kern="0" dirty="0">
                <a:solidFill>
                  <a:schemeClr val="tx2"/>
                </a:solidFill>
              </a:rPr>
              <a:t>语言模型</a:t>
            </a:r>
            <a:endParaRPr lang="zh-CN" altLang="en-US" sz="1800" kern="0" dirty="0">
              <a:solidFill>
                <a:schemeClr val="tx2"/>
              </a:solidFill>
            </a:endParaRPr>
          </a:p>
        </p:txBody>
      </p:sp>
      <p:sp>
        <p:nvSpPr>
          <p:cNvPr id="9" name="标题 1"/>
          <p:cNvSpPr txBox="1"/>
          <p:nvPr/>
        </p:nvSpPr>
        <p:spPr bwMode="auto">
          <a:xfrm>
            <a:off x="270510" y="1983740"/>
            <a:ext cx="638302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1800" kern="0" dirty="0">
                <a:solidFill>
                  <a:schemeClr val="tx2"/>
                </a:solidFill>
              </a:rPr>
              <a:t>分类：图像编码器</a:t>
            </a:r>
            <a:r>
              <a:rPr lang="en-US" altLang="zh-CN" sz="1800" kern="0" dirty="0">
                <a:solidFill>
                  <a:schemeClr val="tx2"/>
                </a:solidFill>
              </a:rPr>
              <a:t> + </a:t>
            </a:r>
            <a:r>
              <a:rPr lang="zh-CN" altLang="en-US" sz="1800" kern="0" dirty="0">
                <a:solidFill>
                  <a:schemeClr val="tx2"/>
                </a:solidFill>
              </a:rPr>
              <a:t>多层感知机</a:t>
            </a:r>
            <a:endParaRPr lang="zh-CN" altLang="en-US" sz="1800" kern="0" dirty="0">
              <a:solidFill>
                <a:schemeClr val="tx2"/>
              </a:solidFill>
            </a:endParaRPr>
          </a:p>
        </p:txBody>
      </p:sp>
      <p:sp>
        <p:nvSpPr>
          <p:cNvPr id="224" name="矩形 223"/>
          <p:cNvSpPr/>
          <p:nvPr/>
        </p:nvSpPr>
        <p:spPr>
          <a:xfrm>
            <a:off x="8471535" y="5090160"/>
            <a:ext cx="1258570" cy="125539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70720" y="3772086"/>
            <a:ext cx="1281781" cy="14300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87" y="3806527"/>
            <a:ext cx="1234940" cy="1380921"/>
          </a:xfrm>
          <a:prstGeom prst="rect">
            <a:avLst/>
          </a:prstGeom>
        </p:spPr>
      </p:pic>
      <p:sp>
        <p:nvSpPr>
          <p:cNvPr id="152" name="梯形 151"/>
          <p:cNvSpPr/>
          <p:nvPr/>
        </p:nvSpPr>
        <p:spPr>
          <a:xfrm rot="5400000">
            <a:off x="2073910" y="2937510"/>
            <a:ext cx="915035" cy="847090"/>
          </a:xfrm>
          <a:prstGeom prst="trapezoid">
            <a:avLst/>
          </a:prstGeom>
          <a:solidFill>
            <a:schemeClr val="accent6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3" name="标题 1"/>
          <p:cNvSpPr txBox="1"/>
          <p:nvPr/>
        </p:nvSpPr>
        <p:spPr bwMode="auto">
          <a:xfrm>
            <a:off x="2130298" y="3135815"/>
            <a:ext cx="1202055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en-US" altLang="zh-CN" sz="1400" kern="0" dirty="0">
                <a:solidFill>
                  <a:schemeClr val="tx1"/>
                </a:solidFill>
              </a:rPr>
              <a:t>MRI-Encoder</a:t>
            </a:r>
            <a:endParaRPr lang="en-US" altLang="zh-CN" sz="1400" kern="0" dirty="0">
              <a:solidFill>
                <a:schemeClr val="tx1"/>
              </a:solidFill>
            </a:endParaRPr>
          </a:p>
        </p:txBody>
      </p:sp>
      <p:sp>
        <p:nvSpPr>
          <p:cNvPr id="156" name="圆角矩形 161"/>
          <p:cNvSpPr/>
          <p:nvPr>
            <p:custDataLst>
              <p:tags r:id="rId3"/>
            </p:custDataLst>
          </p:nvPr>
        </p:nvSpPr>
        <p:spPr>
          <a:xfrm>
            <a:off x="5218935" y="3178360"/>
            <a:ext cx="877377" cy="13178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语言基础模型</a:t>
            </a:r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5" name="梯形 164"/>
          <p:cNvSpPr/>
          <p:nvPr/>
        </p:nvSpPr>
        <p:spPr>
          <a:xfrm rot="5400000">
            <a:off x="2042618" y="5264829"/>
            <a:ext cx="983007" cy="945545"/>
          </a:xfrm>
          <a:prstGeom prst="trapezoid">
            <a:avLst/>
          </a:prstGeom>
          <a:solidFill>
            <a:schemeClr val="accent1">
              <a:lumMod val="9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6" name="标题 1"/>
          <p:cNvSpPr txBox="1"/>
          <p:nvPr/>
        </p:nvSpPr>
        <p:spPr bwMode="auto">
          <a:xfrm>
            <a:off x="2022265" y="5534051"/>
            <a:ext cx="1202055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en-US" altLang="zh-CN" sz="1400" kern="0" dirty="0">
                <a:solidFill>
                  <a:schemeClr val="tx1"/>
                </a:solidFill>
              </a:rPr>
              <a:t>ConvNext</a:t>
            </a:r>
            <a:endParaRPr lang="en-US" altLang="zh-CN" sz="1400" kern="0" dirty="0">
              <a:solidFill>
                <a:schemeClr val="tx1"/>
              </a:solidFill>
            </a:endParaRPr>
          </a:p>
        </p:txBody>
      </p:sp>
      <p:sp>
        <p:nvSpPr>
          <p:cNvPr id="167" name="圆角矩形 161"/>
          <p:cNvSpPr/>
          <p:nvPr>
            <p:custDataLst>
              <p:tags r:id="rId4"/>
            </p:custDataLst>
          </p:nvPr>
        </p:nvSpPr>
        <p:spPr>
          <a:xfrm>
            <a:off x="2954577" y="4861288"/>
            <a:ext cx="1144270" cy="38481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en-US" altLang="zh-CN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V-L </a:t>
            </a:r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投射</a:t>
            </a:r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71" name="右箭头 30"/>
          <p:cNvSpPr/>
          <p:nvPr/>
        </p:nvSpPr>
        <p:spPr>
          <a:xfrm rot="5400000">
            <a:off x="5019675" y="4854575"/>
            <a:ext cx="626110" cy="22733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2" name="标题 1"/>
          <p:cNvSpPr txBox="1"/>
          <p:nvPr/>
        </p:nvSpPr>
        <p:spPr bwMode="auto">
          <a:xfrm>
            <a:off x="5478677" y="4655102"/>
            <a:ext cx="1202055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1100" kern="0" dirty="0">
                <a:solidFill>
                  <a:schemeClr val="tx1"/>
                </a:solidFill>
              </a:rPr>
              <a:t>隐藏层特征</a:t>
            </a:r>
            <a:endParaRPr lang="zh-CN" altLang="en-US" sz="1100" kern="0" dirty="0">
              <a:solidFill>
                <a:schemeClr val="tx1"/>
              </a:solidFill>
            </a:endParaRPr>
          </a:p>
        </p:txBody>
      </p:sp>
      <p:sp>
        <p:nvSpPr>
          <p:cNvPr id="173" name="圆角矩形 161"/>
          <p:cNvSpPr/>
          <p:nvPr>
            <p:custDataLst>
              <p:tags r:id="rId5"/>
            </p:custDataLst>
          </p:nvPr>
        </p:nvSpPr>
        <p:spPr>
          <a:xfrm>
            <a:off x="5039995" y="5361940"/>
            <a:ext cx="1353820" cy="643255"/>
          </a:xfrm>
          <a:prstGeom prst="roundRect">
            <a:avLst/>
          </a:prstGeom>
          <a:solidFill>
            <a:srgbClr val="FF5050"/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2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跨模态</a:t>
            </a:r>
            <a:r>
              <a:rPr lang="en-US" altLang="zh-CN" sz="12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Decoder</a:t>
            </a:r>
            <a:endParaRPr lang="en-US" altLang="zh-CN" sz="12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76" name="梯形 175"/>
          <p:cNvSpPr/>
          <p:nvPr/>
        </p:nvSpPr>
        <p:spPr>
          <a:xfrm rot="16200000">
            <a:off x="6938055" y="5231221"/>
            <a:ext cx="983007" cy="945545"/>
          </a:xfrm>
          <a:prstGeom prst="trapezoid">
            <a:avLst/>
          </a:prstGeom>
          <a:solidFill>
            <a:srgbClr val="FA82FA"/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7" name="标题 1"/>
          <p:cNvSpPr txBox="1"/>
          <p:nvPr/>
        </p:nvSpPr>
        <p:spPr bwMode="auto">
          <a:xfrm>
            <a:off x="7122829" y="5533714"/>
            <a:ext cx="1202055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1400" kern="0" dirty="0">
                <a:solidFill>
                  <a:schemeClr val="tx1"/>
                </a:solidFill>
              </a:rPr>
              <a:t>分割</a:t>
            </a:r>
            <a:endParaRPr lang="zh-CN" altLang="en-US" sz="1400" kern="0" dirty="0">
              <a:solidFill>
                <a:schemeClr val="tx1"/>
              </a:solidFill>
            </a:endParaRPr>
          </a:p>
          <a:p>
            <a:pPr algn="l"/>
            <a:r>
              <a:rPr lang="en-US" altLang="zh-CN" sz="1400" kern="0" dirty="0">
                <a:solidFill>
                  <a:schemeClr val="tx1"/>
                </a:solidFill>
              </a:rPr>
              <a:t>Head</a:t>
            </a:r>
            <a:endParaRPr lang="en-US" altLang="zh-CN" sz="1400" kern="0" dirty="0">
              <a:solidFill>
                <a:schemeClr val="tx1"/>
              </a:solidFill>
            </a:endParaRPr>
          </a:p>
        </p:txBody>
      </p:sp>
      <p:sp>
        <p:nvSpPr>
          <p:cNvPr id="178" name="右箭头 30"/>
          <p:cNvSpPr/>
          <p:nvPr/>
        </p:nvSpPr>
        <p:spPr>
          <a:xfrm rot="5400000">
            <a:off x="7026761" y="4843303"/>
            <a:ext cx="578314" cy="227278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2175" y="5126990"/>
            <a:ext cx="1179830" cy="1178560"/>
          </a:xfrm>
          <a:prstGeom prst="rect">
            <a:avLst/>
          </a:prstGeom>
        </p:spPr>
      </p:pic>
      <p:pic>
        <p:nvPicPr>
          <p:cNvPr id="190" name="图片 18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2038" y="4576438"/>
            <a:ext cx="227205" cy="244246"/>
          </a:xfrm>
          <a:prstGeom prst="rect">
            <a:avLst/>
          </a:prstGeom>
        </p:spPr>
      </p:pic>
      <p:pic>
        <p:nvPicPr>
          <p:cNvPr id="200" name="图片 19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3190" y="5053796"/>
            <a:ext cx="227205" cy="244246"/>
          </a:xfrm>
          <a:prstGeom prst="rect">
            <a:avLst/>
          </a:prstGeom>
        </p:spPr>
      </p:pic>
      <p:pic>
        <p:nvPicPr>
          <p:cNvPr id="201" name="图片 20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4035" y="5083199"/>
            <a:ext cx="289021" cy="310698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6002" y="5331047"/>
            <a:ext cx="363107" cy="81529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8610" y="5331047"/>
            <a:ext cx="289264" cy="780383"/>
          </a:xfrm>
          <a:prstGeom prst="rect">
            <a:avLst/>
          </a:prstGeom>
        </p:spPr>
      </p:pic>
      <p:sp>
        <p:nvSpPr>
          <p:cNvPr id="15" name="圆角矩形 161"/>
          <p:cNvSpPr/>
          <p:nvPr>
            <p:custDataLst>
              <p:tags r:id="rId10"/>
            </p:custDataLst>
          </p:nvPr>
        </p:nvSpPr>
        <p:spPr>
          <a:xfrm>
            <a:off x="10222865" y="5543550"/>
            <a:ext cx="877570" cy="38481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脑膜瘤</a:t>
            </a:r>
            <a:endParaRPr lang="zh-CN" altLang="en-US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标题 1"/>
          <p:cNvSpPr txBox="1"/>
          <p:nvPr/>
        </p:nvSpPr>
        <p:spPr bwMode="auto">
          <a:xfrm>
            <a:off x="6144895" y="1983740"/>
            <a:ext cx="579056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1800" kern="0" dirty="0">
                <a:solidFill>
                  <a:schemeClr val="tx2"/>
                </a:solidFill>
              </a:rPr>
              <a:t>转移与预后：图像编码器</a:t>
            </a:r>
            <a:r>
              <a:rPr lang="en-US" altLang="zh-CN" sz="1800" kern="0" dirty="0">
                <a:solidFill>
                  <a:schemeClr val="tx2"/>
                </a:solidFill>
              </a:rPr>
              <a:t> + </a:t>
            </a:r>
            <a:r>
              <a:rPr lang="zh-CN" altLang="en-US" sz="1800" kern="0" dirty="0">
                <a:solidFill>
                  <a:schemeClr val="tx2"/>
                </a:solidFill>
              </a:rPr>
              <a:t>临床变量</a:t>
            </a:r>
            <a:endParaRPr lang="zh-CN" altLang="en-US" sz="1800" kern="0" dirty="0">
              <a:solidFill>
                <a:schemeClr val="tx2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8405" y="3956050"/>
            <a:ext cx="476250" cy="540385"/>
          </a:xfrm>
          <a:prstGeom prst="rect">
            <a:avLst/>
          </a:prstGeom>
        </p:spPr>
      </p:pic>
      <p:cxnSp>
        <p:nvCxnSpPr>
          <p:cNvPr id="135" name="肘形连接符 134"/>
          <p:cNvCxnSpPr>
            <a:stCxn id="33" idx="0"/>
            <a:endCxn id="153" idx="1"/>
          </p:cNvCxnSpPr>
          <p:nvPr>
            <p:custDataLst>
              <p:tags r:id="rId12"/>
            </p:custDataLst>
          </p:nvPr>
        </p:nvCxnSpPr>
        <p:spPr>
          <a:xfrm rot="16200000">
            <a:off x="1401445" y="3042920"/>
            <a:ext cx="438785" cy="101854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5" idx="2"/>
            <a:endCxn id="166" idx="1"/>
          </p:cNvCxnSpPr>
          <p:nvPr>
            <p:custDataLst>
              <p:tags r:id="rId13"/>
            </p:custDataLst>
          </p:nvPr>
        </p:nvCxnSpPr>
        <p:spPr>
          <a:xfrm rot="5400000" flipV="1">
            <a:off x="1293495" y="5002530"/>
            <a:ext cx="543560" cy="91440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5" name="圆角矩形 161"/>
          <p:cNvSpPr/>
          <p:nvPr>
            <p:custDataLst>
              <p:tags r:id="rId14"/>
            </p:custDataLst>
          </p:nvPr>
        </p:nvSpPr>
        <p:spPr>
          <a:xfrm>
            <a:off x="3502167" y="3178328"/>
            <a:ext cx="1144270" cy="38481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en-US" altLang="zh-CN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Porj</a:t>
            </a:r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投射</a:t>
            </a:r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4" name="圆角矩形 161"/>
          <p:cNvSpPr/>
          <p:nvPr>
            <p:custDataLst>
              <p:tags r:id="rId15"/>
            </p:custDataLst>
          </p:nvPr>
        </p:nvSpPr>
        <p:spPr>
          <a:xfrm>
            <a:off x="3502167" y="3956838"/>
            <a:ext cx="1144270" cy="38481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en-US" altLang="zh-CN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Porj</a:t>
            </a:r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投射</a:t>
            </a:r>
            <a:endParaRPr lang="en-US" altLang="zh-CN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5" name="圆角矩形 161"/>
          <p:cNvSpPr/>
          <p:nvPr>
            <p:custDataLst>
              <p:tags r:id="rId16"/>
            </p:custDataLst>
          </p:nvPr>
        </p:nvSpPr>
        <p:spPr>
          <a:xfrm>
            <a:off x="6833870" y="3355340"/>
            <a:ext cx="990600" cy="384810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2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诊断意见</a:t>
            </a:r>
            <a:endParaRPr lang="zh-CN" altLang="en-US" sz="12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6" name="圆角矩形 161"/>
          <p:cNvSpPr/>
          <p:nvPr>
            <p:custDataLst>
              <p:tags r:id="rId17"/>
            </p:custDataLst>
          </p:nvPr>
        </p:nvSpPr>
        <p:spPr>
          <a:xfrm>
            <a:off x="6832600" y="3990340"/>
            <a:ext cx="991870" cy="384810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2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影像报告</a:t>
            </a:r>
            <a:endParaRPr lang="zh-CN" altLang="en-US" sz="12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8" name="右箭头 30"/>
          <p:cNvSpPr/>
          <p:nvPr/>
        </p:nvSpPr>
        <p:spPr>
          <a:xfrm>
            <a:off x="6163772" y="3684059"/>
            <a:ext cx="453390" cy="311785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4" name="直接箭头连接符 133"/>
          <p:cNvCxnSpPr/>
          <p:nvPr>
            <p:custDataLst>
              <p:tags r:id="rId18"/>
            </p:custDataLst>
          </p:nvPr>
        </p:nvCxnSpPr>
        <p:spPr>
          <a:xfrm flipV="1">
            <a:off x="3006528" y="3368112"/>
            <a:ext cx="463550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/>
          <p:nvPr>
            <p:custDataLst>
              <p:tags r:id="rId19"/>
            </p:custDataLst>
          </p:nvPr>
        </p:nvCxnSpPr>
        <p:spPr>
          <a:xfrm flipV="1">
            <a:off x="4681023" y="3355412"/>
            <a:ext cx="463550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/>
          <p:nvPr>
            <p:custDataLst>
              <p:tags r:id="rId20"/>
            </p:custDataLst>
          </p:nvPr>
        </p:nvCxnSpPr>
        <p:spPr>
          <a:xfrm flipV="1">
            <a:off x="3006528" y="4146622"/>
            <a:ext cx="463550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9" name="直接箭头连接符 128"/>
          <p:cNvCxnSpPr/>
          <p:nvPr>
            <p:custDataLst>
              <p:tags r:id="rId21"/>
            </p:custDataLst>
          </p:nvPr>
        </p:nvCxnSpPr>
        <p:spPr>
          <a:xfrm flipV="1">
            <a:off x="4681023" y="4140272"/>
            <a:ext cx="463550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肘形连接符 131"/>
          <p:cNvCxnSpPr/>
          <p:nvPr>
            <p:custDataLst>
              <p:tags r:id="rId22"/>
            </p:custDataLst>
          </p:nvPr>
        </p:nvCxnSpPr>
        <p:spPr>
          <a:xfrm rot="16200000">
            <a:off x="2588895" y="4998720"/>
            <a:ext cx="310515" cy="42100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/>
          <p:nvPr>
            <p:custDataLst>
              <p:tags r:id="rId23"/>
            </p:custDataLst>
          </p:nvPr>
        </p:nvCxnSpPr>
        <p:spPr>
          <a:xfrm flipV="1">
            <a:off x="3106223" y="5731582"/>
            <a:ext cx="463550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6" name="直接箭头连接符 135"/>
          <p:cNvCxnSpPr/>
          <p:nvPr>
            <p:custDataLst>
              <p:tags r:id="rId24"/>
            </p:custDataLst>
          </p:nvPr>
        </p:nvCxnSpPr>
        <p:spPr>
          <a:xfrm flipV="1">
            <a:off x="4458773" y="5725867"/>
            <a:ext cx="463550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8" name="肘形连接符 137"/>
          <p:cNvCxnSpPr/>
          <p:nvPr>
            <p:custDataLst>
              <p:tags r:id="rId25"/>
            </p:custDataLst>
          </p:nvPr>
        </p:nvCxnSpPr>
        <p:spPr>
          <a:xfrm flipV="1">
            <a:off x="4102735" y="4375150"/>
            <a:ext cx="1096645" cy="675005"/>
          </a:xfrm>
          <a:prstGeom prst="bentConnector3">
            <a:avLst>
              <a:gd name="adj1" fmla="val 6450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/>
          <p:nvPr>
            <p:custDataLst>
              <p:tags r:id="rId26"/>
            </p:custDataLst>
          </p:nvPr>
        </p:nvCxnSpPr>
        <p:spPr>
          <a:xfrm flipV="1">
            <a:off x="6443783" y="5680147"/>
            <a:ext cx="463550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1" name="右箭头 30"/>
          <p:cNvSpPr/>
          <p:nvPr/>
        </p:nvSpPr>
        <p:spPr>
          <a:xfrm>
            <a:off x="7980045" y="5534025"/>
            <a:ext cx="344805" cy="311785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42" name="肘形连接符 141"/>
          <p:cNvCxnSpPr>
            <a:endCxn id="176" idx="1"/>
          </p:cNvCxnSpPr>
          <p:nvPr>
            <p:custDataLst>
              <p:tags r:id="rId27"/>
            </p:custDataLst>
          </p:nvPr>
        </p:nvCxnSpPr>
        <p:spPr>
          <a:xfrm>
            <a:off x="3307080" y="5753100"/>
            <a:ext cx="4122420" cy="324485"/>
          </a:xfrm>
          <a:prstGeom prst="bentConnector4">
            <a:avLst>
              <a:gd name="adj1" fmla="val -77"/>
              <a:gd name="adj2" fmla="val 14911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4" name="直接箭头连接符 143"/>
          <p:cNvCxnSpPr/>
          <p:nvPr>
            <p:custDataLst>
              <p:tags r:id="rId28"/>
            </p:custDataLst>
          </p:nvPr>
        </p:nvCxnSpPr>
        <p:spPr>
          <a:xfrm flipV="1">
            <a:off x="8048428" y="3949772"/>
            <a:ext cx="463550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5" name="直接箭头连接符 144"/>
          <p:cNvCxnSpPr/>
          <p:nvPr>
            <p:custDataLst>
              <p:tags r:id="rId29"/>
            </p:custDataLst>
          </p:nvPr>
        </p:nvCxnSpPr>
        <p:spPr>
          <a:xfrm flipH="1" flipV="1">
            <a:off x="9155113" y="4292283"/>
            <a:ext cx="7620" cy="6661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6" name="圆角矩形 161"/>
          <p:cNvSpPr/>
          <p:nvPr>
            <p:custDataLst>
              <p:tags r:id="rId30"/>
            </p:custDataLst>
          </p:nvPr>
        </p:nvSpPr>
        <p:spPr>
          <a:xfrm>
            <a:off x="8586612" y="3740303"/>
            <a:ext cx="1144270" cy="38481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全连接层</a:t>
            </a:r>
            <a:endParaRPr lang="zh-CN" altLang="en-US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7" name="圆角矩形 161"/>
          <p:cNvSpPr/>
          <p:nvPr>
            <p:custDataLst>
              <p:tags r:id="rId31"/>
            </p:custDataLst>
          </p:nvPr>
        </p:nvSpPr>
        <p:spPr>
          <a:xfrm>
            <a:off x="10340975" y="3434080"/>
            <a:ext cx="877570" cy="38481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生存率</a:t>
            </a:r>
            <a:endParaRPr lang="zh-CN" altLang="en-US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9" name="圆角矩形 161"/>
          <p:cNvSpPr/>
          <p:nvPr>
            <p:custDataLst>
              <p:tags r:id="rId32"/>
            </p:custDataLst>
          </p:nvPr>
        </p:nvSpPr>
        <p:spPr>
          <a:xfrm>
            <a:off x="10267315" y="4091305"/>
            <a:ext cx="1013460" cy="38481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4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转移风险</a:t>
            </a:r>
            <a:endParaRPr lang="zh-CN" altLang="en-US" sz="14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0" name="右箭头 30"/>
          <p:cNvSpPr/>
          <p:nvPr/>
        </p:nvSpPr>
        <p:spPr>
          <a:xfrm>
            <a:off x="9794240" y="3772535"/>
            <a:ext cx="424180" cy="311785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24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1" name="圆角矩形 161"/>
          <p:cNvSpPr/>
          <p:nvPr>
            <p:custDataLst>
              <p:tags r:id="rId33"/>
            </p:custDataLst>
          </p:nvPr>
        </p:nvSpPr>
        <p:spPr>
          <a:xfrm>
            <a:off x="8586470" y="2854325"/>
            <a:ext cx="1207770" cy="384810"/>
          </a:xfrm>
          <a:prstGeom prst="roundRect">
            <a:avLst/>
          </a:prstGeom>
          <a:noFill/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200" b="1" kern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年龄、性别等</a:t>
            </a:r>
            <a:endParaRPr lang="zh-CN" altLang="en-US" sz="1200" b="1" kern="0" dirty="0">
              <a:solidFill>
                <a:schemeClr val="tx1"/>
              </a:solidFill>
              <a:latin typeface="+mj-lt"/>
              <a:ea typeface="+mj-ea"/>
              <a:cs typeface="+mj-cs"/>
              <a:sym typeface="Arial" panose="020B0604020202020204" pitchFamily="34" charset="0"/>
            </a:endParaRPr>
          </a:p>
        </p:txBody>
      </p:sp>
      <p:cxnSp>
        <p:nvCxnSpPr>
          <p:cNvPr id="155" name="直接箭头连接符 154"/>
          <p:cNvCxnSpPr/>
          <p:nvPr>
            <p:custDataLst>
              <p:tags r:id="rId34"/>
            </p:custDataLst>
          </p:nvPr>
        </p:nvCxnSpPr>
        <p:spPr>
          <a:xfrm>
            <a:off x="9136183" y="3398592"/>
            <a:ext cx="0" cy="2921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1" name="标题 1"/>
          <p:cNvSpPr txBox="1"/>
          <p:nvPr/>
        </p:nvSpPr>
        <p:spPr bwMode="auto">
          <a:xfrm>
            <a:off x="10386695" y="4970145"/>
            <a:ext cx="993775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1200" kern="0" dirty="0">
                <a:solidFill>
                  <a:schemeClr val="tx1"/>
                </a:solidFill>
              </a:rPr>
              <a:t>分类分割</a:t>
            </a:r>
            <a:endParaRPr lang="zh-CN" altLang="en-US" sz="1200" kern="0" dirty="0">
              <a:solidFill>
                <a:schemeClr val="tx1"/>
              </a:solidFill>
            </a:endParaRPr>
          </a:p>
        </p:txBody>
      </p:sp>
      <p:sp>
        <p:nvSpPr>
          <p:cNvPr id="183" name="标题 1"/>
          <p:cNvSpPr txBox="1"/>
          <p:nvPr/>
        </p:nvSpPr>
        <p:spPr bwMode="auto">
          <a:xfrm>
            <a:off x="10537825" y="2719705"/>
            <a:ext cx="993775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1200" kern="0" dirty="0">
                <a:solidFill>
                  <a:schemeClr val="tx1"/>
                </a:solidFill>
              </a:rPr>
              <a:t>预后监测</a:t>
            </a:r>
            <a:endParaRPr lang="zh-CN" altLang="en-US" sz="1200" kern="0" dirty="0">
              <a:solidFill>
                <a:schemeClr val="tx1"/>
              </a:solidFill>
            </a:endParaRPr>
          </a:p>
        </p:txBody>
      </p:sp>
      <p:sp>
        <p:nvSpPr>
          <p:cNvPr id="191" name="标题 1"/>
          <p:cNvSpPr txBox="1"/>
          <p:nvPr/>
        </p:nvSpPr>
        <p:spPr bwMode="auto">
          <a:xfrm>
            <a:off x="6957060" y="2938780"/>
            <a:ext cx="993775" cy="3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1200" kern="0" dirty="0">
                <a:solidFill>
                  <a:schemeClr val="tx1"/>
                </a:solidFill>
              </a:rPr>
              <a:t>报告生成</a:t>
            </a:r>
            <a:endParaRPr lang="zh-CN" altLang="en-US" sz="1200" kern="0" dirty="0">
              <a:solidFill>
                <a:schemeClr val="tx1"/>
              </a:solidFill>
            </a:endParaRPr>
          </a:p>
        </p:txBody>
      </p:sp>
    </p:spTree>
    <p:custDataLst>
      <p:tags r:id="rId35"/>
    </p:custData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 1"/>
          <p:cNvSpPr txBox="1"/>
          <p:nvPr/>
        </p:nvSpPr>
        <p:spPr bwMode="auto">
          <a:xfrm>
            <a:off x="43560" y="176032"/>
            <a:ext cx="12043666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3200" kern="0" dirty="0">
                <a:solidFill>
                  <a:schemeClr val="tx1"/>
                </a:solidFill>
                <a:latin typeface="+mj-ea"/>
              </a:rPr>
              <a:t>全场景验证</a:t>
            </a:r>
            <a:endParaRPr lang="zh-CN" altLang="en-US" sz="3200" kern="0" dirty="0">
              <a:solidFill>
                <a:schemeClr val="tx1"/>
              </a:solidFill>
              <a:latin typeface="+mj-ea"/>
            </a:endParaRPr>
          </a:p>
        </p:txBody>
      </p:sp>
      <p:grpSp>
        <p:nvGrpSpPr>
          <p:cNvPr id="4" name="b1142882-0153-4ef1-ab3e-a8f8de0e06a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998529" y="213697"/>
            <a:ext cx="1941301" cy="601649"/>
            <a:chOff x="3135086" y="2512940"/>
            <a:chExt cx="5921821" cy="1835296"/>
          </a:xfrm>
        </p:grpSpPr>
        <p:grpSp>
          <p:nvGrpSpPr>
            <p:cNvPr id="2" name="ïṡľïḑé"/>
            <p:cNvGrpSpPr/>
            <p:nvPr/>
          </p:nvGrpSpPr>
          <p:grpSpPr>
            <a:xfrm>
              <a:off x="3135086" y="2512940"/>
              <a:ext cx="1823280" cy="1835296"/>
              <a:chOff x="3551238" y="3067050"/>
              <a:chExt cx="722313" cy="727075"/>
            </a:xfrm>
          </p:grpSpPr>
          <p:sp>
            <p:nvSpPr>
              <p:cNvPr id="35" name="ïşḷîďé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6" name="îṣļïḋé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7" name="îṣ1ï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8" name="iṡḻiḍé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9" name="ïśḻiḋ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0" name="íṣļíḓ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1" name="ïŝlíḑê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2" name="íṩḷïde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3" name="îś1íḓê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" name="íṣļiḓé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5" name="ïṣlïḑ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6" name="iṡḻïde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7" name="íṧḷiḓê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8" name="ïSlîḍe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9" name="ïšḻîďe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0" name="îṣḻîḍ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1" name="îṥḻiḓé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2" name="iŝlïď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3" name="iśḻîḋé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4" name="ís1ídé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5" name="ïṡľïḋè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6" name="išľïḑe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7" name="ïṧlîḑê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8" name="ïšḻiḑ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9" name="işlíḋ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0" name="ï$ļíḋè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1" name="iśľïḓe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2" name="îśḷ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3" name="íšļíḍ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4" name="ïŝḷïḑ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5" name="išļiďè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6" name="îŝľïḍe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7" name="íS1îḑè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8" name="ïṥlïďè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9" name="îṥḷíḍé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0" name="îśļiḑê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1" name="îṩľíď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2" name="iṣľíd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3" name="islíde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4" name="ïṡ1iḍè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5" name="îślïd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6" name="î$ľiḋ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7" name="ïṣļíḓe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8" name="ïṡļíḋè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9" name="íślîde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0" name="ïś1iḓ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1" name="îSļíḓê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2" name="ïSḻiḍè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3" name="îṣļïḋ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4" name="ïś1ïḑê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5" name="ïS1iḋê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6" name="ïšḻïḓé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7" name="îṩḷîḍe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8" name="ísḻ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9" name="îsḻiḋè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0" name="îšľî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1" name="îŝḻiḋé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2" name="íṣḻïdê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3" name="ísḻïḍ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4" name="ïš1îḑe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5" name="ïṧḷîḋ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6" name="íSḷidé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7" name="íṩḻiḍ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8" name="îš1iďe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9" name="îšľïḓê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0" name="îSlïḋé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1" name="ïşľiḑe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2" name="iś1íḍê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3" name="îŝľîdé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4" name="ïṧḻîď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</p:grpSp>
        <p:grpSp>
          <p:nvGrpSpPr>
            <p:cNvPr id="8" name="iṥ1iḓé"/>
            <p:cNvGrpSpPr/>
            <p:nvPr/>
          </p:nvGrpSpPr>
          <p:grpSpPr>
            <a:xfrm>
              <a:off x="5177660" y="2725128"/>
              <a:ext cx="3879247" cy="1410920"/>
              <a:chOff x="4412452" y="3106738"/>
              <a:chExt cx="2312689" cy="841148"/>
            </a:xfrm>
          </p:grpSpPr>
          <p:grpSp>
            <p:nvGrpSpPr>
              <p:cNvPr id="16" name="íṡḷiď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4" name="íślïḍe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8" name="íṣlíḍ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9" name="iṡlïďé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0" name="iśļíḋê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1" name="ísḻí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2" name="îṡḻiḓe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3" name="ïsḻïḓê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34" name="îśľïḍ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5" name="íşḷiḍé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6" name="ïš1í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7" name="işḷïḓ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  <p:grpSp>
            <p:nvGrpSpPr>
              <p:cNvPr id="108" name="íṥlíḓ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109" name="îSļiḋ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0" name="îsľïḓê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1" name="îṡļid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2" name="îṡḻiḋ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3" name="iṩļîďê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4" name="ïšļíḍè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5" name="iśḷïḑ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6" name="íş1iḓ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7" name="îšḻï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8" name="iśḷîďê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9" name="íşlîḓê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0" name="í$ḻiḋê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1" name="iŝḻîďè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2" name="ïsḷídê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3" name="ïSļí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</p:grpSp>
      </p:grpSp>
      <p:sp>
        <p:nvSpPr>
          <p:cNvPr id="6" name="标题 1"/>
          <p:cNvSpPr txBox="1"/>
          <p:nvPr/>
        </p:nvSpPr>
        <p:spPr bwMode="auto">
          <a:xfrm>
            <a:off x="2039620" y="1416050"/>
            <a:ext cx="818896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2400" kern="0" dirty="0">
                <a:solidFill>
                  <a:srgbClr val="00B0F0"/>
                </a:solidFill>
              </a:rPr>
              <a:t>多阶段递进式，技术性能</a:t>
            </a:r>
            <a:r>
              <a:rPr lang="en-US" altLang="zh-CN" sz="2400" kern="0" dirty="0">
                <a:solidFill>
                  <a:srgbClr val="00B0F0"/>
                </a:solidFill>
              </a:rPr>
              <a:t>--</a:t>
            </a:r>
            <a:r>
              <a:rPr lang="zh-CN" altLang="en-US" sz="2400" kern="0" dirty="0">
                <a:solidFill>
                  <a:srgbClr val="00B0F0"/>
                </a:solidFill>
              </a:rPr>
              <a:t>医生辅助</a:t>
            </a:r>
            <a:r>
              <a:rPr lang="en-US" altLang="zh-CN" sz="2400" kern="0" dirty="0">
                <a:solidFill>
                  <a:srgbClr val="00B0F0"/>
                </a:solidFill>
              </a:rPr>
              <a:t>--</a:t>
            </a:r>
            <a:r>
              <a:rPr lang="zh-CN" altLang="en-US" sz="2400" kern="0" dirty="0">
                <a:solidFill>
                  <a:srgbClr val="00B0F0"/>
                </a:solidFill>
              </a:rPr>
              <a:t>患者获益的评估体系</a:t>
            </a:r>
            <a:endParaRPr lang="zh-CN" altLang="en-US" sz="2400" kern="0" dirty="0">
              <a:solidFill>
                <a:srgbClr val="00B0F0"/>
              </a:solidFill>
            </a:endParaRPr>
          </a:p>
        </p:txBody>
      </p:sp>
      <p:sp>
        <p:nvSpPr>
          <p:cNvPr id="9" name="标题 1"/>
          <p:cNvSpPr txBox="1"/>
          <p:nvPr/>
        </p:nvSpPr>
        <p:spPr bwMode="auto">
          <a:xfrm>
            <a:off x="1848485" y="2183130"/>
            <a:ext cx="287147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200" kern="0" dirty="0">
                <a:solidFill>
                  <a:schemeClr val="tx2"/>
                </a:solidFill>
              </a:rPr>
              <a:t>技术效能验证</a:t>
            </a:r>
            <a:endParaRPr lang="zh-CN" altLang="en-US" sz="2200" kern="0" dirty="0">
              <a:solidFill>
                <a:schemeClr val="tx2"/>
              </a:solidFill>
            </a:endParaRPr>
          </a:p>
        </p:txBody>
      </p:sp>
      <p:sp>
        <p:nvSpPr>
          <p:cNvPr id="13" name="标题 1"/>
          <p:cNvSpPr txBox="1"/>
          <p:nvPr/>
        </p:nvSpPr>
        <p:spPr bwMode="auto">
          <a:xfrm>
            <a:off x="1848485" y="2797175"/>
            <a:ext cx="441198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核心多任务评测（基础</a:t>
            </a:r>
            <a:r>
              <a:rPr lang="en-US" altLang="zh-CN" sz="2000" kern="0" dirty="0">
                <a:solidFill>
                  <a:schemeClr val="tx2"/>
                </a:solidFill>
              </a:rPr>
              <a:t>+</a:t>
            </a:r>
            <a:r>
              <a:rPr lang="zh-CN" altLang="en-US" sz="2000" kern="0" dirty="0">
                <a:solidFill>
                  <a:schemeClr val="tx2"/>
                </a:solidFill>
              </a:rPr>
              <a:t>临床）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14" name="标题 1"/>
          <p:cNvSpPr txBox="1"/>
          <p:nvPr/>
        </p:nvSpPr>
        <p:spPr bwMode="auto">
          <a:xfrm>
            <a:off x="1830070" y="3533140"/>
            <a:ext cx="435673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小样本学习稀缺场景（</a:t>
            </a:r>
            <a:r>
              <a:rPr lang="en-US" altLang="zh-CN" sz="2000" kern="0" dirty="0">
                <a:solidFill>
                  <a:schemeClr val="tx2"/>
                </a:solidFill>
              </a:rPr>
              <a:t>10-50%</a:t>
            </a:r>
            <a:r>
              <a:rPr lang="zh-CN" altLang="en-US" sz="2000" kern="0" dirty="0">
                <a:solidFill>
                  <a:schemeClr val="tx2"/>
                </a:solidFill>
              </a:rPr>
              <a:t>标注数据）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15" name="标题 1"/>
          <p:cNvSpPr txBox="1"/>
          <p:nvPr/>
        </p:nvSpPr>
        <p:spPr bwMode="auto">
          <a:xfrm>
            <a:off x="1830070" y="4245610"/>
            <a:ext cx="331914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零样本分类（罕见病）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26" name="标题 1"/>
          <p:cNvSpPr txBox="1"/>
          <p:nvPr/>
        </p:nvSpPr>
        <p:spPr bwMode="auto">
          <a:xfrm>
            <a:off x="7404735" y="2131060"/>
            <a:ext cx="287147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200" kern="0" dirty="0">
                <a:solidFill>
                  <a:schemeClr val="tx2"/>
                </a:solidFill>
              </a:rPr>
              <a:t>核心多任务评测</a:t>
            </a:r>
            <a:endParaRPr lang="zh-CN" altLang="en-US" sz="2200" kern="0" dirty="0">
              <a:solidFill>
                <a:schemeClr val="tx2"/>
              </a:solidFill>
            </a:endParaRPr>
          </a:p>
        </p:txBody>
      </p:sp>
      <p:sp>
        <p:nvSpPr>
          <p:cNvPr id="27" name="标题 1"/>
          <p:cNvSpPr txBox="1"/>
          <p:nvPr/>
        </p:nvSpPr>
        <p:spPr bwMode="auto">
          <a:xfrm>
            <a:off x="7441565" y="2797175"/>
            <a:ext cx="287147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457200" indent="-457200" algn="l">
              <a:buFont typeface="+mj-ea"/>
              <a:buAutoNum type="circleNumDbPlain"/>
            </a:pPr>
            <a:r>
              <a:rPr lang="zh-CN" altLang="en-US" sz="2000" kern="0" dirty="0">
                <a:solidFill>
                  <a:schemeClr val="tx2"/>
                </a:solidFill>
              </a:rPr>
              <a:t>病种分类</a:t>
            </a:r>
            <a:r>
              <a:rPr lang="en-US" altLang="zh-CN" sz="2000" kern="0" dirty="0">
                <a:solidFill>
                  <a:schemeClr val="tx2"/>
                </a:solidFill>
              </a:rPr>
              <a:t>--</a:t>
            </a:r>
            <a:r>
              <a:rPr lang="zh-CN" altLang="en-US" sz="2000" kern="0" dirty="0">
                <a:solidFill>
                  <a:schemeClr val="tx2"/>
                </a:solidFill>
              </a:rPr>
              <a:t>筛查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28" name="标题 1"/>
          <p:cNvSpPr txBox="1"/>
          <p:nvPr/>
        </p:nvSpPr>
        <p:spPr bwMode="auto">
          <a:xfrm>
            <a:off x="7441565" y="3399155"/>
            <a:ext cx="287147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457200" indent="-457200" algn="l">
              <a:buFont typeface="+mj-ea"/>
              <a:buAutoNum type="circleNumDbPlain" startAt="2"/>
            </a:pPr>
            <a:r>
              <a:rPr lang="zh-CN" altLang="en-US" sz="2000" kern="0" dirty="0">
                <a:solidFill>
                  <a:schemeClr val="tx2"/>
                </a:solidFill>
              </a:rPr>
              <a:t>病灶分割</a:t>
            </a:r>
            <a:r>
              <a:rPr lang="en-US" altLang="zh-CN" sz="2000" kern="0" dirty="0">
                <a:solidFill>
                  <a:schemeClr val="tx2"/>
                </a:solidFill>
              </a:rPr>
              <a:t>--</a:t>
            </a:r>
            <a:r>
              <a:rPr lang="zh-CN" altLang="en-US" sz="2000" kern="0" dirty="0">
                <a:solidFill>
                  <a:schemeClr val="tx2"/>
                </a:solidFill>
              </a:rPr>
              <a:t>定位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138" name="标题 1"/>
          <p:cNvSpPr txBox="1"/>
          <p:nvPr/>
        </p:nvSpPr>
        <p:spPr bwMode="auto">
          <a:xfrm>
            <a:off x="7441565" y="4523105"/>
            <a:ext cx="287147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457200" indent="-457200" algn="l">
              <a:buClr>
                <a:srgbClr val="000000"/>
              </a:buClr>
              <a:buSzPct val="99000"/>
              <a:buFont typeface="+mj-ea"/>
              <a:buAutoNum type="circleNumDbPlain" startAt="4"/>
            </a:pPr>
            <a:r>
              <a:rPr lang="zh-CN" altLang="en-US" sz="2000" kern="0" dirty="0">
                <a:solidFill>
                  <a:schemeClr val="tx2"/>
                </a:solidFill>
              </a:rPr>
              <a:t>报告生成--诊断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139" name="标题 1"/>
          <p:cNvSpPr txBox="1"/>
          <p:nvPr/>
        </p:nvSpPr>
        <p:spPr bwMode="auto">
          <a:xfrm>
            <a:off x="7441565" y="5085080"/>
            <a:ext cx="287147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457200" indent="-457200" algn="l">
              <a:buClr>
                <a:srgbClr val="000000"/>
              </a:buClr>
              <a:buSzPct val="99000"/>
              <a:buFont typeface="+mj-ea"/>
              <a:buAutoNum type="circleNumDbPlain" startAt="5"/>
            </a:pPr>
            <a:r>
              <a:rPr lang="zh-CN" altLang="en-US" sz="2000" kern="0" dirty="0">
                <a:solidFill>
                  <a:schemeClr val="tx2"/>
                </a:solidFill>
              </a:rPr>
              <a:t>问题对话--人机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140" name="标题 1"/>
          <p:cNvSpPr txBox="1"/>
          <p:nvPr/>
        </p:nvSpPr>
        <p:spPr bwMode="auto">
          <a:xfrm>
            <a:off x="7441565" y="5591810"/>
            <a:ext cx="287147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457200" indent="-457200" algn="l">
              <a:buClr>
                <a:srgbClr val="000000"/>
              </a:buClr>
              <a:buSzPct val="99000"/>
              <a:buFont typeface="+mj-ea"/>
              <a:buAutoNum type="circleNumDbPlain" startAt="6"/>
            </a:pPr>
            <a:r>
              <a:rPr lang="zh-CN" altLang="en-US" sz="2000" kern="0" dirty="0">
                <a:solidFill>
                  <a:schemeClr val="tx2"/>
                </a:solidFill>
              </a:rPr>
              <a:t>患者预后--监测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141" name="标题 1"/>
          <p:cNvSpPr txBox="1"/>
          <p:nvPr/>
        </p:nvSpPr>
        <p:spPr bwMode="auto">
          <a:xfrm>
            <a:off x="1848485" y="4980940"/>
            <a:ext cx="470706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跨中心、跨任务泛化</a:t>
            </a:r>
            <a:r>
              <a:rPr lang="en-US" altLang="zh-CN" sz="2000" kern="0" dirty="0">
                <a:solidFill>
                  <a:schemeClr val="tx2"/>
                </a:solidFill>
              </a:rPr>
              <a:t>(</a:t>
            </a:r>
            <a:r>
              <a:rPr lang="zh-CN" altLang="en-US" sz="2000" kern="0" dirty="0">
                <a:solidFill>
                  <a:schemeClr val="tx2"/>
                </a:solidFill>
              </a:rPr>
              <a:t>迁移能力</a:t>
            </a:r>
            <a:r>
              <a:rPr lang="en-US" altLang="zh-CN" sz="2000" kern="0" dirty="0">
                <a:solidFill>
                  <a:schemeClr val="tx2"/>
                </a:solidFill>
              </a:rPr>
              <a:t>)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142" name="标题 1"/>
          <p:cNvSpPr txBox="1"/>
          <p:nvPr/>
        </p:nvSpPr>
        <p:spPr bwMode="auto">
          <a:xfrm>
            <a:off x="7441565" y="3961130"/>
            <a:ext cx="287147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457200" indent="-457200" algn="l">
              <a:buFont typeface="+mj-ea"/>
              <a:buAutoNum type="circleNumDbPlain" startAt="3"/>
            </a:pPr>
            <a:r>
              <a:rPr lang="zh-CN" altLang="en-US" sz="2000" kern="0" dirty="0">
                <a:solidFill>
                  <a:schemeClr val="tx2"/>
                </a:solidFill>
              </a:rPr>
              <a:t>病情分级</a:t>
            </a:r>
            <a:r>
              <a:rPr lang="en-US" altLang="zh-CN" sz="2000" kern="0" dirty="0">
                <a:solidFill>
                  <a:schemeClr val="tx2"/>
                </a:solidFill>
              </a:rPr>
              <a:t>--</a:t>
            </a:r>
            <a:r>
              <a:rPr lang="zh-CN" altLang="en-US" sz="2000" kern="0" dirty="0">
                <a:solidFill>
                  <a:schemeClr val="tx2"/>
                </a:solidFill>
              </a:rPr>
              <a:t>评估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5" name="标题 1"/>
          <p:cNvSpPr txBox="1"/>
          <p:nvPr/>
        </p:nvSpPr>
        <p:spPr bwMode="auto">
          <a:xfrm>
            <a:off x="1848485" y="5579745"/>
            <a:ext cx="51054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可解释</a:t>
            </a:r>
            <a:r>
              <a:rPr lang="en-US" altLang="zh-CN" sz="2000" kern="0" dirty="0">
                <a:solidFill>
                  <a:schemeClr val="tx2"/>
                </a:solidFill>
              </a:rPr>
              <a:t>--Grad CAM</a:t>
            </a:r>
            <a:r>
              <a:rPr lang="zh-CN" altLang="en-US" sz="2000" kern="0" dirty="0">
                <a:solidFill>
                  <a:schemeClr val="tx2"/>
                </a:solidFill>
              </a:rPr>
              <a:t>提示病变区域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 1"/>
          <p:cNvSpPr txBox="1"/>
          <p:nvPr/>
        </p:nvSpPr>
        <p:spPr bwMode="auto">
          <a:xfrm>
            <a:off x="43560" y="176032"/>
            <a:ext cx="12043666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3200" kern="0" dirty="0">
                <a:solidFill>
                  <a:schemeClr val="tx1"/>
                </a:solidFill>
                <a:latin typeface="+mj-ea"/>
              </a:rPr>
              <a:t>全场景验证</a:t>
            </a:r>
            <a:endParaRPr lang="zh-CN" altLang="en-US" sz="3200" kern="0" dirty="0">
              <a:solidFill>
                <a:schemeClr val="tx1"/>
              </a:solidFill>
              <a:latin typeface="+mj-ea"/>
            </a:endParaRPr>
          </a:p>
        </p:txBody>
      </p:sp>
      <p:grpSp>
        <p:nvGrpSpPr>
          <p:cNvPr id="4" name="b1142882-0153-4ef1-ab3e-a8f8de0e06a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998529" y="213697"/>
            <a:ext cx="1941301" cy="601649"/>
            <a:chOff x="3135086" y="2512940"/>
            <a:chExt cx="5921821" cy="1835296"/>
          </a:xfrm>
        </p:grpSpPr>
        <p:grpSp>
          <p:nvGrpSpPr>
            <p:cNvPr id="2" name="ïṡľïḑé"/>
            <p:cNvGrpSpPr/>
            <p:nvPr/>
          </p:nvGrpSpPr>
          <p:grpSpPr>
            <a:xfrm>
              <a:off x="3135086" y="2512940"/>
              <a:ext cx="1823280" cy="1835296"/>
              <a:chOff x="3551238" y="3067050"/>
              <a:chExt cx="722313" cy="727075"/>
            </a:xfrm>
          </p:grpSpPr>
          <p:sp>
            <p:nvSpPr>
              <p:cNvPr id="35" name="ïşḷîďé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6" name="îṣļïḋé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7" name="îṣ1ï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8" name="iṡḻiḍé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9" name="ïśḻiḋ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0" name="íṣļíḓ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1" name="ïŝlíḑê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2" name="íṩḷïde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3" name="îś1íḓê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3" name="íṣļiḓé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5" name="ïṣlïḑ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6" name="iṡḻïde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7" name="íṧḷiḓê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8" name="ïSlîḍe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49" name="ïšḻîďe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0" name="îṣḻîḍ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1" name="îṥḻiḓé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2" name="iŝlïď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3" name="iśḻîḋé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4" name="ís1ídé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5" name="ïṡľïḋè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6" name="išľïḑe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7" name="ïṧlîḑê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8" name="ïšḻiḑ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59" name="işlíḋ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0" name="ï$ļíḋè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1" name="iśľïḓe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2" name="îśḷ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3" name="íšļíḍ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4" name="ïŝḷïḑ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5" name="išļiďè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6" name="îŝľïḍe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7" name="íS1îḑè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8" name="ïṥlïďè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69" name="îṥḷíḍé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0" name="îśļiḑê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1" name="îṩľíď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2" name="iṣľíd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3" name="islíde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4" name="ïṡ1iḍè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5" name="îślïd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6" name="î$ľiḋ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7" name="ïṣļíḓe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8" name="ïṡļíḋè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79" name="íślîde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0" name="ïś1iḓ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1" name="îSļíḓê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2" name="ïSḻiḍè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3" name="îṣļïḋ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4" name="ïś1ïḑê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5" name="ïS1iḋê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6" name="ïšḻïḓé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7" name="îṩḷîḍe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8" name="ísḻ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89" name="îsḻiḋè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0" name="îšľî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1" name="îŝḻiḋé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2" name="íṣḻïdê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3" name="ísḻïḍ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4" name="ïš1îḑe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5" name="ïṧḷîḋ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6" name="íSḷidé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7" name="íṩḻiḍ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8" name="îš1iďe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99" name="îšľïḓê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0" name="îSlïḋé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1" name="ïşľiḑe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2" name="iś1íḍê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3" name="îŝľîdé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  <p:sp>
            <p:nvSpPr>
              <p:cNvPr id="104" name="ïṧḻîď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15"/>
              </a:p>
            </p:txBody>
          </p:sp>
        </p:grpSp>
        <p:grpSp>
          <p:nvGrpSpPr>
            <p:cNvPr id="8" name="iṥ1iḓé"/>
            <p:cNvGrpSpPr/>
            <p:nvPr/>
          </p:nvGrpSpPr>
          <p:grpSpPr>
            <a:xfrm>
              <a:off x="5177660" y="2725128"/>
              <a:ext cx="3879247" cy="1410920"/>
              <a:chOff x="4412452" y="3106738"/>
              <a:chExt cx="2312689" cy="841148"/>
            </a:xfrm>
          </p:grpSpPr>
          <p:grpSp>
            <p:nvGrpSpPr>
              <p:cNvPr id="16" name="íṡḷiďé"/>
              <p:cNvGrpSpPr/>
              <p:nvPr/>
            </p:nvGrpSpPr>
            <p:grpSpPr>
              <a:xfrm>
                <a:off x="4422776" y="3106738"/>
                <a:ext cx="2293937" cy="617538"/>
                <a:chOff x="4422776" y="3106738"/>
                <a:chExt cx="2293937" cy="617538"/>
              </a:xfrm>
            </p:grpSpPr>
            <p:sp>
              <p:nvSpPr>
                <p:cNvPr id="24" name="íślïḍe"/>
                <p:cNvSpPr/>
                <p:nvPr/>
              </p:nvSpPr>
              <p:spPr bwMode="auto">
                <a:xfrm>
                  <a:off x="4811713" y="3200400"/>
                  <a:ext cx="49213" cy="100013"/>
                </a:xfrm>
                <a:custGeom>
                  <a:avLst/>
                  <a:gdLst>
                    <a:gd name="T0" fmla="*/ 0 w 15"/>
                    <a:gd name="T1" fmla="*/ 1 h 30"/>
                    <a:gd name="T2" fmla="*/ 1 w 15"/>
                    <a:gd name="T3" fmla="*/ 12 h 30"/>
                    <a:gd name="T4" fmla="*/ 0 w 15"/>
                    <a:gd name="T5" fmla="*/ 21 h 30"/>
                    <a:gd name="T6" fmla="*/ 2 w 15"/>
                    <a:gd name="T7" fmla="*/ 28 h 30"/>
                    <a:gd name="T8" fmla="*/ 7 w 15"/>
                    <a:gd name="T9" fmla="*/ 30 h 30"/>
                    <a:gd name="T10" fmla="*/ 12 w 15"/>
                    <a:gd name="T11" fmla="*/ 26 h 30"/>
                    <a:gd name="T12" fmla="*/ 15 w 15"/>
                    <a:gd name="T13" fmla="*/ 18 h 30"/>
                    <a:gd name="T14" fmla="*/ 3 w 15"/>
                    <a:gd name="T15" fmla="*/ 0 h 30"/>
                    <a:gd name="T16" fmla="*/ 0 w 15"/>
                    <a:gd name="T17" fmla="*/ 1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30">
                      <a:moveTo>
                        <a:pt x="0" y="1"/>
                      </a:move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0" y="18"/>
                        <a:pt x="0" y="21"/>
                      </a:cubicBezTo>
                      <a:cubicBezTo>
                        <a:pt x="0" y="24"/>
                        <a:pt x="2" y="25"/>
                        <a:pt x="2" y="28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9" y="27"/>
                        <a:pt x="10" y="29"/>
                        <a:pt x="12" y="26"/>
                      </a:cubicBezTo>
                      <a:cubicBezTo>
                        <a:pt x="14" y="23"/>
                        <a:pt x="14" y="21"/>
                        <a:pt x="15" y="18"/>
                      </a:cubicBezTo>
                      <a:cubicBezTo>
                        <a:pt x="12" y="7"/>
                        <a:pt x="13" y="5"/>
                        <a:pt x="3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8" name="íṣlíḍè"/>
                <p:cNvSpPr/>
                <p:nvPr/>
              </p:nvSpPr>
              <p:spPr bwMode="auto">
                <a:xfrm>
                  <a:off x="5221288" y="3184525"/>
                  <a:ext cx="36513" cy="122238"/>
                </a:xfrm>
                <a:custGeom>
                  <a:avLst/>
                  <a:gdLst>
                    <a:gd name="T0" fmla="*/ 0 w 11"/>
                    <a:gd name="T1" fmla="*/ 3 h 37"/>
                    <a:gd name="T2" fmla="*/ 2 w 11"/>
                    <a:gd name="T3" fmla="*/ 14 h 37"/>
                    <a:gd name="T4" fmla="*/ 0 w 11"/>
                    <a:gd name="T5" fmla="*/ 33 h 37"/>
                    <a:gd name="T6" fmla="*/ 0 w 11"/>
                    <a:gd name="T7" fmla="*/ 36 h 37"/>
                    <a:gd name="T8" fmla="*/ 2 w 11"/>
                    <a:gd name="T9" fmla="*/ 37 h 37"/>
                    <a:gd name="T10" fmla="*/ 8 w 11"/>
                    <a:gd name="T11" fmla="*/ 27 h 37"/>
                    <a:gd name="T12" fmla="*/ 11 w 11"/>
                    <a:gd name="T13" fmla="*/ 17 h 37"/>
                    <a:gd name="T14" fmla="*/ 11 w 11"/>
                    <a:gd name="T15" fmla="*/ 15 h 37"/>
                    <a:gd name="T16" fmla="*/ 7 w 11"/>
                    <a:gd name="T17" fmla="*/ 2 h 37"/>
                    <a:gd name="T18" fmla="*/ 2 w 11"/>
                    <a:gd name="T19" fmla="*/ 0 h 37"/>
                    <a:gd name="T20" fmla="*/ 0 w 11"/>
                    <a:gd name="T21" fmla="*/ 3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37">
                      <a:moveTo>
                        <a:pt x="0" y="3"/>
                      </a:move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0" y="27"/>
                        <a:pt x="0" y="33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" y="36"/>
                        <a:pt x="1" y="37"/>
                        <a:pt x="2" y="37"/>
                      </a:cubicBezTo>
                      <a:cubicBezTo>
                        <a:pt x="3" y="37"/>
                        <a:pt x="7" y="28"/>
                        <a:pt x="8" y="27"/>
                      </a:cubicBezTo>
                      <a:cubicBezTo>
                        <a:pt x="9" y="24"/>
                        <a:pt x="11" y="21"/>
                        <a:pt x="11" y="17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7"/>
                        <a:pt x="8" y="7"/>
                        <a:pt x="7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0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9" name="iṡlïďé"/>
                <p:cNvSpPr/>
                <p:nvPr/>
              </p:nvSpPr>
              <p:spPr bwMode="auto">
                <a:xfrm>
                  <a:off x="4554538" y="3251200"/>
                  <a:ext cx="119063" cy="58738"/>
                </a:xfrm>
                <a:custGeom>
                  <a:avLst/>
                  <a:gdLst>
                    <a:gd name="T0" fmla="*/ 0 w 36"/>
                    <a:gd name="T1" fmla="*/ 15 h 18"/>
                    <a:gd name="T2" fmla="*/ 2 w 36"/>
                    <a:gd name="T3" fmla="*/ 16 h 18"/>
                    <a:gd name="T4" fmla="*/ 13 w 36"/>
                    <a:gd name="T5" fmla="*/ 18 h 18"/>
                    <a:gd name="T6" fmla="*/ 16 w 36"/>
                    <a:gd name="T7" fmla="*/ 18 h 18"/>
                    <a:gd name="T8" fmla="*/ 22 w 36"/>
                    <a:gd name="T9" fmla="*/ 17 h 18"/>
                    <a:gd name="T10" fmla="*/ 23 w 36"/>
                    <a:gd name="T11" fmla="*/ 17 h 18"/>
                    <a:gd name="T12" fmla="*/ 30 w 36"/>
                    <a:gd name="T13" fmla="*/ 13 h 18"/>
                    <a:gd name="T14" fmla="*/ 36 w 36"/>
                    <a:gd name="T15" fmla="*/ 8 h 18"/>
                    <a:gd name="T16" fmla="*/ 36 w 36"/>
                    <a:gd name="T17" fmla="*/ 7 h 18"/>
                    <a:gd name="T18" fmla="*/ 36 w 36"/>
                    <a:gd name="T19" fmla="*/ 4 h 18"/>
                    <a:gd name="T20" fmla="*/ 32 w 36"/>
                    <a:gd name="T21" fmla="*/ 0 h 18"/>
                    <a:gd name="T22" fmla="*/ 24 w 36"/>
                    <a:gd name="T23" fmla="*/ 3 h 18"/>
                    <a:gd name="T24" fmla="*/ 16 w 36"/>
                    <a:gd name="T25" fmla="*/ 7 h 18"/>
                    <a:gd name="T26" fmla="*/ 0 w 36"/>
                    <a:gd name="T27" fmla="*/ 1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6" h="18">
                      <a:moveTo>
                        <a:pt x="0" y="15"/>
                      </a:moveTo>
                      <a:cubicBezTo>
                        <a:pt x="1" y="16"/>
                        <a:pt x="1" y="16"/>
                        <a:pt x="2" y="16"/>
                      </a:cubicBezTo>
                      <a:cubicBezTo>
                        <a:pt x="6" y="16"/>
                        <a:pt x="9" y="18"/>
                        <a:pt x="13" y="18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6" y="16"/>
                        <a:pt x="28" y="14"/>
                        <a:pt x="30" y="13"/>
                      </a:cubicBezTo>
                      <a:cubicBezTo>
                        <a:pt x="34" y="11"/>
                        <a:pt x="33" y="10"/>
                        <a:pt x="36" y="8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6" y="4"/>
                        <a:pt x="36" y="4"/>
                        <a:pt x="36" y="4"/>
                      </a:cubicBezTo>
                      <a:cubicBezTo>
                        <a:pt x="36" y="1"/>
                        <a:pt x="33" y="2"/>
                        <a:pt x="32" y="0"/>
                      </a:cubicBezTo>
                      <a:cubicBezTo>
                        <a:pt x="29" y="1"/>
                        <a:pt x="27" y="1"/>
                        <a:pt x="24" y="3"/>
                      </a:cubicBezTo>
                      <a:cubicBezTo>
                        <a:pt x="21" y="4"/>
                        <a:pt x="19" y="6"/>
                        <a:pt x="16" y="7"/>
                      </a:cubicBezTo>
                      <a:cubicBezTo>
                        <a:pt x="11" y="11"/>
                        <a:pt x="4" y="10"/>
                        <a:pt x="0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0" name="iśļíḋê"/>
                <p:cNvSpPr/>
                <p:nvPr/>
              </p:nvSpPr>
              <p:spPr bwMode="auto">
                <a:xfrm>
                  <a:off x="6359526" y="3263900"/>
                  <a:ext cx="93663" cy="139700"/>
                </a:xfrm>
                <a:custGeom>
                  <a:avLst/>
                  <a:gdLst>
                    <a:gd name="T0" fmla="*/ 15 w 28"/>
                    <a:gd name="T1" fmla="*/ 1 h 42"/>
                    <a:gd name="T2" fmla="*/ 6 w 28"/>
                    <a:gd name="T3" fmla="*/ 11 h 42"/>
                    <a:gd name="T4" fmla="*/ 6 w 28"/>
                    <a:gd name="T5" fmla="*/ 13 h 42"/>
                    <a:gd name="T6" fmla="*/ 5 w 28"/>
                    <a:gd name="T7" fmla="*/ 16 h 42"/>
                    <a:gd name="T8" fmla="*/ 6 w 28"/>
                    <a:gd name="T9" fmla="*/ 20 h 42"/>
                    <a:gd name="T10" fmla="*/ 6 w 28"/>
                    <a:gd name="T11" fmla="*/ 21 h 42"/>
                    <a:gd name="T12" fmla="*/ 0 w 28"/>
                    <a:gd name="T13" fmla="*/ 38 h 42"/>
                    <a:gd name="T14" fmla="*/ 0 w 28"/>
                    <a:gd name="T15" fmla="*/ 41 h 42"/>
                    <a:gd name="T16" fmla="*/ 3 w 28"/>
                    <a:gd name="T17" fmla="*/ 42 h 42"/>
                    <a:gd name="T18" fmla="*/ 9 w 28"/>
                    <a:gd name="T19" fmla="*/ 32 h 42"/>
                    <a:gd name="T20" fmla="*/ 12 w 28"/>
                    <a:gd name="T21" fmla="*/ 26 h 42"/>
                    <a:gd name="T22" fmla="*/ 14 w 28"/>
                    <a:gd name="T23" fmla="*/ 26 h 42"/>
                    <a:gd name="T24" fmla="*/ 20 w 28"/>
                    <a:gd name="T25" fmla="*/ 26 h 42"/>
                    <a:gd name="T26" fmla="*/ 28 w 28"/>
                    <a:gd name="T27" fmla="*/ 14 h 42"/>
                    <a:gd name="T28" fmla="*/ 28 w 28"/>
                    <a:gd name="T29" fmla="*/ 6 h 42"/>
                    <a:gd name="T30" fmla="*/ 28 w 28"/>
                    <a:gd name="T31" fmla="*/ 5 h 42"/>
                    <a:gd name="T32" fmla="*/ 27 w 28"/>
                    <a:gd name="T33" fmla="*/ 3 h 42"/>
                    <a:gd name="T34" fmla="*/ 26 w 28"/>
                    <a:gd name="T35" fmla="*/ 3 h 42"/>
                    <a:gd name="T36" fmla="*/ 24 w 28"/>
                    <a:gd name="T37" fmla="*/ 3 h 42"/>
                    <a:gd name="T38" fmla="*/ 23 w 28"/>
                    <a:gd name="T39" fmla="*/ 3 h 42"/>
                    <a:gd name="T40" fmla="*/ 20 w 28"/>
                    <a:gd name="T41" fmla="*/ 0 h 42"/>
                    <a:gd name="T42" fmla="*/ 15 w 28"/>
                    <a:gd name="T43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42">
                      <a:moveTo>
                        <a:pt x="15" y="1"/>
                      </a:moveTo>
                      <a:cubicBezTo>
                        <a:pt x="15" y="10"/>
                        <a:pt x="8" y="6"/>
                        <a:pt x="6" y="11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6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6" y="29"/>
                        <a:pt x="0" y="31"/>
                        <a:pt x="0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2" y="42"/>
                        <a:pt x="2" y="42"/>
                        <a:pt x="3" y="42"/>
                      </a:cubicBezTo>
                      <a:cubicBezTo>
                        <a:pt x="7" y="42"/>
                        <a:pt x="9" y="36"/>
                        <a:pt x="9" y="32"/>
                      </a:cubicBezTo>
                      <a:cubicBezTo>
                        <a:pt x="9" y="29"/>
                        <a:pt x="10" y="26"/>
                        <a:pt x="12" y="26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20" y="26"/>
                        <a:pt x="20" y="26"/>
                        <a:pt x="20" y="26"/>
                      </a:cubicBezTo>
                      <a:cubicBezTo>
                        <a:pt x="24" y="24"/>
                        <a:pt x="28" y="21"/>
                        <a:pt x="28" y="14"/>
                      </a:cubicBez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5"/>
                        <a:pt x="28" y="5"/>
                        <a:pt x="28" y="5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6" y="3"/>
                        <a:pt x="26" y="3"/>
                        <a:pt x="26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23" y="3"/>
                        <a:pt x="23" y="3"/>
                        <a:pt x="23" y="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5" y="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1" name="ísḻíḓè"/>
                <p:cNvSpPr/>
                <p:nvPr/>
              </p:nvSpPr>
              <p:spPr bwMode="auto">
                <a:xfrm>
                  <a:off x="5826126" y="3273425"/>
                  <a:ext cx="223838" cy="293688"/>
                </a:xfrm>
                <a:custGeom>
                  <a:avLst/>
                  <a:gdLst>
                    <a:gd name="T0" fmla="*/ 38 w 68"/>
                    <a:gd name="T1" fmla="*/ 16 h 88"/>
                    <a:gd name="T2" fmla="*/ 40 w 68"/>
                    <a:gd name="T3" fmla="*/ 5 h 88"/>
                    <a:gd name="T4" fmla="*/ 36 w 68"/>
                    <a:gd name="T5" fmla="*/ 1 h 88"/>
                    <a:gd name="T6" fmla="*/ 36 w 68"/>
                    <a:gd name="T7" fmla="*/ 1 h 88"/>
                    <a:gd name="T8" fmla="*/ 33 w 68"/>
                    <a:gd name="T9" fmla="*/ 0 h 88"/>
                    <a:gd name="T10" fmla="*/ 24 w 68"/>
                    <a:gd name="T11" fmla="*/ 7 h 88"/>
                    <a:gd name="T12" fmla="*/ 24 w 68"/>
                    <a:gd name="T13" fmla="*/ 8 h 88"/>
                    <a:gd name="T14" fmla="*/ 26 w 68"/>
                    <a:gd name="T15" fmla="*/ 18 h 88"/>
                    <a:gd name="T16" fmla="*/ 27 w 68"/>
                    <a:gd name="T17" fmla="*/ 28 h 88"/>
                    <a:gd name="T18" fmla="*/ 27 w 68"/>
                    <a:gd name="T19" fmla="*/ 39 h 88"/>
                    <a:gd name="T20" fmla="*/ 16 w 68"/>
                    <a:gd name="T21" fmla="*/ 48 h 88"/>
                    <a:gd name="T22" fmla="*/ 7 w 68"/>
                    <a:gd name="T23" fmla="*/ 49 h 88"/>
                    <a:gd name="T24" fmla="*/ 5 w 68"/>
                    <a:gd name="T25" fmla="*/ 49 h 88"/>
                    <a:gd name="T26" fmla="*/ 4 w 68"/>
                    <a:gd name="T27" fmla="*/ 49 h 88"/>
                    <a:gd name="T28" fmla="*/ 0 w 68"/>
                    <a:gd name="T29" fmla="*/ 54 h 88"/>
                    <a:gd name="T30" fmla="*/ 5 w 68"/>
                    <a:gd name="T31" fmla="*/ 60 h 88"/>
                    <a:gd name="T32" fmla="*/ 11 w 68"/>
                    <a:gd name="T33" fmla="*/ 60 h 88"/>
                    <a:gd name="T34" fmla="*/ 13 w 68"/>
                    <a:gd name="T35" fmla="*/ 59 h 88"/>
                    <a:gd name="T36" fmla="*/ 20 w 68"/>
                    <a:gd name="T37" fmla="*/ 66 h 88"/>
                    <a:gd name="T38" fmla="*/ 17 w 68"/>
                    <a:gd name="T39" fmla="*/ 72 h 88"/>
                    <a:gd name="T40" fmla="*/ 13 w 68"/>
                    <a:gd name="T41" fmla="*/ 76 h 88"/>
                    <a:gd name="T42" fmla="*/ 2 w 68"/>
                    <a:gd name="T43" fmla="*/ 82 h 88"/>
                    <a:gd name="T44" fmla="*/ 2 w 68"/>
                    <a:gd name="T45" fmla="*/ 83 h 88"/>
                    <a:gd name="T46" fmla="*/ 2 w 68"/>
                    <a:gd name="T47" fmla="*/ 87 h 88"/>
                    <a:gd name="T48" fmla="*/ 4 w 68"/>
                    <a:gd name="T49" fmla="*/ 88 h 88"/>
                    <a:gd name="T50" fmla="*/ 25 w 68"/>
                    <a:gd name="T51" fmla="*/ 77 h 88"/>
                    <a:gd name="T52" fmla="*/ 31 w 68"/>
                    <a:gd name="T53" fmla="*/ 69 h 88"/>
                    <a:gd name="T54" fmla="*/ 40 w 68"/>
                    <a:gd name="T55" fmla="*/ 63 h 88"/>
                    <a:gd name="T56" fmla="*/ 52 w 68"/>
                    <a:gd name="T57" fmla="*/ 70 h 88"/>
                    <a:gd name="T58" fmla="*/ 48 w 68"/>
                    <a:gd name="T59" fmla="*/ 79 h 88"/>
                    <a:gd name="T60" fmla="*/ 59 w 68"/>
                    <a:gd name="T61" fmla="*/ 81 h 88"/>
                    <a:gd name="T62" fmla="*/ 68 w 68"/>
                    <a:gd name="T63" fmla="*/ 71 h 88"/>
                    <a:gd name="T64" fmla="*/ 59 w 68"/>
                    <a:gd name="T65" fmla="*/ 62 h 88"/>
                    <a:gd name="T66" fmla="*/ 44 w 68"/>
                    <a:gd name="T67" fmla="*/ 60 h 88"/>
                    <a:gd name="T68" fmla="*/ 42 w 68"/>
                    <a:gd name="T69" fmla="*/ 60 h 88"/>
                    <a:gd name="T70" fmla="*/ 36 w 68"/>
                    <a:gd name="T71" fmla="*/ 53 h 88"/>
                    <a:gd name="T72" fmla="*/ 48 w 68"/>
                    <a:gd name="T73" fmla="*/ 42 h 88"/>
                    <a:gd name="T74" fmla="*/ 59 w 68"/>
                    <a:gd name="T75" fmla="*/ 32 h 88"/>
                    <a:gd name="T76" fmla="*/ 59 w 68"/>
                    <a:gd name="T77" fmla="*/ 30 h 88"/>
                    <a:gd name="T78" fmla="*/ 59 w 68"/>
                    <a:gd name="T79" fmla="*/ 29 h 88"/>
                    <a:gd name="T80" fmla="*/ 54 w 68"/>
                    <a:gd name="T81" fmla="*/ 26 h 88"/>
                    <a:gd name="T82" fmla="*/ 51 w 68"/>
                    <a:gd name="T83" fmla="*/ 27 h 88"/>
                    <a:gd name="T84" fmla="*/ 50 w 68"/>
                    <a:gd name="T85" fmla="*/ 27 h 88"/>
                    <a:gd name="T86" fmla="*/ 41 w 68"/>
                    <a:gd name="T87" fmla="*/ 33 h 88"/>
                    <a:gd name="T88" fmla="*/ 38 w 68"/>
                    <a:gd name="T89" fmla="*/ 28 h 88"/>
                    <a:gd name="T90" fmla="*/ 38 w 68"/>
                    <a:gd name="T91" fmla="*/ 27 h 88"/>
                    <a:gd name="T92" fmla="*/ 38 w 68"/>
                    <a:gd name="T93" fmla="*/ 16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8" h="88">
                      <a:moveTo>
                        <a:pt x="38" y="16"/>
                      </a:moveTo>
                      <a:cubicBezTo>
                        <a:pt x="39" y="11"/>
                        <a:pt x="40" y="9"/>
                        <a:pt x="40" y="5"/>
                      </a:cubicBezTo>
                      <a:cubicBezTo>
                        <a:pt x="40" y="3"/>
                        <a:pt x="38" y="1"/>
                        <a:pt x="36" y="1"/>
                      </a:cubicBezTo>
                      <a:cubicBezTo>
                        <a:pt x="36" y="1"/>
                        <a:pt x="36" y="1"/>
                        <a:pt x="36" y="1"/>
                      </a:cubicBezTo>
                      <a:cubicBezTo>
                        <a:pt x="34" y="1"/>
                        <a:pt x="34" y="1"/>
                        <a:pt x="33" y="0"/>
                      </a:cubicBezTo>
                      <a:cubicBezTo>
                        <a:pt x="28" y="3"/>
                        <a:pt x="28" y="1"/>
                        <a:pt x="24" y="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12"/>
                        <a:pt x="26" y="14"/>
                        <a:pt x="26" y="18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28" y="45"/>
                        <a:pt x="22" y="48"/>
                        <a:pt x="16" y="48"/>
                      </a:cubicBezTo>
                      <a:cubicBezTo>
                        <a:pt x="7" y="49"/>
                        <a:pt x="7" y="49"/>
                        <a:pt x="7" y="49"/>
                      </a:cubicBezTo>
                      <a:cubicBezTo>
                        <a:pt x="5" y="49"/>
                        <a:pt x="5" y="49"/>
                        <a:pt x="5" y="49"/>
                      </a:cubicBezTo>
                      <a:cubicBezTo>
                        <a:pt x="4" y="49"/>
                        <a:pt x="4" y="49"/>
                        <a:pt x="4" y="49"/>
                      </a:cubicBezTo>
                      <a:cubicBezTo>
                        <a:pt x="2" y="50"/>
                        <a:pt x="0" y="51"/>
                        <a:pt x="0" y="54"/>
                      </a:cubicBezTo>
                      <a:cubicBezTo>
                        <a:pt x="0" y="56"/>
                        <a:pt x="3" y="60"/>
                        <a:pt x="5" y="60"/>
                      </a:cubicBezTo>
                      <a:cubicBezTo>
                        <a:pt x="11" y="60"/>
                        <a:pt x="11" y="60"/>
                        <a:pt x="11" y="60"/>
                      </a:cubicBezTo>
                      <a:cubicBezTo>
                        <a:pt x="12" y="60"/>
                        <a:pt x="12" y="60"/>
                        <a:pt x="13" y="59"/>
                      </a:cubicBezTo>
                      <a:cubicBezTo>
                        <a:pt x="17" y="62"/>
                        <a:pt x="17" y="60"/>
                        <a:pt x="20" y="66"/>
                      </a:cubicBezTo>
                      <a:cubicBezTo>
                        <a:pt x="18" y="69"/>
                        <a:pt x="20" y="68"/>
                        <a:pt x="17" y="72"/>
                      </a:cubicBezTo>
                      <a:cubicBezTo>
                        <a:pt x="15" y="73"/>
                        <a:pt x="15" y="75"/>
                        <a:pt x="13" y="76"/>
                      </a:cubicBezTo>
                      <a:cubicBezTo>
                        <a:pt x="8" y="79"/>
                        <a:pt x="7" y="80"/>
                        <a:pt x="2" y="82"/>
                      </a:cubicBezTo>
                      <a:cubicBezTo>
                        <a:pt x="2" y="83"/>
                        <a:pt x="2" y="83"/>
                        <a:pt x="2" y="83"/>
                      </a:cubicBezTo>
                      <a:cubicBezTo>
                        <a:pt x="2" y="87"/>
                        <a:pt x="2" y="87"/>
                        <a:pt x="2" y="87"/>
                      </a:cubicBezTo>
                      <a:cubicBezTo>
                        <a:pt x="4" y="87"/>
                        <a:pt x="3" y="88"/>
                        <a:pt x="4" y="88"/>
                      </a:cubicBezTo>
                      <a:cubicBezTo>
                        <a:pt x="13" y="88"/>
                        <a:pt x="20" y="82"/>
                        <a:pt x="25" y="77"/>
                      </a:cubicBezTo>
                      <a:cubicBezTo>
                        <a:pt x="26" y="76"/>
                        <a:pt x="30" y="71"/>
                        <a:pt x="31" y="69"/>
                      </a:cubicBezTo>
                      <a:cubicBezTo>
                        <a:pt x="33" y="65"/>
                        <a:pt x="35" y="63"/>
                        <a:pt x="40" y="63"/>
                      </a:cubicBezTo>
                      <a:cubicBezTo>
                        <a:pt x="45" y="63"/>
                        <a:pt x="49" y="67"/>
                        <a:pt x="52" y="70"/>
                      </a:cubicBezTo>
                      <a:cubicBezTo>
                        <a:pt x="48" y="79"/>
                        <a:pt x="48" y="79"/>
                        <a:pt x="48" y="79"/>
                      </a:cubicBezTo>
                      <a:cubicBezTo>
                        <a:pt x="50" y="79"/>
                        <a:pt x="58" y="81"/>
                        <a:pt x="59" y="81"/>
                      </a:cubicBezTo>
                      <a:cubicBezTo>
                        <a:pt x="65" y="81"/>
                        <a:pt x="67" y="76"/>
                        <a:pt x="68" y="71"/>
                      </a:cubicBezTo>
                      <a:cubicBezTo>
                        <a:pt x="67" y="65"/>
                        <a:pt x="63" y="64"/>
                        <a:pt x="59" y="62"/>
                      </a:cubicBezTo>
                      <a:cubicBezTo>
                        <a:pt x="53" y="59"/>
                        <a:pt x="51" y="60"/>
                        <a:pt x="44" y="60"/>
                      </a:cubicBezTo>
                      <a:cubicBezTo>
                        <a:pt x="43" y="60"/>
                        <a:pt x="43" y="60"/>
                        <a:pt x="42" y="60"/>
                      </a:cubicBezTo>
                      <a:cubicBezTo>
                        <a:pt x="40" y="59"/>
                        <a:pt x="36" y="56"/>
                        <a:pt x="36" y="53"/>
                      </a:cubicBezTo>
                      <a:cubicBezTo>
                        <a:pt x="36" y="51"/>
                        <a:pt x="45" y="44"/>
                        <a:pt x="48" y="42"/>
                      </a:cubicBezTo>
                      <a:cubicBezTo>
                        <a:pt x="50" y="41"/>
                        <a:pt x="59" y="34"/>
                        <a:pt x="59" y="32"/>
                      </a:cubicBezTo>
                      <a:cubicBezTo>
                        <a:pt x="59" y="30"/>
                        <a:pt x="59" y="30"/>
                        <a:pt x="59" y="30"/>
                      </a:cubicBezTo>
                      <a:cubicBezTo>
                        <a:pt x="59" y="29"/>
                        <a:pt x="59" y="29"/>
                        <a:pt x="59" y="29"/>
                      </a:cubicBezTo>
                      <a:cubicBezTo>
                        <a:pt x="54" y="26"/>
                        <a:pt x="54" y="26"/>
                        <a:pt x="54" y="26"/>
                      </a:cubicBezTo>
                      <a:cubicBezTo>
                        <a:pt x="53" y="27"/>
                        <a:pt x="53" y="27"/>
                        <a:pt x="51" y="27"/>
                      </a:cubicBezTo>
                      <a:cubicBezTo>
                        <a:pt x="50" y="27"/>
                        <a:pt x="50" y="27"/>
                        <a:pt x="50" y="27"/>
                      </a:cubicBezTo>
                      <a:cubicBezTo>
                        <a:pt x="46" y="32"/>
                        <a:pt x="46" y="30"/>
                        <a:pt x="41" y="33"/>
                      </a:cubicBezTo>
                      <a:cubicBezTo>
                        <a:pt x="40" y="31"/>
                        <a:pt x="39" y="30"/>
                        <a:pt x="38" y="28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lnTo>
                        <a:pt x="38" y="16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2" name="îṡḻiḓe"/>
                <p:cNvSpPr/>
                <p:nvPr/>
              </p:nvSpPr>
              <p:spPr bwMode="auto">
                <a:xfrm>
                  <a:off x="4518026" y="3506788"/>
                  <a:ext cx="53975" cy="71438"/>
                </a:xfrm>
                <a:custGeom>
                  <a:avLst/>
                  <a:gdLst>
                    <a:gd name="T0" fmla="*/ 14 w 16"/>
                    <a:gd name="T1" fmla="*/ 17 h 21"/>
                    <a:gd name="T2" fmla="*/ 16 w 16"/>
                    <a:gd name="T3" fmla="*/ 12 h 21"/>
                    <a:gd name="T4" fmla="*/ 11 w 16"/>
                    <a:gd name="T5" fmla="*/ 5 h 21"/>
                    <a:gd name="T6" fmla="*/ 5 w 16"/>
                    <a:gd name="T7" fmla="*/ 0 h 21"/>
                    <a:gd name="T8" fmla="*/ 2 w 16"/>
                    <a:gd name="T9" fmla="*/ 4 h 21"/>
                    <a:gd name="T10" fmla="*/ 2 w 16"/>
                    <a:gd name="T11" fmla="*/ 5 h 21"/>
                    <a:gd name="T12" fmla="*/ 2 w 16"/>
                    <a:gd name="T13" fmla="*/ 8 h 21"/>
                    <a:gd name="T14" fmla="*/ 2 w 16"/>
                    <a:gd name="T15" fmla="*/ 9 h 21"/>
                    <a:gd name="T16" fmla="*/ 0 w 16"/>
                    <a:gd name="T17" fmla="*/ 17 h 21"/>
                    <a:gd name="T18" fmla="*/ 3 w 16"/>
                    <a:gd name="T19" fmla="*/ 21 h 21"/>
                    <a:gd name="T20" fmla="*/ 4 w 16"/>
                    <a:gd name="T21" fmla="*/ 21 h 21"/>
                    <a:gd name="T22" fmla="*/ 5 w 16"/>
                    <a:gd name="T23" fmla="*/ 21 h 21"/>
                    <a:gd name="T24" fmla="*/ 14 w 16"/>
                    <a:gd name="T25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21">
                      <a:moveTo>
                        <a:pt x="14" y="17"/>
                      </a:moveTo>
                      <a:cubicBezTo>
                        <a:pt x="14" y="15"/>
                        <a:pt x="16" y="13"/>
                        <a:pt x="16" y="12"/>
                      </a:cubicBezTo>
                      <a:cubicBezTo>
                        <a:pt x="16" y="11"/>
                        <a:pt x="12" y="7"/>
                        <a:pt x="11" y="5"/>
                      </a:cubicBezTo>
                      <a:cubicBezTo>
                        <a:pt x="11" y="3"/>
                        <a:pt x="8" y="0"/>
                        <a:pt x="5" y="0"/>
                      </a:cubicBezTo>
                      <a:cubicBezTo>
                        <a:pt x="4" y="0"/>
                        <a:pt x="3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1"/>
                        <a:pt x="0" y="14"/>
                        <a:pt x="0" y="17"/>
                      </a:cubicBezTo>
                      <a:cubicBezTo>
                        <a:pt x="0" y="19"/>
                        <a:pt x="1" y="20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7" y="21"/>
                        <a:pt x="11" y="17"/>
                        <a:pt x="14" y="17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23" name="ïsḻïḓê"/>
                <p:cNvSpPr/>
                <p:nvPr/>
              </p:nvSpPr>
              <p:spPr bwMode="auto">
                <a:xfrm>
                  <a:off x="5319713" y="3133725"/>
                  <a:ext cx="222250" cy="500063"/>
                </a:xfrm>
                <a:custGeom>
                  <a:avLst/>
                  <a:gdLst>
                    <a:gd name="T0" fmla="*/ 47 w 67"/>
                    <a:gd name="T1" fmla="*/ 96 h 150"/>
                    <a:gd name="T2" fmla="*/ 51 w 67"/>
                    <a:gd name="T3" fmla="*/ 96 h 150"/>
                    <a:gd name="T4" fmla="*/ 46 w 67"/>
                    <a:gd name="T5" fmla="*/ 114 h 150"/>
                    <a:gd name="T6" fmla="*/ 42 w 67"/>
                    <a:gd name="T7" fmla="*/ 113 h 150"/>
                    <a:gd name="T8" fmla="*/ 39 w 67"/>
                    <a:gd name="T9" fmla="*/ 108 h 150"/>
                    <a:gd name="T10" fmla="*/ 21 w 67"/>
                    <a:gd name="T11" fmla="*/ 78 h 150"/>
                    <a:gd name="T12" fmla="*/ 29 w 67"/>
                    <a:gd name="T13" fmla="*/ 73 h 150"/>
                    <a:gd name="T14" fmla="*/ 32 w 67"/>
                    <a:gd name="T15" fmla="*/ 74 h 150"/>
                    <a:gd name="T16" fmla="*/ 32 w 67"/>
                    <a:gd name="T17" fmla="*/ 77 h 150"/>
                    <a:gd name="T18" fmla="*/ 32 w 67"/>
                    <a:gd name="T19" fmla="*/ 79 h 150"/>
                    <a:gd name="T20" fmla="*/ 21 w 67"/>
                    <a:gd name="T21" fmla="*/ 78 h 150"/>
                    <a:gd name="T22" fmla="*/ 53 w 67"/>
                    <a:gd name="T23" fmla="*/ 118 h 150"/>
                    <a:gd name="T24" fmla="*/ 66 w 67"/>
                    <a:gd name="T25" fmla="*/ 108 h 150"/>
                    <a:gd name="T26" fmla="*/ 60 w 67"/>
                    <a:gd name="T27" fmla="*/ 98 h 150"/>
                    <a:gd name="T28" fmla="*/ 51 w 67"/>
                    <a:gd name="T29" fmla="*/ 82 h 150"/>
                    <a:gd name="T30" fmla="*/ 47 w 67"/>
                    <a:gd name="T31" fmla="*/ 71 h 150"/>
                    <a:gd name="T32" fmla="*/ 60 w 67"/>
                    <a:gd name="T33" fmla="*/ 58 h 150"/>
                    <a:gd name="T34" fmla="*/ 53 w 67"/>
                    <a:gd name="T35" fmla="*/ 52 h 150"/>
                    <a:gd name="T36" fmla="*/ 44 w 67"/>
                    <a:gd name="T37" fmla="*/ 50 h 150"/>
                    <a:gd name="T38" fmla="*/ 48 w 67"/>
                    <a:gd name="T39" fmla="*/ 38 h 150"/>
                    <a:gd name="T40" fmla="*/ 66 w 67"/>
                    <a:gd name="T41" fmla="*/ 17 h 150"/>
                    <a:gd name="T42" fmla="*/ 66 w 67"/>
                    <a:gd name="T43" fmla="*/ 13 h 150"/>
                    <a:gd name="T44" fmla="*/ 56 w 67"/>
                    <a:gd name="T45" fmla="*/ 1 h 150"/>
                    <a:gd name="T46" fmla="*/ 55 w 67"/>
                    <a:gd name="T47" fmla="*/ 7 h 150"/>
                    <a:gd name="T48" fmla="*/ 50 w 67"/>
                    <a:gd name="T49" fmla="*/ 18 h 150"/>
                    <a:gd name="T50" fmla="*/ 42 w 67"/>
                    <a:gd name="T51" fmla="*/ 15 h 150"/>
                    <a:gd name="T52" fmla="*/ 40 w 67"/>
                    <a:gd name="T53" fmla="*/ 15 h 150"/>
                    <a:gd name="T54" fmla="*/ 41 w 67"/>
                    <a:gd name="T55" fmla="*/ 26 h 150"/>
                    <a:gd name="T56" fmla="*/ 41 w 67"/>
                    <a:gd name="T57" fmla="*/ 30 h 150"/>
                    <a:gd name="T58" fmla="*/ 37 w 67"/>
                    <a:gd name="T59" fmla="*/ 33 h 150"/>
                    <a:gd name="T60" fmla="*/ 30 w 67"/>
                    <a:gd name="T61" fmla="*/ 29 h 150"/>
                    <a:gd name="T62" fmla="*/ 9 w 67"/>
                    <a:gd name="T63" fmla="*/ 50 h 150"/>
                    <a:gd name="T64" fmla="*/ 4 w 67"/>
                    <a:gd name="T65" fmla="*/ 59 h 150"/>
                    <a:gd name="T66" fmla="*/ 23 w 67"/>
                    <a:gd name="T67" fmla="*/ 51 h 150"/>
                    <a:gd name="T68" fmla="*/ 30 w 67"/>
                    <a:gd name="T69" fmla="*/ 58 h 150"/>
                    <a:gd name="T70" fmla="*/ 26 w 67"/>
                    <a:gd name="T71" fmla="*/ 65 h 150"/>
                    <a:gd name="T72" fmla="*/ 19 w 67"/>
                    <a:gd name="T73" fmla="*/ 64 h 150"/>
                    <a:gd name="T74" fmla="*/ 16 w 67"/>
                    <a:gd name="T75" fmla="*/ 67 h 150"/>
                    <a:gd name="T76" fmla="*/ 16 w 67"/>
                    <a:gd name="T77" fmla="*/ 72 h 150"/>
                    <a:gd name="T78" fmla="*/ 3 w 67"/>
                    <a:gd name="T79" fmla="*/ 105 h 150"/>
                    <a:gd name="T80" fmla="*/ 6 w 67"/>
                    <a:gd name="T81" fmla="*/ 110 h 150"/>
                    <a:gd name="T82" fmla="*/ 9 w 67"/>
                    <a:gd name="T83" fmla="*/ 111 h 150"/>
                    <a:gd name="T84" fmla="*/ 24 w 67"/>
                    <a:gd name="T85" fmla="*/ 89 h 150"/>
                    <a:gd name="T86" fmla="*/ 32 w 67"/>
                    <a:gd name="T87" fmla="*/ 93 h 150"/>
                    <a:gd name="T88" fmla="*/ 32 w 67"/>
                    <a:gd name="T89" fmla="*/ 96 h 150"/>
                    <a:gd name="T90" fmla="*/ 29 w 67"/>
                    <a:gd name="T91" fmla="*/ 113 h 150"/>
                    <a:gd name="T92" fmla="*/ 29 w 67"/>
                    <a:gd name="T93" fmla="*/ 115 h 150"/>
                    <a:gd name="T94" fmla="*/ 22 w 67"/>
                    <a:gd name="T95" fmla="*/ 122 h 150"/>
                    <a:gd name="T96" fmla="*/ 10 w 67"/>
                    <a:gd name="T97" fmla="*/ 124 h 150"/>
                    <a:gd name="T98" fmla="*/ 15 w 67"/>
                    <a:gd name="T99" fmla="*/ 144 h 150"/>
                    <a:gd name="T100" fmla="*/ 17 w 67"/>
                    <a:gd name="T101" fmla="*/ 150 h 150"/>
                    <a:gd name="T102" fmla="*/ 38 w 67"/>
                    <a:gd name="T103" fmla="*/ 12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7" h="150">
                      <a:moveTo>
                        <a:pt x="39" y="107"/>
                      </a:moveTo>
                      <a:cubicBezTo>
                        <a:pt x="39" y="103"/>
                        <a:pt x="44" y="96"/>
                        <a:pt x="47" y="96"/>
                      </a:cubicBezTo>
                      <a:cubicBezTo>
                        <a:pt x="50" y="96"/>
                        <a:pt x="50" y="96"/>
                        <a:pt x="50" y="96"/>
                      </a:cubicBezTo>
                      <a:cubicBezTo>
                        <a:pt x="51" y="96"/>
                        <a:pt x="51" y="96"/>
                        <a:pt x="51" y="96"/>
                      </a:cubicBezTo>
                      <a:cubicBezTo>
                        <a:pt x="53" y="98"/>
                        <a:pt x="55" y="101"/>
                        <a:pt x="55" y="104"/>
                      </a:cubicBezTo>
                      <a:cubicBezTo>
                        <a:pt x="55" y="108"/>
                        <a:pt x="49" y="112"/>
                        <a:pt x="46" y="114"/>
                      </a:cubicBezTo>
                      <a:cubicBezTo>
                        <a:pt x="45" y="114"/>
                        <a:pt x="45" y="113"/>
                        <a:pt x="43" y="113"/>
                      </a:cubicBezTo>
                      <a:cubicBezTo>
                        <a:pt x="42" y="113"/>
                        <a:pt x="42" y="113"/>
                        <a:pt x="42" y="113"/>
                      </a:cubicBezTo>
                      <a:cubicBezTo>
                        <a:pt x="39" y="109"/>
                        <a:pt x="39" y="109"/>
                        <a:pt x="39" y="109"/>
                      </a:cubicBezTo>
                      <a:cubicBezTo>
                        <a:pt x="39" y="108"/>
                        <a:pt x="39" y="108"/>
                        <a:pt x="39" y="108"/>
                      </a:cubicBezTo>
                      <a:cubicBezTo>
                        <a:pt x="39" y="107"/>
                        <a:pt x="39" y="107"/>
                        <a:pt x="39" y="107"/>
                      </a:cubicBezTo>
                      <a:close/>
                      <a:moveTo>
                        <a:pt x="21" y="78"/>
                      </a:moveTo>
                      <a:cubicBezTo>
                        <a:pt x="21" y="77"/>
                        <a:pt x="25" y="73"/>
                        <a:pt x="26" y="73"/>
                      </a:cubicBezTo>
                      <a:cubicBezTo>
                        <a:pt x="27" y="73"/>
                        <a:pt x="27" y="73"/>
                        <a:pt x="29" y="73"/>
                      </a:cubicBezTo>
                      <a:cubicBezTo>
                        <a:pt x="30" y="73"/>
                        <a:pt x="30" y="73"/>
                        <a:pt x="30" y="73"/>
                      </a:cubicBezTo>
                      <a:cubicBezTo>
                        <a:pt x="32" y="74"/>
                        <a:pt x="32" y="74"/>
                        <a:pt x="32" y="74"/>
                      </a:cubicBezTo>
                      <a:cubicBezTo>
                        <a:pt x="32" y="76"/>
                        <a:pt x="32" y="76"/>
                        <a:pt x="32" y="76"/>
                      </a:cubicBezTo>
                      <a:cubicBezTo>
                        <a:pt x="32" y="77"/>
                        <a:pt x="32" y="77"/>
                        <a:pt x="32" y="77"/>
                      </a:cubicBezTo>
                      <a:cubicBezTo>
                        <a:pt x="32" y="78"/>
                        <a:pt x="32" y="78"/>
                        <a:pt x="32" y="78"/>
                      </a:cubicBezTo>
                      <a:cubicBezTo>
                        <a:pt x="32" y="79"/>
                        <a:pt x="32" y="79"/>
                        <a:pt x="32" y="79"/>
                      </a:cubicBezTo>
                      <a:cubicBezTo>
                        <a:pt x="31" y="82"/>
                        <a:pt x="29" y="83"/>
                        <a:pt x="25" y="83"/>
                      </a:cubicBezTo>
                      <a:cubicBezTo>
                        <a:pt x="23" y="83"/>
                        <a:pt x="21" y="81"/>
                        <a:pt x="21" y="78"/>
                      </a:cubicBezTo>
                      <a:close/>
                      <a:moveTo>
                        <a:pt x="38" y="125"/>
                      </a:moveTo>
                      <a:cubicBezTo>
                        <a:pt x="43" y="122"/>
                        <a:pt x="47" y="120"/>
                        <a:pt x="53" y="118"/>
                      </a:cubicBezTo>
                      <a:cubicBezTo>
                        <a:pt x="57" y="116"/>
                        <a:pt x="57" y="116"/>
                        <a:pt x="60" y="114"/>
                      </a:cubicBezTo>
                      <a:cubicBezTo>
                        <a:pt x="64" y="111"/>
                        <a:pt x="63" y="110"/>
                        <a:pt x="66" y="108"/>
                      </a:cubicBezTo>
                      <a:cubicBezTo>
                        <a:pt x="67" y="104"/>
                        <a:pt x="67" y="104"/>
                        <a:pt x="67" y="104"/>
                      </a:cubicBezTo>
                      <a:cubicBezTo>
                        <a:pt x="64" y="100"/>
                        <a:pt x="64" y="101"/>
                        <a:pt x="60" y="98"/>
                      </a:cubicBezTo>
                      <a:cubicBezTo>
                        <a:pt x="58" y="96"/>
                        <a:pt x="55" y="95"/>
                        <a:pt x="54" y="92"/>
                      </a:cubicBezTo>
                      <a:cubicBezTo>
                        <a:pt x="53" y="88"/>
                        <a:pt x="53" y="84"/>
                        <a:pt x="51" y="82"/>
                      </a:cubicBezTo>
                      <a:cubicBezTo>
                        <a:pt x="49" y="79"/>
                        <a:pt x="47" y="77"/>
                        <a:pt x="47" y="73"/>
                      </a:cubicBezTo>
                      <a:cubicBezTo>
                        <a:pt x="47" y="72"/>
                        <a:pt x="47" y="72"/>
                        <a:pt x="47" y="71"/>
                      </a:cubicBezTo>
                      <a:cubicBezTo>
                        <a:pt x="49" y="67"/>
                        <a:pt x="47" y="67"/>
                        <a:pt x="53" y="64"/>
                      </a:cubicBezTo>
                      <a:cubicBezTo>
                        <a:pt x="55" y="64"/>
                        <a:pt x="60" y="60"/>
                        <a:pt x="60" y="58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60" y="53"/>
                        <a:pt x="56" y="51"/>
                        <a:pt x="53" y="52"/>
                      </a:cubicBezTo>
                      <a:cubicBezTo>
                        <a:pt x="47" y="52"/>
                        <a:pt x="47" y="52"/>
                        <a:pt x="47" y="52"/>
                      </a:cubicBezTo>
                      <a:cubicBezTo>
                        <a:pt x="46" y="52"/>
                        <a:pt x="45" y="51"/>
                        <a:pt x="44" y="50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4" y="44"/>
                        <a:pt x="47" y="41"/>
                        <a:pt x="48" y="38"/>
                      </a:cubicBezTo>
                      <a:cubicBezTo>
                        <a:pt x="49" y="34"/>
                        <a:pt x="50" y="33"/>
                        <a:pt x="53" y="30"/>
                      </a:cubicBezTo>
                      <a:cubicBezTo>
                        <a:pt x="56" y="27"/>
                        <a:pt x="66" y="22"/>
                        <a:pt x="66" y="17"/>
                      </a:cubicBezTo>
                      <a:cubicBezTo>
                        <a:pt x="66" y="14"/>
                        <a:pt x="66" y="14"/>
                        <a:pt x="66" y="14"/>
                      </a:cubicBezTo>
                      <a:cubicBezTo>
                        <a:pt x="66" y="13"/>
                        <a:pt x="66" y="13"/>
                        <a:pt x="66" y="13"/>
                      </a:cubicBezTo>
                      <a:cubicBezTo>
                        <a:pt x="65" y="10"/>
                        <a:pt x="62" y="0"/>
                        <a:pt x="58" y="0"/>
                      </a:cubicBezTo>
                      <a:cubicBezTo>
                        <a:pt x="57" y="0"/>
                        <a:pt x="57" y="0"/>
                        <a:pt x="56" y="1"/>
                      </a:cubicBezTo>
                      <a:cubicBezTo>
                        <a:pt x="56" y="3"/>
                        <a:pt x="55" y="3"/>
                        <a:pt x="55" y="5"/>
                      </a:cubicBezTo>
                      <a:cubicBezTo>
                        <a:pt x="55" y="7"/>
                        <a:pt x="55" y="7"/>
                        <a:pt x="55" y="7"/>
                      </a:cubicBezTo>
                      <a:cubicBezTo>
                        <a:pt x="55" y="11"/>
                        <a:pt x="53" y="15"/>
                        <a:pt x="51" y="18"/>
                      </a:cubicBezTo>
                      <a:cubicBezTo>
                        <a:pt x="50" y="18"/>
                        <a:pt x="50" y="18"/>
                        <a:pt x="50" y="18"/>
                      </a:cubicBezTo>
                      <a:cubicBezTo>
                        <a:pt x="48" y="18"/>
                        <a:pt x="48" y="18"/>
                        <a:pt x="47" y="19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41" y="15"/>
                        <a:pt x="41" y="15"/>
                        <a:pt x="41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39" y="15"/>
                        <a:pt x="38" y="16"/>
                        <a:pt x="38" y="17"/>
                      </a:cubicBezTo>
                      <a:cubicBezTo>
                        <a:pt x="38" y="19"/>
                        <a:pt x="41" y="22"/>
                        <a:pt x="41" y="26"/>
                      </a:cubicBezTo>
                      <a:cubicBezTo>
                        <a:pt x="41" y="29"/>
                        <a:pt x="41" y="29"/>
                        <a:pt x="41" y="29"/>
                      </a:cubicBezTo>
                      <a:cubicBezTo>
                        <a:pt x="41" y="30"/>
                        <a:pt x="41" y="30"/>
                        <a:pt x="41" y="30"/>
                      </a:cubicBezTo>
                      <a:cubicBezTo>
                        <a:pt x="38" y="33"/>
                        <a:pt x="38" y="33"/>
                        <a:pt x="38" y="33"/>
                      </a:cubicBezTo>
                      <a:cubicBezTo>
                        <a:pt x="37" y="33"/>
                        <a:pt x="37" y="33"/>
                        <a:pt x="37" y="33"/>
                      </a:cubicBezTo>
                      <a:cubicBezTo>
                        <a:pt x="35" y="33"/>
                        <a:pt x="35" y="34"/>
                        <a:pt x="34" y="34"/>
                      </a:cubicBezTo>
                      <a:cubicBezTo>
                        <a:pt x="32" y="33"/>
                        <a:pt x="31" y="31"/>
                        <a:pt x="30" y="29"/>
                      </a:cubicBezTo>
                      <a:cubicBezTo>
                        <a:pt x="24" y="29"/>
                        <a:pt x="30" y="41"/>
                        <a:pt x="19" y="45"/>
                      </a:cubicBezTo>
                      <a:cubicBezTo>
                        <a:pt x="16" y="46"/>
                        <a:pt x="12" y="48"/>
                        <a:pt x="9" y="50"/>
                      </a:cubicBezTo>
                      <a:cubicBezTo>
                        <a:pt x="6" y="51"/>
                        <a:pt x="1" y="53"/>
                        <a:pt x="0" y="55"/>
                      </a:cubicBezTo>
                      <a:cubicBezTo>
                        <a:pt x="1" y="58"/>
                        <a:pt x="1" y="57"/>
                        <a:pt x="4" y="59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10" y="59"/>
                        <a:pt x="20" y="51"/>
                        <a:pt x="23" y="51"/>
                      </a:cubicBezTo>
                      <a:cubicBezTo>
                        <a:pt x="25" y="51"/>
                        <a:pt x="24" y="51"/>
                        <a:pt x="27" y="52"/>
                      </a:cubicBezTo>
                      <a:cubicBezTo>
                        <a:pt x="29" y="54"/>
                        <a:pt x="29" y="55"/>
                        <a:pt x="30" y="58"/>
                      </a:cubicBezTo>
                      <a:cubicBezTo>
                        <a:pt x="30" y="59"/>
                        <a:pt x="30" y="59"/>
                        <a:pt x="30" y="59"/>
                      </a:cubicBezTo>
                      <a:cubicBezTo>
                        <a:pt x="30" y="62"/>
                        <a:pt x="28" y="64"/>
                        <a:pt x="26" y="65"/>
                      </a:cubicBezTo>
                      <a:cubicBezTo>
                        <a:pt x="21" y="64"/>
                        <a:pt x="21" y="64"/>
                        <a:pt x="21" y="64"/>
                      </a:cubicBezTo>
                      <a:cubicBezTo>
                        <a:pt x="20" y="64"/>
                        <a:pt x="20" y="64"/>
                        <a:pt x="19" y="64"/>
                      </a:cubicBez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16" y="68"/>
                        <a:pt x="16" y="68"/>
                        <a:pt x="16" y="68"/>
                      </a:cubicBezTo>
                      <a:cubicBezTo>
                        <a:pt x="16" y="72"/>
                        <a:pt x="16" y="72"/>
                        <a:pt x="16" y="72"/>
                      </a:cubicBezTo>
                      <a:cubicBezTo>
                        <a:pt x="16" y="78"/>
                        <a:pt x="13" y="85"/>
                        <a:pt x="11" y="90"/>
                      </a:cubicBezTo>
                      <a:cubicBezTo>
                        <a:pt x="9" y="94"/>
                        <a:pt x="3" y="100"/>
                        <a:pt x="3" y="105"/>
                      </a:cubicBezTo>
                      <a:cubicBezTo>
                        <a:pt x="3" y="106"/>
                        <a:pt x="4" y="109"/>
                        <a:pt x="5" y="110"/>
                      </a:cubicBezTo>
                      <a:cubicBezTo>
                        <a:pt x="6" y="110"/>
                        <a:pt x="6" y="110"/>
                        <a:pt x="6" y="110"/>
                      </a:cubicBezTo>
                      <a:cubicBezTo>
                        <a:pt x="7" y="110"/>
                        <a:pt x="7" y="110"/>
                        <a:pt x="7" y="110"/>
                      </a:cubicBezTo>
                      <a:cubicBezTo>
                        <a:pt x="9" y="110"/>
                        <a:pt x="8" y="110"/>
                        <a:pt x="9" y="111"/>
                      </a:cubicBezTo>
                      <a:cubicBezTo>
                        <a:pt x="11" y="109"/>
                        <a:pt x="15" y="101"/>
                        <a:pt x="15" y="98"/>
                      </a:cubicBezTo>
                      <a:cubicBezTo>
                        <a:pt x="17" y="94"/>
                        <a:pt x="20" y="89"/>
                        <a:pt x="24" y="89"/>
                      </a:cubicBezTo>
                      <a:cubicBezTo>
                        <a:pt x="25" y="89"/>
                        <a:pt x="25" y="89"/>
                        <a:pt x="26" y="88"/>
                      </a:cubicBezTo>
                      <a:cubicBezTo>
                        <a:pt x="28" y="90"/>
                        <a:pt x="32" y="90"/>
                        <a:pt x="32" y="93"/>
                      </a:cubicBezTo>
                      <a:cubicBezTo>
                        <a:pt x="32" y="94"/>
                        <a:pt x="32" y="94"/>
                        <a:pt x="32" y="94"/>
                      </a:cubicBezTo>
                      <a:cubicBezTo>
                        <a:pt x="32" y="96"/>
                        <a:pt x="32" y="96"/>
                        <a:pt x="32" y="96"/>
                      </a:cubicBezTo>
                      <a:cubicBezTo>
                        <a:pt x="28" y="102"/>
                        <a:pt x="25" y="101"/>
                        <a:pt x="23" y="104"/>
                      </a:cubicBezTo>
                      <a:cubicBezTo>
                        <a:pt x="26" y="109"/>
                        <a:pt x="27" y="108"/>
                        <a:pt x="29" y="113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5"/>
                        <a:pt x="29" y="115"/>
                        <a:pt x="29" y="115"/>
                      </a:cubicBez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28" y="119"/>
                        <a:pt x="26" y="123"/>
                        <a:pt x="22" y="122"/>
                      </a:cubicBezTo>
                      <a:cubicBezTo>
                        <a:pt x="15" y="122"/>
                        <a:pt x="15" y="122"/>
                        <a:pt x="15" y="122"/>
                      </a:cubicBezTo>
                      <a:cubicBezTo>
                        <a:pt x="14" y="122"/>
                        <a:pt x="11" y="124"/>
                        <a:pt x="10" y="124"/>
                      </a:cubicBezTo>
                      <a:cubicBezTo>
                        <a:pt x="13" y="127"/>
                        <a:pt x="23" y="129"/>
                        <a:pt x="23" y="133"/>
                      </a:cubicBezTo>
                      <a:cubicBezTo>
                        <a:pt x="23" y="137"/>
                        <a:pt x="18" y="142"/>
                        <a:pt x="15" y="144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7" y="150"/>
                        <a:pt x="17" y="150"/>
                        <a:pt x="17" y="150"/>
                      </a:cubicBezTo>
                      <a:cubicBezTo>
                        <a:pt x="20" y="150"/>
                        <a:pt x="27" y="141"/>
                        <a:pt x="29" y="139"/>
                      </a:cubicBezTo>
                      <a:cubicBezTo>
                        <a:pt x="33" y="135"/>
                        <a:pt x="34" y="129"/>
                        <a:pt x="38" y="12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34" name="îśľïḍé"/>
                <p:cNvSpPr/>
                <p:nvPr/>
              </p:nvSpPr>
              <p:spPr bwMode="auto">
                <a:xfrm>
                  <a:off x="4422776" y="3106738"/>
                  <a:ext cx="412750" cy="596900"/>
                </a:xfrm>
                <a:custGeom>
                  <a:avLst/>
                  <a:gdLst>
                    <a:gd name="T0" fmla="*/ 63 w 125"/>
                    <a:gd name="T1" fmla="*/ 83 h 179"/>
                    <a:gd name="T2" fmla="*/ 69 w 125"/>
                    <a:gd name="T3" fmla="*/ 84 h 179"/>
                    <a:gd name="T4" fmla="*/ 71 w 125"/>
                    <a:gd name="T5" fmla="*/ 95 h 179"/>
                    <a:gd name="T6" fmla="*/ 56 w 125"/>
                    <a:gd name="T7" fmla="*/ 91 h 179"/>
                    <a:gd name="T8" fmla="*/ 77 w 125"/>
                    <a:gd name="T9" fmla="*/ 77 h 179"/>
                    <a:gd name="T10" fmla="*/ 90 w 125"/>
                    <a:gd name="T11" fmla="*/ 82 h 179"/>
                    <a:gd name="T12" fmla="*/ 93 w 125"/>
                    <a:gd name="T13" fmla="*/ 96 h 179"/>
                    <a:gd name="T14" fmla="*/ 88 w 125"/>
                    <a:gd name="T15" fmla="*/ 106 h 179"/>
                    <a:gd name="T16" fmla="*/ 75 w 125"/>
                    <a:gd name="T17" fmla="*/ 89 h 179"/>
                    <a:gd name="T18" fmla="*/ 91 w 125"/>
                    <a:gd name="T19" fmla="*/ 29 h 179"/>
                    <a:gd name="T20" fmla="*/ 95 w 125"/>
                    <a:gd name="T21" fmla="*/ 4 h 179"/>
                    <a:gd name="T22" fmla="*/ 92 w 125"/>
                    <a:gd name="T23" fmla="*/ 0 h 179"/>
                    <a:gd name="T24" fmla="*/ 86 w 125"/>
                    <a:gd name="T25" fmla="*/ 0 h 179"/>
                    <a:gd name="T26" fmla="*/ 80 w 125"/>
                    <a:gd name="T27" fmla="*/ 7 h 179"/>
                    <a:gd name="T28" fmla="*/ 83 w 125"/>
                    <a:gd name="T29" fmla="*/ 30 h 179"/>
                    <a:gd name="T30" fmla="*/ 86 w 125"/>
                    <a:gd name="T31" fmla="*/ 50 h 179"/>
                    <a:gd name="T32" fmla="*/ 46 w 125"/>
                    <a:gd name="T33" fmla="*/ 84 h 179"/>
                    <a:gd name="T34" fmla="*/ 0 w 125"/>
                    <a:gd name="T35" fmla="*/ 99 h 179"/>
                    <a:gd name="T36" fmla="*/ 13 w 125"/>
                    <a:gd name="T37" fmla="*/ 108 h 179"/>
                    <a:gd name="T38" fmla="*/ 30 w 125"/>
                    <a:gd name="T39" fmla="*/ 100 h 179"/>
                    <a:gd name="T40" fmla="*/ 47 w 125"/>
                    <a:gd name="T41" fmla="*/ 92 h 179"/>
                    <a:gd name="T42" fmla="*/ 51 w 125"/>
                    <a:gd name="T43" fmla="*/ 109 h 179"/>
                    <a:gd name="T44" fmla="*/ 50 w 125"/>
                    <a:gd name="T45" fmla="*/ 118 h 179"/>
                    <a:gd name="T46" fmla="*/ 54 w 125"/>
                    <a:gd name="T47" fmla="*/ 125 h 179"/>
                    <a:gd name="T48" fmla="*/ 62 w 125"/>
                    <a:gd name="T49" fmla="*/ 119 h 179"/>
                    <a:gd name="T50" fmla="*/ 62 w 125"/>
                    <a:gd name="T51" fmla="*/ 113 h 179"/>
                    <a:gd name="T52" fmla="*/ 78 w 125"/>
                    <a:gd name="T53" fmla="*/ 111 h 179"/>
                    <a:gd name="T54" fmla="*/ 78 w 125"/>
                    <a:gd name="T55" fmla="*/ 113 h 179"/>
                    <a:gd name="T56" fmla="*/ 78 w 125"/>
                    <a:gd name="T57" fmla="*/ 118 h 179"/>
                    <a:gd name="T58" fmla="*/ 46 w 125"/>
                    <a:gd name="T59" fmla="*/ 147 h 179"/>
                    <a:gd name="T60" fmla="*/ 28 w 125"/>
                    <a:gd name="T61" fmla="*/ 158 h 179"/>
                    <a:gd name="T62" fmla="*/ 1 w 125"/>
                    <a:gd name="T63" fmla="*/ 170 h 179"/>
                    <a:gd name="T64" fmla="*/ 14 w 125"/>
                    <a:gd name="T65" fmla="*/ 178 h 179"/>
                    <a:gd name="T66" fmla="*/ 20 w 125"/>
                    <a:gd name="T67" fmla="*/ 179 h 179"/>
                    <a:gd name="T68" fmla="*/ 22 w 125"/>
                    <a:gd name="T69" fmla="*/ 179 h 179"/>
                    <a:gd name="T70" fmla="*/ 38 w 125"/>
                    <a:gd name="T71" fmla="*/ 169 h 179"/>
                    <a:gd name="T72" fmla="*/ 61 w 125"/>
                    <a:gd name="T73" fmla="*/ 150 h 179"/>
                    <a:gd name="T74" fmla="*/ 79 w 125"/>
                    <a:gd name="T75" fmla="*/ 135 h 179"/>
                    <a:gd name="T76" fmla="*/ 96 w 125"/>
                    <a:gd name="T77" fmla="*/ 119 h 179"/>
                    <a:gd name="T78" fmla="*/ 106 w 125"/>
                    <a:gd name="T79" fmla="*/ 149 h 179"/>
                    <a:gd name="T80" fmla="*/ 125 w 125"/>
                    <a:gd name="T81" fmla="*/ 152 h 179"/>
                    <a:gd name="T82" fmla="*/ 116 w 125"/>
                    <a:gd name="T83" fmla="*/ 120 h 179"/>
                    <a:gd name="T84" fmla="*/ 115 w 125"/>
                    <a:gd name="T85" fmla="*/ 125 h 179"/>
                    <a:gd name="T86" fmla="*/ 109 w 125"/>
                    <a:gd name="T87" fmla="*/ 129 h 179"/>
                    <a:gd name="T88" fmla="*/ 97 w 125"/>
                    <a:gd name="T89" fmla="*/ 92 h 179"/>
                    <a:gd name="T90" fmla="*/ 94 w 125"/>
                    <a:gd name="T91" fmla="*/ 76 h 179"/>
                    <a:gd name="T92" fmla="*/ 110 w 125"/>
                    <a:gd name="T93" fmla="*/ 60 h 179"/>
                    <a:gd name="T94" fmla="*/ 105 w 125"/>
                    <a:gd name="T95" fmla="*/ 57 h 179"/>
                    <a:gd name="T96" fmla="*/ 101 w 125"/>
                    <a:gd name="T97" fmla="*/ 59 h 179"/>
                    <a:gd name="T98" fmla="*/ 91 w 125"/>
                    <a:gd name="T99" fmla="*/ 54 h 179"/>
                    <a:gd name="T100" fmla="*/ 91 w 125"/>
                    <a:gd name="T101" fmla="*/ 29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25" h="179">
                      <a:moveTo>
                        <a:pt x="56" y="91"/>
                      </a:moveTo>
                      <a:cubicBezTo>
                        <a:pt x="56" y="87"/>
                        <a:pt x="60" y="85"/>
                        <a:pt x="63" y="83"/>
                      </a:cubicBezTo>
                      <a:cubicBezTo>
                        <a:pt x="64" y="83"/>
                        <a:pt x="64" y="83"/>
                        <a:pt x="64" y="83"/>
                      </a:cubicBezTo>
                      <a:cubicBezTo>
                        <a:pt x="67" y="83"/>
                        <a:pt x="67" y="84"/>
                        <a:pt x="69" y="84"/>
                      </a:cubicBezTo>
                      <a:cubicBezTo>
                        <a:pt x="71" y="94"/>
                        <a:pt x="71" y="94"/>
                        <a:pt x="71" y="94"/>
                      </a:cubicBezTo>
                      <a:cubicBezTo>
                        <a:pt x="71" y="95"/>
                        <a:pt x="71" y="95"/>
                        <a:pt x="71" y="95"/>
                      </a:cubicBezTo>
                      <a:cubicBezTo>
                        <a:pt x="68" y="100"/>
                        <a:pt x="68" y="99"/>
                        <a:pt x="63" y="101"/>
                      </a:cubicBezTo>
                      <a:cubicBezTo>
                        <a:pt x="61" y="99"/>
                        <a:pt x="56" y="95"/>
                        <a:pt x="56" y="91"/>
                      </a:cubicBezTo>
                      <a:close/>
                      <a:moveTo>
                        <a:pt x="72" y="83"/>
                      </a:moveTo>
                      <a:cubicBezTo>
                        <a:pt x="74" y="79"/>
                        <a:pt x="73" y="79"/>
                        <a:pt x="77" y="77"/>
                      </a:cubicBezTo>
                      <a:cubicBezTo>
                        <a:pt x="79" y="75"/>
                        <a:pt x="82" y="75"/>
                        <a:pt x="83" y="73"/>
                      </a:cubicBezTo>
                      <a:cubicBezTo>
                        <a:pt x="88" y="76"/>
                        <a:pt x="89" y="76"/>
                        <a:pt x="90" y="82"/>
                      </a:cubicBezTo>
                      <a:cubicBezTo>
                        <a:pt x="92" y="95"/>
                        <a:pt x="92" y="95"/>
                        <a:pt x="92" y="95"/>
                      </a:cubicBezTo>
                      <a:cubicBezTo>
                        <a:pt x="93" y="96"/>
                        <a:pt x="93" y="96"/>
                        <a:pt x="93" y="96"/>
                      </a:cubicBezTo>
                      <a:cubicBezTo>
                        <a:pt x="94" y="99"/>
                        <a:pt x="94" y="99"/>
                        <a:pt x="94" y="99"/>
                      </a:cubicBezTo>
                      <a:cubicBezTo>
                        <a:pt x="91" y="105"/>
                        <a:pt x="93" y="103"/>
                        <a:pt x="88" y="106"/>
                      </a:cubicBezTo>
                      <a:cubicBezTo>
                        <a:pt x="83" y="101"/>
                        <a:pt x="82" y="101"/>
                        <a:pt x="79" y="95"/>
                      </a:cubicBezTo>
                      <a:cubicBezTo>
                        <a:pt x="77" y="93"/>
                        <a:pt x="77" y="91"/>
                        <a:pt x="75" y="89"/>
                      </a:cubicBezTo>
                      <a:cubicBezTo>
                        <a:pt x="73" y="87"/>
                        <a:pt x="73" y="86"/>
                        <a:pt x="72" y="83"/>
                      </a:cubicBezTo>
                      <a:close/>
                      <a:moveTo>
                        <a:pt x="91" y="29"/>
                      </a:moveTo>
                      <a:cubicBezTo>
                        <a:pt x="91" y="22"/>
                        <a:pt x="95" y="12"/>
                        <a:pt x="95" y="4"/>
                      </a:cubicBezTo>
                      <a:cubicBezTo>
                        <a:pt x="95" y="4"/>
                        <a:pt x="95" y="4"/>
                        <a:pt x="95" y="4"/>
                      </a:cubicBezTo>
                      <a:cubicBezTo>
                        <a:pt x="95" y="3"/>
                        <a:pt x="95" y="3"/>
                        <a:pt x="95" y="3"/>
                      </a:cubicBezTo>
                      <a:cubicBezTo>
                        <a:pt x="93" y="0"/>
                        <a:pt x="95" y="1"/>
                        <a:pt x="92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0"/>
                        <a:pt x="85" y="0"/>
                        <a:pt x="85" y="0"/>
                      </a:cubicBezTo>
                      <a:cubicBezTo>
                        <a:pt x="82" y="1"/>
                        <a:pt x="80" y="4"/>
                        <a:pt x="80" y="7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0"/>
                        <a:pt x="83" y="30"/>
                        <a:pt x="83" y="30"/>
                      </a:cubicBezTo>
                      <a:cubicBezTo>
                        <a:pt x="83" y="38"/>
                        <a:pt x="86" y="44"/>
                        <a:pt x="86" y="49"/>
                      </a:cubicBezTo>
                      <a:cubicBezTo>
                        <a:pt x="86" y="50"/>
                        <a:pt x="86" y="50"/>
                        <a:pt x="86" y="50"/>
                      </a:cubicBezTo>
                      <a:cubicBezTo>
                        <a:pt x="87" y="62"/>
                        <a:pt x="87" y="62"/>
                        <a:pt x="87" y="62"/>
                      </a:cubicBezTo>
                      <a:cubicBezTo>
                        <a:pt x="87" y="68"/>
                        <a:pt x="52" y="81"/>
                        <a:pt x="46" y="84"/>
                      </a:cubicBezTo>
                      <a:cubicBezTo>
                        <a:pt x="39" y="87"/>
                        <a:pt x="31" y="89"/>
                        <a:pt x="23" y="92"/>
                      </a:cubicBezTo>
                      <a:cubicBezTo>
                        <a:pt x="20" y="94"/>
                        <a:pt x="0" y="96"/>
                        <a:pt x="0" y="99"/>
                      </a:cubicBezTo>
                      <a:cubicBezTo>
                        <a:pt x="0" y="101"/>
                        <a:pt x="9" y="108"/>
                        <a:pt x="11" y="108"/>
                      </a:cubicBezTo>
                      <a:cubicBezTo>
                        <a:pt x="13" y="108"/>
                        <a:pt x="13" y="108"/>
                        <a:pt x="13" y="108"/>
                      </a:cubicBezTo>
                      <a:cubicBezTo>
                        <a:pt x="14" y="108"/>
                        <a:pt x="14" y="108"/>
                        <a:pt x="14" y="108"/>
                      </a:cubicBezTo>
                      <a:cubicBezTo>
                        <a:pt x="20" y="105"/>
                        <a:pt x="24" y="103"/>
                        <a:pt x="30" y="100"/>
                      </a:cubicBezTo>
                      <a:cubicBezTo>
                        <a:pt x="34" y="98"/>
                        <a:pt x="41" y="93"/>
                        <a:pt x="45" y="93"/>
                      </a:cubicBezTo>
                      <a:cubicBezTo>
                        <a:pt x="46" y="93"/>
                        <a:pt x="46" y="93"/>
                        <a:pt x="47" y="92"/>
                      </a:cubicBezTo>
                      <a:cubicBezTo>
                        <a:pt x="49" y="94"/>
                        <a:pt x="52" y="96"/>
                        <a:pt x="51" y="101"/>
                      </a:cubicBezTo>
                      <a:cubicBezTo>
                        <a:pt x="51" y="109"/>
                        <a:pt x="51" y="109"/>
                        <a:pt x="51" y="109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50" y="118"/>
                        <a:pt x="50" y="118"/>
                        <a:pt x="50" y="118"/>
                      </a:cubicBezTo>
                      <a:cubicBezTo>
                        <a:pt x="50" y="119"/>
                        <a:pt x="50" y="119"/>
                        <a:pt x="50" y="120"/>
                      </a:cubicBezTo>
                      <a:cubicBezTo>
                        <a:pt x="51" y="123"/>
                        <a:pt x="51" y="123"/>
                        <a:pt x="54" y="125"/>
                      </a:cubicBezTo>
                      <a:cubicBezTo>
                        <a:pt x="56" y="125"/>
                        <a:pt x="56" y="125"/>
                        <a:pt x="56" y="125"/>
                      </a:cubicBezTo>
                      <a:cubicBezTo>
                        <a:pt x="59" y="125"/>
                        <a:pt x="60" y="121"/>
                        <a:pt x="62" y="119"/>
                      </a:cubicBezTo>
                      <a:cubicBezTo>
                        <a:pt x="62" y="118"/>
                        <a:pt x="62" y="118"/>
                        <a:pt x="62" y="118"/>
                      </a:cubicBezTo>
                      <a:cubicBezTo>
                        <a:pt x="62" y="113"/>
                        <a:pt x="62" y="113"/>
                        <a:pt x="62" y="113"/>
                      </a:cubicBezTo>
                      <a:cubicBezTo>
                        <a:pt x="63" y="110"/>
                        <a:pt x="68" y="106"/>
                        <a:pt x="71" y="106"/>
                      </a:cubicBezTo>
                      <a:cubicBezTo>
                        <a:pt x="75" y="106"/>
                        <a:pt x="77" y="109"/>
                        <a:pt x="78" y="111"/>
                      </a:cubicBezTo>
                      <a:cubicBezTo>
                        <a:pt x="78" y="112"/>
                        <a:pt x="78" y="112"/>
                        <a:pt x="78" y="112"/>
                      </a:cubicBezTo>
                      <a:cubicBezTo>
                        <a:pt x="78" y="113"/>
                        <a:pt x="78" y="113"/>
                        <a:pt x="78" y="113"/>
                      </a:cubicBezTo>
                      <a:cubicBezTo>
                        <a:pt x="78" y="115"/>
                        <a:pt x="78" y="115"/>
                        <a:pt x="79" y="116"/>
                      </a:cubicBezTo>
                      <a:cubicBezTo>
                        <a:pt x="78" y="117"/>
                        <a:pt x="78" y="117"/>
                        <a:pt x="78" y="118"/>
                      </a:cubicBezTo>
                      <a:cubicBezTo>
                        <a:pt x="78" y="119"/>
                        <a:pt x="78" y="119"/>
                        <a:pt x="78" y="119"/>
                      </a:cubicBezTo>
                      <a:cubicBezTo>
                        <a:pt x="72" y="130"/>
                        <a:pt x="57" y="140"/>
                        <a:pt x="46" y="147"/>
                      </a:cubicBezTo>
                      <a:cubicBezTo>
                        <a:pt x="44" y="148"/>
                        <a:pt x="40" y="151"/>
                        <a:pt x="37" y="152"/>
                      </a:cubicBezTo>
                      <a:cubicBezTo>
                        <a:pt x="35" y="153"/>
                        <a:pt x="29" y="157"/>
                        <a:pt x="28" y="158"/>
                      </a:cubicBezTo>
                      <a:cubicBezTo>
                        <a:pt x="25" y="161"/>
                        <a:pt x="12" y="165"/>
                        <a:pt x="6" y="165"/>
                      </a:cubicBezTo>
                      <a:cubicBezTo>
                        <a:pt x="4" y="165"/>
                        <a:pt x="2" y="168"/>
                        <a:pt x="1" y="170"/>
                      </a:cubicBezTo>
                      <a:cubicBezTo>
                        <a:pt x="4" y="171"/>
                        <a:pt x="4" y="173"/>
                        <a:pt x="7" y="175"/>
                      </a:cubicBezTo>
                      <a:cubicBezTo>
                        <a:pt x="10" y="176"/>
                        <a:pt x="12" y="176"/>
                        <a:pt x="14" y="178"/>
                      </a:cubicBezTo>
                      <a:cubicBezTo>
                        <a:pt x="18" y="179"/>
                        <a:pt x="18" y="179"/>
                        <a:pt x="18" y="179"/>
                      </a:cubicBezTo>
                      <a:cubicBezTo>
                        <a:pt x="20" y="179"/>
                        <a:pt x="18" y="179"/>
                        <a:pt x="20" y="179"/>
                      </a:cubicBezTo>
                      <a:cubicBezTo>
                        <a:pt x="21" y="179"/>
                        <a:pt x="21" y="179"/>
                        <a:pt x="21" y="179"/>
                      </a:cubicBezTo>
                      <a:cubicBezTo>
                        <a:pt x="22" y="179"/>
                        <a:pt x="22" y="179"/>
                        <a:pt x="22" y="179"/>
                      </a:cubicBezTo>
                      <a:cubicBezTo>
                        <a:pt x="26" y="177"/>
                        <a:pt x="30" y="175"/>
                        <a:pt x="33" y="173"/>
                      </a:cubicBezTo>
                      <a:cubicBezTo>
                        <a:pt x="35" y="171"/>
                        <a:pt x="36" y="170"/>
                        <a:pt x="38" y="169"/>
                      </a:cubicBezTo>
                      <a:cubicBezTo>
                        <a:pt x="39" y="168"/>
                        <a:pt x="43" y="166"/>
                        <a:pt x="43" y="166"/>
                      </a:cubicBezTo>
                      <a:cubicBezTo>
                        <a:pt x="49" y="160"/>
                        <a:pt x="55" y="156"/>
                        <a:pt x="61" y="150"/>
                      </a:cubicBezTo>
                      <a:cubicBezTo>
                        <a:pt x="64" y="148"/>
                        <a:pt x="67" y="145"/>
                        <a:pt x="70" y="143"/>
                      </a:cubicBezTo>
                      <a:cubicBezTo>
                        <a:pt x="73" y="140"/>
                        <a:pt x="76" y="137"/>
                        <a:pt x="79" y="135"/>
                      </a:cubicBezTo>
                      <a:cubicBezTo>
                        <a:pt x="82" y="132"/>
                        <a:pt x="85" y="130"/>
                        <a:pt x="87" y="127"/>
                      </a:cubicBezTo>
                      <a:cubicBezTo>
                        <a:pt x="90" y="124"/>
                        <a:pt x="91" y="119"/>
                        <a:pt x="96" y="119"/>
                      </a:cubicBezTo>
                      <a:cubicBezTo>
                        <a:pt x="98" y="119"/>
                        <a:pt x="100" y="126"/>
                        <a:pt x="100" y="128"/>
                      </a:cubicBezTo>
                      <a:cubicBezTo>
                        <a:pt x="100" y="132"/>
                        <a:pt x="105" y="145"/>
                        <a:pt x="106" y="149"/>
                      </a:cubicBezTo>
                      <a:cubicBezTo>
                        <a:pt x="108" y="155"/>
                        <a:pt x="111" y="165"/>
                        <a:pt x="118" y="165"/>
                      </a:cubicBezTo>
                      <a:cubicBezTo>
                        <a:pt x="119" y="163"/>
                        <a:pt x="125" y="161"/>
                        <a:pt x="125" y="152"/>
                      </a:cubicBezTo>
                      <a:cubicBezTo>
                        <a:pt x="125" y="143"/>
                        <a:pt x="120" y="120"/>
                        <a:pt x="117" y="116"/>
                      </a:cubicBezTo>
                      <a:cubicBezTo>
                        <a:pt x="117" y="118"/>
                        <a:pt x="116" y="118"/>
                        <a:pt x="116" y="120"/>
                      </a:cubicBezTo>
                      <a:cubicBezTo>
                        <a:pt x="116" y="123"/>
                        <a:pt x="115" y="121"/>
                        <a:pt x="115" y="124"/>
                      </a:cubicBezTo>
                      <a:cubicBezTo>
                        <a:pt x="115" y="125"/>
                        <a:pt x="115" y="125"/>
                        <a:pt x="115" y="125"/>
                      </a:cubicBezTo>
                      <a:cubicBezTo>
                        <a:pt x="115" y="126"/>
                        <a:pt x="114" y="129"/>
                        <a:pt x="112" y="129"/>
                      </a:cubicBezTo>
                      <a:cubicBezTo>
                        <a:pt x="109" y="129"/>
                        <a:pt x="109" y="129"/>
                        <a:pt x="109" y="129"/>
                      </a:cubicBezTo>
                      <a:cubicBezTo>
                        <a:pt x="105" y="129"/>
                        <a:pt x="102" y="110"/>
                        <a:pt x="100" y="105"/>
                      </a:cubicBezTo>
                      <a:cubicBezTo>
                        <a:pt x="98" y="101"/>
                        <a:pt x="98" y="97"/>
                        <a:pt x="97" y="92"/>
                      </a:cubicBezTo>
                      <a:cubicBezTo>
                        <a:pt x="96" y="87"/>
                        <a:pt x="94" y="86"/>
                        <a:pt x="94" y="79"/>
                      </a:cubicBezTo>
                      <a:cubicBezTo>
                        <a:pt x="94" y="76"/>
                        <a:pt x="94" y="76"/>
                        <a:pt x="94" y="76"/>
                      </a:cubicBezTo>
                      <a:cubicBezTo>
                        <a:pt x="94" y="65"/>
                        <a:pt x="110" y="67"/>
                        <a:pt x="110" y="61"/>
                      </a:cubicBezTo>
                      <a:cubicBezTo>
                        <a:pt x="110" y="60"/>
                        <a:pt x="110" y="60"/>
                        <a:pt x="110" y="60"/>
                      </a:cubicBezTo>
                      <a:cubicBezTo>
                        <a:pt x="110" y="58"/>
                        <a:pt x="109" y="57"/>
                        <a:pt x="108" y="57"/>
                      </a:cubicBezTo>
                      <a:cubicBezTo>
                        <a:pt x="105" y="57"/>
                        <a:pt x="105" y="57"/>
                        <a:pt x="105" y="57"/>
                      </a:cubicBezTo>
                      <a:cubicBezTo>
                        <a:pt x="104" y="57"/>
                        <a:pt x="104" y="57"/>
                        <a:pt x="104" y="57"/>
                      </a:cubicBezTo>
                      <a:cubicBezTo>
                        <a:pt x="103" y="58"/>
                        <a:pt x="102" y="59"/>
                        <a:pt x="101" y="59"/>
                      </a:cubicBezTo>
                      <a:cubicBezTo>
                        <a:pt x="99" y="60"/>
                        <a:pt x="99" y="59"/>
                        <a:pt x="97" y="60"/>
                      </a:cubicBezTo>
                      <a:cubicBezTo>
                        <a:pt x="95" y="59"/>
                        <a:pt x="91" y="56"/>
                        <a:pt x="91" y="54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91" y="29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5" name="íşḷiḍé"/>
                <p:cNvSpPr/>
                <p:nvPr/>
              </p:nvSpPr>
              <p:spPr bwMode="auto">
                <a:xfrm>
                  <a:off x="5478463" y="3581400"/>
                  <a:ext cx="46038" cy="76200"/>
                </a:xfrm>
                <a:custGeom>
                  <a:avLst/>
                  <a:gdLst>
                    <a:gd name="T0" fmla="*/ 14 w 14"/>
                    <a:gd name="T1" fmla="*/ 15 h 23"/>
                    <a:gd name="T2" fmla="*/ 10 w 14"/>
                    <a:gd name="T3" fmla="*/ 6 h 23"/>
                    <a:gd name="T4" fmla="*/ 3 w 14"/>
                    <a:gd name="T5" fmla="*/ 0 h 23"/>
                    <a:gd name="T6" fmla="*/ 0 w 14"/>
                    <a:gd name="T7" fmla="*/ 3 h 23"/>
                    <a:gd name="T8" fmla="*/ 5 w 14"/>
                    <a:gd name="T9" fmla="*/ 11 h 23"/>
                    <a:gd name="T10" fmla="*/ 5 w 14"/>
                    <a:gd name="T11" fmla="*/ 12 h 23"/>
                    <a:gd name="T12" fmla="*/ 5 w 14"/>
                    <a:gd name="T13" fmla="*/ 14 h 23"/>
                    <a:gd name="T14" fmla="*/ 5 w 14"/>
                    <a:gd name="T15" fmla="*/ 15 h 23"/>
                    <a:gd name="T16" fmla="*/ 2 w 14"/>
                    <a:gd name="T17" fmla="*/ 19 h 23"/>
                    <a:gd name="T18" fmla="*/ 2 w 14"/>
                    <a:gd name="T19" fmla="*/ 22 h 23"/>
                    <a:gd name="T20" fmla="*/ 5 w 14"/>
                    <a:gd name="T21" fmla="*/ 23 h 23"/>
                    <a:gd name="T22" fmla="*/ 6 w 14"/>
                    <a:gd name="T23" fmla="*/ 23 h 23"/>
                    <a:gd name="T24" fmla="*/ 11 w 14"/>
                    <a:gd name="T25" fmla="*/ 20 h 23"/>
                    <a:gd name="T26" fmla="*/ 14 w 14"/>
                    <a:gd name="T27" fmla="*/ 15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23">
                      <a:moveTo>
                        <a:pt x="14" y="15"/>
                      </a:moveTo>
                      <a:cubicBezTo>
                        <a:pt x="14" y="11"/>
                        <a:pt x="12" y="9"/>
                        <a:pt x="10" y="6"/>
                      </a:cubicBezTo>
                      <a:cubicBezTo>
                        <a:pt x="8" y="5"/>
                        <a:pt x="3" y="1"/>
                        <a:pt x="3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11" y="21"/>
                        <a:pt x="11" y="20"/>
                      </a:cubicBezTo>
                      <a:cubicBezTo>
                        <a:pt x="13" y="19"/>
                        <a:pt x="13" y="17"/>
                        <a:pt x="14" y="15"/>
                      </a:cubicBez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6" name="ïš1íḑe"/>
                <p:cNvSpPr/>
                <p:nvPr/>
              </p:nvSpPr>
              <p:spPr bwMode="auto">
                <a:xfrm>
                  <a:off x="6310313" y="3136900"/>
                  <a:ext cx="406400" cy="554038"/>
                </a:xfrm>
                <a:custGeom>
                  <a:avLst/>
                  <a:gdLst>
                    <a:gd name="T0" fmla="*/ 101 w 123"/>
                    <a:gd name="T1" fmla="*/ 9 h 166"/>
                    <a:gd name="T2" fmla="*/ 96 w 123"/>
                    <a:gd name="T3" fmla="*/ 0 h 166"/>
                    <a:gd name="T4" fmla="*/ 76 w 123"/>
                    <a:gd name="T5" fmla="*/ 23 h 166"/>
                    <a:gd name="T6" fmla="*/ 66 w 123"/>
                    <a:gd name="T7" fmla="*/ 20 h 166"/>
                    <a:gd name="T8" fmla="*/ 69 w 123"/>
                    <a:gd name="T9" fmla="*/ 29 h 166"/>
                    <a:gd name="T10" fmla="*/ 64 w 123"/>
                    <a:gd name="T11" fmla="*/ 38 h 166"/>
                    <a:gd name="T12" fmla="*/ 71 w 123"/>
                    <a:gd name="T13" fmla="*/ 37 h 166"/>
                    <a:gd name="T14" fmla="*/ 78 w 123"/>
                    <a:gd name="T15" fmla="*/ 38 h 166"/>
                    <a:gd name="T16" fmla="*/ 104 w 123"/>
                    <a:gd name="T17" fmla="*/ 37 h 166"/>
                    <a:gd name="T18" fmla="*/ 97 w 123"/>
                    <a:gd name="T19" fmla="*/ 43 h 166"/>
                    <a:gd name="T20" fmla="*/ 85 w 123"/>
                    <a:gd name="T21" fmla="*/ 56 h 166"/>
                    <a:gd name="T22" fmla="*/ 78 w 123"/>
                    <a:gd name="T23" fmla="*/ 67 h 166"/>
                    <a:gd name="T24" fmla="*/ 72 w 123"/>
                    <a:gd name="T25" fmla="*/ 62 h 166"/>
                    <a:gd name="T26" fmla="*/ 72 w 123"/>
                    <a:gd name="T27" fmla="*/ 48 h 166"/>
                    <a:gd name="T28" fmla="*/ 63 w 123"/>
                    <a:gd name="T29" fmla="*/ 57 h 166"/>
                    <a:gd name="T30" fmla="*/ 56 w 123"/>
                    <a:gd name="T31" fmla="*/ 57 h 166"/>
                    <a:gd name="T32" fmla="*/ 61 w 123"/>
                    <a:gd name="T33" fmla="*/ 66 h 166"/>
                    <a:gd name="T34" fmla="*/ 59 w 123"/>
                    <a:gd name="T35" fmla="*/ 70 h 166"/>
                    <a:gd name="T36" fmla="*/ 68 w 123"/>
                    <a:gd name="T37" fmla="*/ 74 h 166"/>
                    <a:gd name="T38" fmla="*/ 68 w 123"/>
                    <a:gd name="T39" fmla="*/ 78 h 166"/>
                    <a:gd name="T40" fmla="*/ 40 w 123"/>
                    <a:gd name="T41" fmla="*/ 92 h 166"/>
                    <a:gd name="T42" fmla="*/ 24 w 123"/>
                    <a:gd name="T43" fmla="*/ 99 h 166"/>
                    <a:gd name="T44" fmla="*/ 3 w 123"/>
                    <a:gd name="T45" fmla="*/ 105 h 166"/>
                    <a:gd name="T46" fmla="*/ 2 w 123"/>
                    <a:gd name="T47" fmla="*/ 112 h 166"/>
                    <a:gd name="T48" fmla="*/ 14 w 123"/>
                    <a:gd name="T49" fmla="*/ 120 h 166"/>
                    <a:gd name="T50" fmla="*/ 32 w 123"/>
                    <a:gd name="T51" fmla="*/ 108 h 166"/>
                    <a:gd name="T52" fmla="*/ 55 w 123"/>
                    <a:gd name="T53" fmla="*/ 93 h 166"/>
                    <a:gd name="T54" fmla="*/ 63 w 123"/>
                    <a:gd name="T55" fmla="*/ 89 h 166"/>
                    <a:gd name="T56" fmla="*/ 82 w 123"/>
                    <a:gd name="T57" fmla="*/ 83 h 166"/>
                    <a:gd name="T58" fmla="*/ 82 w 123"/>
                    <a:gd name="T59" fmla="*/ 86 h 166"/>
                    <a:gd name="T60" fmla="*/ 74 w 123"/>
                    <a:gd name="T61" fmla="*/ 97 h 166"/>
                    <a:gd name="T62" fmla="*/ 61 w 123"/>
                    <a:gd name="T63" fmla="*/ 107 h 166"/>
                    <a:gd name="T64" fmla="*/ 64 w 123"/>
                    <a:gd name="T65" fmla="*/ 118 h 166"/>
                    <a:gd name="T66" fmla="*/ 55 w 123"/>
                    <a:gd name="T67" fmla="*/ 126 h 166"/>
                    <a:gd name="T68" fmla="*/ 40 w 123"/>
                    <a:gd name="T69" fmla="*/ 129 h 166"/>
                    <a:gd name="T70" fmla="*/ 30 w 123"/>
                    <a:gd name="T71" fmla="*/ 130 h 166"/>
                    <a:gd name="T72" fmla="*/ 35 w 123"/>
                    <a:gd name="T73" fmla="*/ 141 h 166"/>
                    <a:gd name="T74" fmla="*/ 38 w 123"/>
                    <a:gd name="T75" fmla="*/ 141 h 166"/>
                    <a:gd name="T76" fmla="*/ 56 w 123"/>
                    <a:gd name="T77" fmla="*/ 133 h 166"/>
                    <a:gd name="T78" fmla="*/ 63 w 123"/>
                    <a:gd name="T79" fmla="*/ 141 h 166"/>
                    <a:gd name="T80" fmla="*/ 56 w 123"/>
                    <a:gd name="T81" fmla="*/ 154 h 166"/>
                    <a:gd name="T82" fmla="*/ 53 w 123"/>
                    <a:gd name="T83" fmla="*/ 154 h 166"/>
                    <a:gd name="T84" fmla="*/ 49 w 123"/>
                    <a:gd name="T85" fmla="*/ 154 h 166"/>
                    <a:gd name="T86" fmla="*/ 46 w 123"/>
                    <a:gd name="T87" fmla="*/ 156 h 166"/>
                    <a:gd name="T88" fmla="*/ 56 w 123"/>
                    <a:gd name="T89" fmla="*/ 166 h 166"/>
                    <a:gd name="T90" fmla="*/ 71 w 123"/>
                    <a:gd name="T91" fmla="*/ 160 h 166"/>
                    <a:gd name="T92" fmla="*/ 75 w 123"/>
                    <a:gd name="T93" fmla="*/ 146 h 166"/>
                    <a:gd name="T94" fmla="*/ 80 w 123"/>
                    <a:gd name="T95" fmla="*/ 124 h 166"/>
                    <a:gd name="T96" fmla="*/ 94 w 123"/>
                    <a:gd name="T97" fmla="*/ 120 h 166"/>
                    <a:gd name="T98" fmla="*/ 81 w 123"/>
                    <a:gd name="T99" fmla="*/ 117 h 166"/>
                    <a:gd name="T100" fmla="*/ 72 w 123"/>
                    <a:gd name="T101" fmla="*/ 107 h 166"/>
                    <a:gd name="T102" fmla="*/ 78 w 123"/>
                    <a:gd name="T103" fmla="*/ 96 h 166"/>
                    <a:gd name="T104" fmla="*/ 92 w 123"/>
                    <a:gd name="T105" fmla="*/ 89 h 166"/>
                    <a:gd name="T106" fmla="*/ 102 w 123"/>
                    <a:gd name="T107" fmla="*/ 78 h 166"/>
                    <a:gd name="T108" fmla="*/ 95 w 123"/>
                    <a:gd name="T109" fmla="*/ 61 h 166"/>
                    <a:gd name="T110" fmla="*/ 109 w 123"/>
                    <a:gd name="T111" fmla="*/ 48 h 166"/>
                    <a:gd name="T112" fmla="*/ 116 w 123"/>
                    <a:gd name="T113" fmla="*/ 42 h 166"/>
                    <a:gd name="T114" fmla="*/ 121 w 123"/>
                    <a:gd name="T115" fmla="*/ 32 h 166"/>
                    <a:gd name="T116" fmla="*/ 116 w 123"/>
                    <a:gd name="T117" fmla="*/ 17 h 166"/>
                    <a:gd name="T118" fmla="*/ 104 w 123"/>
                    <a:gd name="T119" fmla="*/ 20 h 166"/>
                    <a:gd name="T120" fmla="*/ 93 w 123"/>
                    <a:gd name="T121" fmla="*/ 21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23" h="166">
                      <a:moveTo>
                        <a:pt x="93" y="21"/>
                      </a:moveTo>
                      <a:cubicBezTo>
                        <a:pt x="94" y="14"/>
                        <a:pt x="98" y="14"/>
                        <a:pt x="101" y="9"/>
                      </a:cubicBezTo>
                      <a:cubicBezTo>
                        <a:pt x="101" y="8"/>
                        <a:pt x="101" y="8"/>
                        <a:pt x="101" y="8"/>
                      </a:cubicBezTo>
                      <a:cubicBezTo>
                        <a:pt x="101" y="5"/>
                        <a:pt x="97" y="1"/>
                        <a:pt x="96" y="0"/>
                      </a:cubicBezTo>
                      <a:cubicBezTo>
                        <a:pt x="89" y="3"/>
                        <a:pt x="91" y="6"/>
                        <a:pt x="88" y="13"/>
                      </a:cubicBezTo>
                      <a:cubicBezTo>
                        <a:pt x="85" y="17"/>
                        <a:pt x="82" y="23"/>
                        <a:pt x="76" y="23"/>
                      </a:cubicBezTo>
                      <a:cubicBezTo>
                        <a:pt x="75" y="23"/>
                        <a:pt x="70" y="18"/>
                        <a:pt x="67" y="17"/>
                      </a:cubicBezTo>
                      <a:cubicBezTo>
                        <a:pt x="66" y="20"/>
                        <a:pt x="66" y="20"/>
                        <a:pt x="66" y="20"/>
                      </a:cubicBezTo>
                      <a:cubicBezTo>
                        <a:pt x="67" y="23"/>
                        <a:pt x="69" y="24"/>
                        <a:pt x="69" y="28"/>
                      </a:cubicBezTo>
                      <a:cubicBezTo>
                        <a:pt x="69" y="29"/>
                        <a:pt x="69" y="29"/>
                        <a:pt x="69" y="29"/>
                      </a:cubicBezTo>
                      <a:cubicBezTo>
                        <a:pt x="69" y="29"/>
                        <a:pt x="63" y="36"/>
                        <a:pt x="62" y="37"/>
                      </a:cubicBezTo>
                      <a:cubicBezTo>
                        <a:pt x="63" y="38"/>
                        <a:pt x="61" y="38"/>
                        <a:pt x="64" y="38"/>
                      </a:cubicBezTo>
                      <a:cubicBezTo>
                        <a:pt x="64" y="38"/>
                        <a:pt x="64" y="38"/>
                        <a:pt x="64" y="38"/>
                      </a:cubicBezTo>
                      <a:cubicBezTo>
                        <a:pt x="71" y="37"/>
                        <a:pt x="71" y="37"/>
                        <a:pt x="71" y="37"/>
                      </a:cubicBezTo>
                      <a:cubicBezTo>
                        <a:pt x="74" y="37"/>
                        <a:pt x="74" y="38"/>
                        <a:pt x="78" y="38"/>
                      </a:cubicBezTo>
                      <a:cubicBezTo>
                        <a:pt x="78" y="38"/>
                        <a:pt x="78" y="38"/>
                        <a:pt x="78" y="38"/>
                      </a:cubicBezTo>
                      <a:cubicBezTo>
                        <a:pt x="79" y="38"/>
                        <a:pt x="84" y="33"/>
                        <a:pt x="91" y="32"/>
                      </a:cubicBezTo>
                      <a:cubicBezTo>
                        <a:pt x="96" y="31"/>
                        <a:pt x="104" y="30"/>
                        <a:pt x="104" y="37"/>
                      </a:cubicBezTo>
                      <a:cubicBezTo>
                        <a:pt x="104" y="39"/>
                        <a:pt x="102" y="41"/>
                        <a:pt x="101" y="43"/>
                      </a:cubicBezTo>
                      <a:cubicBezTo>
                        <a:pt x="98" y="43"/>
                        <a:pt x="99" y="43"/>
                        <a:pt x="97" y="43"/>
                      </a:cubicBezTo>
                      <a:cubicBezTo>
                        <a:pt x="96" y="43"/>
                        <a:pt x="93" y="42"/>
                        <a:pt x="92" y="41"/>
                      </a:cubicBezTo>
                      <a:cubicBezTo>
                        <a:pt x="85" y="46"/>
                        <a:pt x="88" y="49"/>
                        <a:pt x="85" y="56"/>
                      </a:cubicBezTo>
                      <a:cubicBezTo>
                        <a:pt x="84" y="57"/>
                        <a:pt x="81" y="64"/>
                        <a:pt x="81" y="64"/>
                      </a:cubicBezTo>
                      <a:cubicBezTo>
                        <a:pt x="80" y="66"/>
                        <a:pt x="80" y="64"/>
                        <a:pt x="78" y="67"/>
                      </a:cubicBezTo>
                      <a:cubicBezTo>
                        <a:pt x="77" y="70"/>
                        <a:pt x="78" y="68"/>
                        <a:pt x="76" y="70"/>
                      </a:cubicBezTo>
                      <a:cubicBezTo>
                        <a:pt x="74" y="67"/>
                        <a:pt x="72" y="66"/>
                        <a:pt x="72" y="62"/>
                      </a:cubicBezTo>
                      <a:cubicBezTo>
                        <a:pt x="72" y="61"/>
                        <a:pt x="75" y="55"/>
                        <a:pt x="76" y="54"/>
                      </a:cubicBezTo>
                      <a:cubicBezTo>
                        <a:pt x="75" y="51"/>
                        <a:pt x="75" y="48"/>
                        <a:pt x="72" y="48"/>
                      </a:cubicBezTo>
                      <a:cubicBezTo>
                        <a:pt x="71" y="48"/>
                        <a:pt x="70" y="49"/>
                        <a:pt x="70" y="49"/>
                      </a:cubicBezTo>
                      <a:cubicBezTo>
                        <a:pt x="70" y="55"/>
                        <a:pt x="67" y="55"/>
                        <a:pt x="63" y="57"/>
                      </a:cubicBezTo>
                      <a:cubicBezTo>
                        <a:pt x="62" y="56"/>
                        <a:pt x="60" y="55"/>
                        <a:pt x="59" y="55"/>
                      </a:cubicBezTo>
                      <a:cubicBezTo>
                        <a:pt x="58" y="55"/>
                        <a:pt x="56" y="57"/>
                        <a:pt x="56" y="57"/>
                      </a:cubicBezTo>
                      <a:cubicBezTo>
                        <a:pt x="58" y="60"/>
                        <a:pt x="59" y="60"/>
                        <a:pt x="61" y="64"/>
                      </a:cubicBezTo>
                      <a:cubicBezTo>
                        <a:pt x="61" y="66"/>
                        <a:pt x="61" y="66"/>
                        <a:pt x="61" y="66"/>
                      </a:cubicBezTo>
                      <a:cubicBezTo>
                        <a:pt x="61" y="67"/>
                        <a:pt x="61" y="67"/>
                        <a:pt x="61" y="67"/>
                      </a:cubicBezTo>
                      <a:cubicBezTo>
                        <a:pt x="59" y="70"/>
                        <a:pt x="59" y="70"/>
                        <a:pt x="59" y="70"/>
                      </a:cubicBezTo>
                      <a:cubicBezTo>
                        <a:pt x="60" y="71"/>
                        <a:pt x="58" y="71"/>
                        <a:pt x="61" y="71"/>
                      </a:cubicBezTo>
                      <a:cubicBezTo>
                        <a:pt x="64" y="71"/>
                        <a:pt x="66" y="72"/>
                        <a:pt x="68" y="74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68" y="78"/>
                        <a:pt x="68" y="78"/>
                        <a:pt x="68" y="78"/>
                      </a:cubicBezTo>
                      <a:cubicBezTo>
                        <a:pt x="68" y="82"/>
                        <a:pt x="58" y="85"/>
                        <a:pt x="55" y="86"/>
                      </a:cubicBezTo>
                      <a:cubicBezTo>
                        <a:pt x="50" y="88"/>
                        <a:pt x="44" y="91"/>
                        <a:pt x="40" y="92"/>
                      </a:cubicBezTo>
                      <a:cubicBezTo>
                        <a:pt x="36" y="94"/>
                        <a:pt x="35" y="94"/>
                        <a:pt x="32" y="96"/>
                      </a:cubicBezTo>
                      <a:cubicBezTo>
                        <a:pt x="29" y="97"/>
                        <a:pt x="27" y="97"/>
                        <a:pt x="24" y="99"/>
                      </a:cubicBezTo>
                      <a:cubicBezTo>
                        <a:pt x="20" y="101"/>
                        <a:pt x="13" y="104"/>
                        <a:pt x="9" y="104"/>
                      </a:cubicBezTo>
                      <a:cubicBezTo>
                        <a:pt x="3" y="105"/>
                        <a:pt x="3" y="105"/>
                        <a:pt x="3" y="105"/>
                      </a:cubicBezTo>
                      <a:cubicBezTo>
                        <a:pt x="1" y="105"/>
                        <a:pt x="1" y="106"/>
                        <a:pt x="0" y="107"/>
                      </a:cubicBezTo>
                      <a:cubicBezTo>
                        <a:pt x="0" y="108"/>
                        <a:pt x="0" y="111"/>
                        <a:pt x="2" y="112"/>
                      </a:cubicBezTo>
                      <a:cubicBezTo>
                        <a:pt x="4" y="114"/>
                        <a:pt x="3" y="114"/>
                        <a:pt x="5" y="115"/>
                      </a:cubicBezTo>
                      <a:cubicBezTo>
                        <a:pt x="6" y="116"/>
                        <a:pt x="12" y="119"/>
                        <a:pt x="14" y="120"/>
                      </a:cubicBezTo>
                      <a:cubicBezTo>
                        <a:pt x="15" y="119"/>
                        <a:pt x="15" y="119"/>
                        <a:pt x="17" y="119"/>
                      </a:cubicBezTo>
                      <a:cubicBezTo>
                        <a:pt x="20" y="119"/>
                        <a:pt x="30" y="110"/>
                        <a:pt x="32" y="108"/>
                      </a:cubicBezTo>
                      <a:cubicBezTo>
                        <a:pt x="36" y="104"/>
                        <a:pt x="42" y="101"/>
                        <a:pt x="47" y="98"/>
                      </a:cubicBezTo>
                      <a:cubicBezTo>
                        <a:pt x="50" y="96"/>
                        <a:pt x="52" y="95"/>
                        <a:pt x="55" y="93"/>
                      </a:cubicBezTo>
                      <a:cubicBezTo>
                        <a:pt x="57" y="92"/>
                        <a:pt x="58" y="92"/>
                        <a:pt x="59" y="91"/>
                      </a:cubicBezTo>
                      <a:cubicBezTo>
                        <a:pt x="61" y="90"/>
                        <a:pt x="61" y="90"/>
                        <a:pt x="63" y="89"/>
                      </a:cubicBezTo>
                      <a:cubicBezTo>
                        <a:pt x="68" y="87"/>
                        <a:pt x="74" y="80"/>
                        <a:pt x="79" y="80"/>
                      </a:cubicBezTo>
                      <a:cubicBezTo>
                        <a:pt x="81" y="80"/>
                        <a:pt x="82" y="82"/>
                        <a:pt x="82" y="83"/>
                      </a:cubicBezTo>
                      <a:cubicBezTo>
                        <a:pt x="82" y="85"/>
                        <a:pt x="82" y="85"/>
                        <a:pt x="82" y="85"/>
                      </a:cubicBezTo>
                      <a:cubicBezTo>
                        <a:pt x="82" y="86"/>
                        <a:pt x="82" y="86"/>
                        <a:pt x="82" y="86"/>
                      </a:cubicBezTo>
                      <a:cubicBezTo>
                        <a:pt x="80" y="90"/>
                        <a:pt x="79" y="89"/>
                        <a:pt x="78" y="93"/>
                      </a:cubicBezTo>
                      <a:cubicBezTo>
                        <a:pt x="75" y="94"/>
                        <a:pt x="75" y="94"/>
                        <a:pt x="74" y="97"/>
                      </a:cubicBezTo>
                      <a:cubicBezTo>
                        <a:pt x="69" y="98"/>
                        <a:pt x="71" y="99"/>
                        <a:pt x="67" y="101"/>
                      </a:cubicBezTo>
                      <a:cubicBezTo>
                        <a:pt x="63" y="103"/>
                        <a:pt x="63" y="103"/>
                        <a:pt x="61" y="107"/>
                      </a:cubicBezTo>
                      <a:cubicBezTo>
                        <a:pt x="61" y="110"/>
                        <a:pt x="64" y="114"/>
                        <a:pt x="64" y="117"/>
                      </a:cubicBezTo>
                      <a:cubicBezTo>
                        <a:pt x="64" y="118"/>
                        <a:pt x="64" y="118"/>
                        <a:pt x="64" y="118"/>
                      </a:cubicBezTo>
                      <a:cubicBezTo>
                        <a:pt x="64" y="119"/>
                        <a:pt x="64" y="119"/>
                        <a:pt x="64" y="119"/>
                      </a:cubicBezTo>
                      <a:cubicBezTo>
                        <a:pt x="61" y="123"/>
                        <a:pt x="60" y="125"/>
                        <a:pt x="55" y="126"/>
                      </a:cubicBezTo>
                      <a:cubicBezTo>
                        <a:pt x="51" y="127"/>
                        <a:pt x="43" y="129"/>
                        <a:pt x="41" y="129"/>
                      </a:cubicBezTo>
                      <a:cubicBezTo>
                        <a:pt x="40" y="129"/>
                        <a:pt x="40" y="129"/>
                        <a:pt x="40" y="129"/>
                      </a:cubicBezTo>
                      <a:cubicBezTo>
                        <a:pt x="32" y="130"/>
                        <a:pt x="32" y="130"/>
                        <a:pt x="32" y="130"/>
                      </a:cubicBezTo>
                      <a:cubicBezTo>
                        <a:pt x="30" y="130"/>
                        <a:pt x="30" y="130"/>
                        <a:pt x="30" y="130"/>
                      </a:cubicBezTo>
                      <a:cubicBezTo>
                        <a:pt x="27" y="132"/>
                        <a:pt x="27" y="132"/>
                        <a:pt x="27" y="132"/>
                      </a:cubicBezTo>
                      <a:cubicBezTo>
                        <a:pt x="30" y="136"/>
                        <a:pt x="30" y="138"/>
                        <a:pt x="35" y="141"/>
                      </a:cubicBezTo>
                      <a:cubicBezTo>
                        <a:pt x="36" y="141"/>
                        <a:pt x="36" y="141"/>
                        <a:pt x="36" y="141"/>
                      </a:cubicBezTo>
                      <a:cubicBezTo>
                        <a:pt x="38" y="141"/>
                        <a:pt x="38" y="141"/>
                        <a:pt x="38" y="141"/>
                      </a:cubicBezTo>
                      <a:cubicBezTo>
                        <a:pt x="39" y="141"/>
                        <a:pt x="39" y="141"/>
                        <a:pt x="39" y="141"/>
                      </a:cubicBezTo>
                      <a:cubicBezTo>
                        <a:pt x="43" y="138"/>
                        <a:pt x="51" y="133"/>
                        <a:pt x="56" y="133"/>
                      </a:cubicBezTo>
                      <a:cubicBezTo>
                        <a:pt x="58" y="133"/>
                        <a:pt x="58" y="133"/>
                        <a:pt x="58" y="133"/>
                      </a:cubicBezTo>
                      <a:cubicBezTo>
                        <a:pt x="62" y="133"/>
                        <a:pt x="63" y="137"/>
                        <a:pt x="63" y="141"/>
                      </a:cubicBezTo>
                      <a:cubicBezTo>
                        <a:pt x="63" y="143"/>
                        <a:pt x="63" y="143"/>
                        <a:pt x="63" y="143"/>
                      </a:cubicBezTo>
                      <a:cubicBezTo>
                        <a:pt x="63" y="150"/>
                        <a:pt x="60" y="152"/>
                        <a:pt x="56" y="154"/>
                      </a:cubicBezTo>
                      <a:cubicBezTo>
                        <a:pt x="55" y="154"/>
                        <a:pt x="55" y="154"/>
                        <a:pt x="55" y="154"/>
                      </a:cubicBezTo>
                      <a:cubicBezTo>
                        <a:pt x="53" y="154"/>
                        <a:pt x="53" y="154"/>
                        <a:pt x="53" y="154"/>
                      </a:cubicBezTo>
                      <a:cubicBezTo>
                        <a:pt x="52" y="154"/>
                        <a:pt x="52" y="154"/>
                        <a:pt x="51" y="153"/>
                      </a:cubicBezTo>
                      <a:cubicBezTo>
                        <a:pt x="50" y="154"/>
                        <a:pt x="50" y="154"/>
                        <a:pt x="49" y="154"/>
                      </a:cubicBezTo>
                      <a:cubicBezTo>
                        <a:pt x="47" y="154"/>
                        <a:pt x="47" y="154"/>
                        <a:pt x="47" y="154"/>
                      </a:cubicBezTo>
                      <a:cubicBezTo>
                        <a:pt x="47" y="155"/>
                        <a:pt x="46" y="155"/>
                        <a:pt x="46" y="156"/>
                      </a:cubicBezTo>
                      <a:cubicBezTo>
                        <a:pt x="46" y="158"/>
                        <a:pt x="53" y="165"/>
                        <a:pt x="55" y="166"/>
                      </a:cubicBezTo>
                      <a:cubicBezTo>
                        <a:pt x="56" y="166"/>
                        <a:pt x="56" y="166"/>
                        <a:pt x="56" y="166"/>
                      </a:cubicBezTo>
                      <a:cubicBezTo>
                        <a:pt x="61" y="166"/>
                        <a:pt x="61" y="166"/>
                        <a:pt x="61" y="166"/>
                      </a:cubicBezTo>
                      <a:cubicBezTo>
                        <a:pt x="66" y="166"/>
                        <a:pt x="69" y="163"/>
                        <a:pt x="71" y="160"/>
                      </a:cubicBezTo>
                      <a:cubicBezTo>
                        <a:pt x="74" y="155"/>
                        <a:pt x="74" y="151"/>
                        <a:pt x="76" y="148"/>
                      </a:cubicBezTo>
                      <a:cubicBezTo>
                        <a:pt x="75" y="146"/>
                        <a:pt x="75" y="148"/>
                        <a:pt x="75" y="146"/>
                      </a:cubicBezTo>
                      <a:cubicBezTo>
                        <a:pt x="75" y="138"/>
                        <a:pt x="75" y="138"/>
                        <a:pt x="75" y="138"/>
                      </a:cubicBezTo>
                      <a:cubicBezTo>
                        <a:pt x="75" y="130"/>
                        <a:pt x="74" y="128"/>
                        <a:pt x="80" y="124"/>
                      </a:cubicBezTo>
                      <a:cubicBezTo>
                        <a:pt x="81" y="124"/>
                        <a:pt x="81" y="124"/>
                        <a:pt x="81" y="124"/>
                      </a:cubicBezTo>
                      <a:cubicBezTo>
                        <a:pt x="90" y="124"/>
                        <a:pt x="90" y="127"/>
                        <a:pt x="94" y="120"/>
                      </a:cubicBezTo>
                      <a:cubicBezTo>
                        <a:pt x="92" y="117"/>
                        <a:pt x="91" y="116"/>
                        <a:pt x="88" y="115"/>
                      </a:cubicBezTo>
                      <a:cubicBezTo>
                        <a:pt x="86" y="116"/>
                        <a:pt x="84" y="117"/>
                        <a:pt x="81" y="117"/>
                      </a:cubicBezTo>
                      <a:cubicBezTo>
                        <a:pt x="79" y="117"/>
                        <a:pt x="79" y="117"/>
                        <a:pt x="79" y="117"/>
                      </a:cubicBezTo>
                      <a:cubicBezTo>
                        <a:pt x="77" y="116"/>
                        <a:pt x="72" y="109"/>
                        <a:pt x="72" y="107"/>
                      </a:cubicBezTo>
                      <a:cubicBezTo>
                        <a:pt x="72" y="105"/>
                        <a:pt x="72" y="105"/>
                        <a:pt x="72" y="105"/>
                      </a:cubicBezTo>
                      <a:cubicBezTo>
                        <a:pt x="72" y="99"/>
                        <a:pt x="75" y="100"/>
                        <a:pt x="78" y="96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82" y="93"/>
                        <a:pt x="89" y="90"/>
                        <a:pt x="92" y="89"/>
                      </a:cubicBezTo>
                      <a:cubicBezTo>
                        <a:pt x="95" y="87"/>
                        <a:pt x="101" y="83"/>
                        <a:pt x="101" y="80"/>
                      </a:cubicBezTo>
                      <a:cubicBezTo>
                        <a:pt x="101" y="77"/>
                        <a:pt x="101" y="79"/>
                        <a:pt x="102" y="78"/>
                      </a:cubicBezTo>
                      <a:cubicBezTo>
                        <a:pt x="101" y="77"/>
                        <a:pt x="101" y="79"/>
                        <a:pt x="101" y="77"/>
                      </a:cubicBezTo>
                      <a:cubicBezTo>
                        <a:pt x="101" y="73"/>
                        <a:pt x="96" y="64"/>
                        <a:pt x="95" y="61"/>
                      </a:cubicBezTo>
                      <a:cubicBezTo>
                        <a:pt x="95" y="61"/>
                        <a:pt x="101" y="55"/>
                        <a:pt x="102" y="55"/>
                      </a:cubicBezTo>
                      <a:cubicBezTo>
                        <a:pt x="104" y="52"/>
                        <a:pt x="106" y="51"/>
                        <a:pt x="109" y="48"/>
                      </a:cubicBezTo>
                      <a:cubicBezTo>
                        <a:pt x="110" y="47"/>
                        <a:pt x="112" y="46"/>
                        <a:pt x="113" y="45"/>
                      </a:cubicBezTo>
                      <a:cubicBezTo>
                        <a:pt x="114" y="44"/>
                        <a:pt x="115" y="43"/>
                        <a:pt x="116" y="42"/>
                      </a:cubicBezTo>
                      <a:cubicBezTo>
                        <a:pt x="118" y="39"/>
                        <a:pt x="118" y="35"/>
                        <a:pt x="121" y="34"/>
                      </a:cubicBezTo>
                      <a:cubicBezTo>
                        <a:pt x="121" y="32"/>
                        <a:pt x="121" y="32"/>
                        <a:pt x="121" y="32"/>
                      </a:cubicBezTo>
                      <a:cubicBezTo>
                        <a:pt x="121" y="27"/>
                        <a:pt x="123" y="30"/>
                        <a:pt x="120" y="24"/>
                      </a:cubicBezTo>
                      <a:cubicBezTo>
                        <a:pt x="118" y="20"/>
                        <a:pt x="118" y="20"/>
                        <a:pt x="116" y="17"/>
                      </a:cubicBezTo>
                      <a:cubicBezTo>
                        <a:pt x="113" y="17"/>
                        <a:pt x="113" y="17"/>
                        <a:pt x="113" y="17"/>
                      </a:cubicBezTo>
                      <a:cubicBezTo>
                        <a:pt x="111" y="17"/>
                        <a:pt x="105" y="19"/>
                        <a:pt x="104" y="20"/>
                      </a:cubicBezTo>
                      <a:cubicBezTo>
                        <a:pt x="101" y="23"/>
                        <a:pt x="102" y="23"/>
                        <a:pt x="96" y="24"/>
                      </a:cubicBezTo>
                      <a:lnTo>
                        <a:pt x="93" y="21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07" name="işḷïḓê"/>
                <p:cNvSpPr/>
                <p:nvPr/>
              </p:nvSpPr>
              <p:spPr bwMode="auto">
                <a:xfrm>
                  <a:off x="5159376" y="3357563"/>
                  <a:ext cx="117475" cy="366713"/>
                </a:xfrm>
                <a:custGeom>
                  <a:avLst/>
                  <a:gdLst>
                    <a:gd name="T0" fmla="*/ 23 w 36"/>
                    <a:gd name="T1" fmla="*/ 14 h 110"/>
                    <a:gd name="T2" fmla="*/ 23 w 36"/>
                    <a:gd name="T3" fmla="*/ 12 h 110"/>
                    <a:gd name="T4" fmla="*/ 18 w 36"/>
                    <a:gd name="T5" fmla="*/ 6 h 110"/>
                    <a:gd name="T6" fmla="*/ 13 w 36"/>
                    <a:gd name="T7" fmla="*/ 0 h 110"/>
                    <a:gd name="T8" fmla="*/ 11 w 36"/>
                    <a:gd name="T9" fmla="*/ 4 h 110"/>
                    <a:gd name="T10" fmla="*/ 13 w 36"/>
                    <a:gd name="T11" fmla="*/ 16 h 110"/>
                    <a:gd name="T12" fmla="*/ 12 w 36"/>
                    <a:gd name="T13" fmla="*/ 34 h 110"/>
                    <a:gd name="T14" fmla="*/ 7 w 36"/>
                    <a:gd name="T15" fmla="*/ 65 h 110"/>
                    <a:gd name="T16" fmla="*/ 3 w 36"/>
                    <a:gd name="T17" fmla="*/ 80 h 110"/>
                    <a:gd name="T18" fmla="*/ 0 w 36"/>
                    <a:gd name="T19" fmla="*/ 95 h 110"/>
                    <a:gd name="T20" fmla="*/ 0 w 36"/>
                    <a:gd name="T21" fmla="*/ 98 h 110"/>
                    <a:gd name="T22" fmla="*/ 0 w 36"/>
                    <a:gd name="T23" fmla="*/ 100 h 110"/>
                    <a:gd name="T24" fmla="*/ 4 w 36"/>
                    <a:gd name="T25" fmla="*/ 105 h 110"/>
                    <a:gd name="T26" fmla="*/ 9 w 36"/>
                    <a:gd name="T27" fmla="*/ 110 h 110"/>
                    <a:gd name="T28" fmla="*/ 15 w 36"/>
                    <a:gd name="T29" fmla="*/ 104 h 110"/>
                    <a:gd name="T30" fmla="*/ 18 w 36"/>
                    <a:gd name="T31" fmla="*/ 96 h 110"/>
                    <a:gd name="T32" fmla="*/ 18 w 36"/>
                    <a:gd name="T33" fmla="*/ 90 h 110"/>
                    <a:gd name="T34" fmla="*/ 21 w 36"/>
                    <a:gd name="T35" fmla="*/ 71 h 110"/>
                    <a:gd name="T36" fmla="*/ 25 w 36"/>
                    <a:gd name="T37" fmla="*/ 53 h 110"/>
                    <a:gd name="T38" fmla="*/ 30 w 36"/>
                    <a:gd name="T39" fmla="*/ 36 h 110"/>
                    <a:gd name="T40" fmla="*/ 35 w 36"/>
                    <a:gd name="T41" fmla="*/ 20 h 110"/>
                    <a:gd name="T42" fmla="*/ 33 w 36"/>
                    <a:gd name="T43" fmla="*/ 20 h 110"/>
                    <a:gd name="T44" fmla="*/ 30 w 36"/>
                    <a:gd name="T45" fmla="*/ 22 h 110"/>
                    <a:gd name="T46" fmla="*/ 23 w 36"/>
                    <a:gd name="T47" fmla="*/ 17 h 110"/>
                    <a:gd name="T48" fmla="*/ 23 w 36"/>
                    <a:gd name="T49" fmla="*/ 15 h 110"/>
                    <a:gd name="T50" fmla="*/ 23 w 36"/>
                    <a:gd name="T51" fmla="*/ 1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6" h="110">
                      <a:moveTo>
                        <a:pt x="23" y="14"/>
                      </a:move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21" y="8"/>
                        <a:pt x="22" y="9"/>
                        <a:pt x="18" y="6"/>
                      </a:cubicBezTo>
                      <a:cubicBezTo>
                        <a:pt x="17" y="4"/>
                        <a:pt x="15" y="2"/>
                        <a:pt x="13" y="0"/>
                      </a:cubicBezTo>
                      <a:cubicBezTo>
                        <a:pt x="12" y="1"/>
                        <a:pt x="11" y="3"/>
                        <a:pt x="11" y="4"/>
                      </a:cubicBezTo>
                      <a:cubicBezTo>
                        <a:pt x="11" y="7"/>
                        <a:pt x="13" y="12"/>
                        <a:pt x="13" y="16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2" y="43"/>
                        <a:pt x="9" y="56"/>
                        <a:pt x="7" y="65"/>
                      </a:cubicBezTo>
                      <a:cubicBezTo>
                        <a:pt x="6" y="72"/>
                        <a:pt x="4" y="75"/>
                        <a:pt x="3" y="80"/>
                      </a:cubicBezTo>
                      <a:cubicBezTo>
                        <a:pt x="2" y="85"/>
                        <a:pt x="0" y="91"/>
                        <a:pt x="0" y="95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2" y="102"/>
                        <a:pt x="2" y="103"/>
                        <a:pt x="4" y="105"/>
                      </a:cubicBezTo>
                      <a:cubicBezTo>
                        <a:pt x="6" y="108"/>
                        <a:pt x="7" y="108"/>
                        <a:pt x="9" y="110"/>
                      </a:cubicBezTo>
                      <a:cubicBezTo>
                        <a:pt x="12" y="108"/>
                        <a:pt x="13" y="108"/>
                        <a:pt x="15" y="104"/>
                      </a:cubicBezTo>
                      <a:cubicBezTo>
                        <a:pt x="16" y="102"/>
                        <a:pt x="18" y="99"/>
                        <a:pt x="18" y="96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83"/>
                        <a:pt x="20" y="77"/>
                        <a:pt x="21" y="71"/>
                      </a:cubicBezTo>
                      <a:cubicBezTo>
                        <a:pt x="23" y="65"/>
                        <a:pt x="23" y="59"/>
                        <a:pt x="25" y="53"/>
                      </a:cubicBezTo>
                      <a:cubicBezTo>
                        <a:pt x="26" y="47"/>
                        <a:pt x="29" y="42"/>
                        <a:pt x="30" y="36"/>
                      </a:cubicBezTo>
                      <a:cubicBezTo>
                        <a:pt x="31" y="28"/>
                        <a:pt x="34" y="27"/>
                        <a:pt x="35" y="20"/>
                      </a:cubicBezTo>
                      <a:cubicBezTo>
                        <a:pt x="34" y="19"/>
                        <a:pt x="36" y="20"/>
                        <a:pt x="33" y="20"/>
                      </a:cubicBezTo>
                      <a:cubicBezTo>
                        <a:pt x="33" y="20"/>
                        <a:pt x="30" y="22"/>
                        <a:pt x="30" y="22"/>
                      </a:cubicBezTo>
                      <a:cubicBezTo>
                        <a:pt x="25" y="21"/>
                        <a:pt x="25" y="21"/>
                        <a:pt x="23" y="17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lnTo>
                        <a:pt x="23" y="14"/>
                      </a:lnTo>
                      <a:close/>
                    </a:path>
                  </a:pathLst>
                </a:custGeom>
                <a:solidFill>
                  <a:srgbClr val="E600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  <p:grpSp>
            <p:nvGrpSpPr>
              <p:cNvPr id="108" name="íṥlíḓê"/>
              <p:cNvGrpSpPr/>
              <p:nvPr/>
            </p:nvGrpSpPr>
            <p:grpSpPr>
              <a:xfrm>
                <a:off x="4412452" y="3781425"/>
                <a:ext cx="2312689" cy="166461"/>
                <a:chOff x="6986588" y="3521075"/>
                <a:chExt cx="1654176" cy="119063"/>
              </a:xfrm>
            </p:grpSpPr>
            <p:sp>
              <p:nvSpPr>
                <p:cNvPr id="109" name="îSļiḋê"/>
                <p:cNvSpPr/>
                <p:nvPr/>
              </p:nvSpPr>
              <p:spPr bwMode="auto">
                <a:xfrm>
                  <a:off x="6986588" y="3521075"/>
                  <a:ext cx="155575" cy="119063"/>
                </a:xfrm>
                <a:custGeom>
                  <a:avLst/>
                  <a:gdLst>
                    <a:gd name="T0" fmla="*/ 84 w 98"/>
                    <a:gd name="T1" fmla="*/ 0 h 75"/>
                    <a:gd name="T2" fmla="*/ 59 w 98"/>
                    <a:gd name="T3" fmla="*/ 52 h 75"/>
                    <a:gd name="T4" fmla="*/ 57 w 98"/>
                    <a:gd name="T5" fmla="*/ 0 h 75"/>
                    <a:gd name="T6" fmla="*/ 40 w 98"/>
                    <a:gd name="T7" fmla="*/ 0 h 75"/>
                    <a:gd name="T8" fmla="*/ 15 w 98"/>
                    <a:gd name="T9" fmla="*/ 52 h 75"/>
                    <a:gd name="T10" fmla="*/ 15 w 98"/>
                    <a:gd name="T11" fmla="*/ 0 h 75"/>
                    <a:gd name="T12" fmla="*/ 0 w 98"/>
                    <a:gd name="T13" fmla="*/ 0 h 75"/>
                    <a:gd name="T14" fmla="*/ 2 w 98"/>
                    <a:gd name="T15" fmla="*/ 75 h 75"/>
                    <a:gd name="T16" fmla="*/ 19 w 98"/>
                    <a:gd name="T17" fmla="*/ 75 h 75"/>
                    <a:gd name="T18" fmla="*/ 44 w 98"/>
                    <a:gd name="T19" fmla="*/ 21 h 75"/>
                    <a:gd name="T20" fmla="*/ 46 w 98"/>
                    <a:gd name="T21" fmla="*/ 75 h 75"/>
                    <a:gd name="T22" fmla="*/ 63 w 98"/>
                    <a:gd name="T23" fmla="*/ 75 h 75"/>
                    <a:gd name="T24" fmla="*/ 98 w 98"/>
                    <a:gd name="T25" fmla="*/ 0 h 75"/>
                    <a:gd name="T26" fmla="*/ 84 w 98"/>
                    <a:gd name="T27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98" h="75">
                      <a:moveTo>
                        <a:pt x="84" y="0"/>
                      </a:moveTo>
                      <a:lnTo>
                        <a:pt x="59" y="52"/>
                      </a:lnTo>
                      <a:lnTo>
                        <a:pt x="57" y="0"/>
                      </a:lnTo>
                      <a:lnTo>
                        <a:pt x="40" y="0"/>
                      </a:lnTo>
                      <a:lnTo>
                        <a:pt x="15" y="52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9" y="75"/>
                      </a:lnTo>
                      <a:lnTo>
                        <a:pt x="44" y="21"/>
                      </a:lnTo>
                      <a:lnTo>
                        <a:pt x="46" y="75"/>
                      </a:lnTo>
                      <a:lnTo>
                        <a:pt x="63" y="75"/>
                      </a:lnTo>
                      <a:lnTo>
                        <a:pt x="98" y="0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0" name="îsľïḓê"/>
                <p:cNvSpPr/>
                <p:nvPr/>
              </p:nvSpPr>
              <p:spPr bwMode="auto">
                <a:xfrm>
                  <a:off x="7135813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1" name="îṡļidê"/>
                <p:cNvSpPr/>
                <p:nvPr/>
              </p:nvSpPr>
              <p:spPr bwMode="auto">
                <a:xfrm>
                  <a:off x="7248526" y="3521075"/>
                  <a:ext cx="114300" cy="119063"/>
                </a:xfrm>
                <a:custGeom>
                  <a:avLst/>
                  <a:gdLst>
                    <a:gd name="T0" fmla="*/ 58 w 72"/>
                    <a:gd name="T1" fmla="*/ 0 h 75"/>
                    <a:gd name="T2" fmla="*/ 52 w 72"/>
                    <a:gd name="T3" fmla="*/ 29 h 75"/>
                    <a:gd name="T4" fmla="*/ 22 w 72"/>
                    <a:gd name="T5" fmla="*/ 29 h 75"/>
                    <a:gd name="T6" fmla="*/ 29 w 72"/>
                    <a:gd name="T7" fmla="*/ 0 h 75"/>
                    <a:gd name="T8" fmla="*/ 14 w 72"/>
                    <a:gd name="T9" fmla="*/ 0 h 75"/>
                    <a:gd name="T10" fmla="*/ 0 w 72"/>
                    <a:gd name="T11" fmla="*/ 75 h 75"/>
                    <a:gd name="T12" fmla="*/ 14 w 72"/>
                    <a:gd name="T13" fmla="*/ 75 h 75"/>
                    <a:gd name="T14" fmla="*/ 20 w 72"/>
                    <a:gd name="T15" fmla="*/ 42 h 75"/>
                    <a:gd name="T16" fmla="*/ 50 w 72"/>
                    <a:gd name="T17" fmla="*/ 42 h 75"/>
                    <a:gd name="T18" fmla="*/ 43 w 72"/>
                    <a:gd name="T19" fmla="*/ 75 h 75"/>
                    <a:gd name="T20" fmla="*/ 58 w 72"/>
                    <a:gd name="T21" fmla="*/ 75 h 75"/>
                    <a:gd name="T22" fmla="*/ 72 w 72"/>
                    <a:gd name="T23" fmla="*/ 0 h 75"/>
                    <a:gd name="T24" fmla="*/ 58 w 72"/>
                    <a:gd name="T2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2" h="75">
                      <a:moveTo>
                        <a:pt x="58" y="0"/>
                      </a:moveTo>
                      <a:lnTo>
                        <a:pt x="52" y="29"/>
                      </a:lnTo>
                      <a:lnTo>
                        <a:pt x="22" y="29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20" y="42"/>
                      </a:lnTo>
                      <a:lnTo>
                        <a:pt x="50" y="42"/>
                      </a:lnTo>
                      <a:lnTo>
                        <a:pt x="43" y="75"/>
                      </a:lnTo>
                      <a:lnTo>
                        <a:pt x="58" y="75"/>
                      </a:lnTo>
                      <a:lnTo>
                        <a:pt x="72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2" name="îṡḻiḋê"/>
                <p:cNvSpPr/>
                <p:nvPr/>
              </p:nvSpPr>
              <p:spPr bwMode="auto">
                <a:xfrm>
                  <a:off x="7356476" y="3521075"/>
                  <a:ext cx="112713" cy="119063"/>
                </a:xfrm>
                <a:custGeom>
                  <a:avLst/>
                  <a:gdLst>
                    <a:gd name="T0" fmla="*/ 42 w 71"/>
                    <a:gd name="T1" fmla="*/ 0 h 75"/>
                    <a:gd name="T2" fmla="*/ 0 w 71"/>
                    <a:gd name="T3" fmla="*/ 75 h 75"/>
                    <a:gd name="T4" fmla="*/ 15 w 71"/>
                    <a:gd name="T5" fmla="*/ 75 h 75"/>
                    <a:gd name="T6" fmla="*/ 23 w 71"/>
                    <a:gd name="T7" fmla="*/ 59 h 75"/>
                    <a:gd name="T8" fmla="*/ 54 w 71"/>
                    <a:gd name="T9" fmla="*/ 59 h 75"/>
                    <a:gd name="T10" fmla="*/ 56 w 71"/>
                    <a:gd name="T11" fmla="*/ 75 h 75"/>
                    <a:gd name="T12" fmla="*/ 71 w 71"/>
                    <a:gd name="T13" fmla="*/ 75 h 75"/>
                    <a:gd name="T14" fmla="*/ 58 w 71"/>
                    <a:gd name="T15" fmla="*/ 0 h 75"/>
                    <a:gd name="T16" fmla="*/ 42 w 71"/>
                    <a:gd name="T17" fmla="*/ 0 h 75"/>
                    <a:gd name="T18" fmla="*/ 29 w 71"/>
                    <a:gd name="T19" fmla="*/ 46 h 75"/>
                    <a:gd name="T20" fmla="*/ 48 w 71"/>
                    <a:gd name="T21" fmla="*/ 17 h 75"/>
                    <a:gd name="T22" fmla="*/ 52 w 71"/>
                    <a:gd name="T23" fmla="*/ 46 h 75"/>
                    <a:gd name="T24" fmla="*/ 29 w 71"/>
                    <a:gd name="T25" fmla="*/ 46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1" h="75">
                      <a:moveTo>
                        <a:pt x="42" y="0"/>
                      </a:move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3" y="59"/>
                      </a:lnTo>
                      <a:lnTo>
                        <a:pt x="54" y="59"/>
                      </a:lnTo>
                      <a:lnTo>
                        <a:pt x="56" y="75"/>
                      </a:lnTo>
                      <a:lnTo>
                        <a:pt x="71" y="75"/>
                      </a:lnTo>
                      <a:lnTo>
                        <a:pt x="58" y="0"/>
                      </a:lnTo>
                      <a:lnTo>
                        <a:pt x="42" y="0"/>
                      </a:lnTo>
                      <a:close/>
                      <a:moveTo>
                        <a:pt x="29" y="46"/>
                      </a:moveTo>
                      <a:lnTo>
                        <a:pt x="48" y="17"/>
                      </a:lnTo>
                      <a:lnTo>
                        <a:pt x="52" y="46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3" name="iṩļîďê"/>
                <p:cNvSpPr/>
                <p:nvPr/>
              </p:nvSpPr>
              <p:spPr bwMode="auto">
                <a:xfrm>
                  <a:off x="7481888" y="3521075"/>
                  <a:ext cx="119063" cy="119063"/>
                </a:xfrm>
                <a:custGeom>
                  <a:avLst/>
                  <a:gdLst>
                    <a:gd name="T0" fmla="*/ 50 w 75"/>
                    <a:gd name="T1" fmla="*/ 50 h 75"/>
                    <a:gd name="T2" fmla="*/ 31 w 75"/>
                    <a:gd name="T3" fmla="*/ 0 h 75"/>
                    <a:gd name="T4" fmla="*/ 17 w 75"/>
                    <a:gd name="T5" fmla="*/ 0 h 75"/>
                    <a:gd name="T6" fmla="*/ 0 w 75"/>
                    <a:gd name="T7" fmla="*/ 75 h 75"/>
                    <a:gd name="T8" fmla="*/ 15 w 75"/>
                    <a:gd name="T9" fmla="*/ 75 h 75"/>
                    <a:gd name="T10" fmla="*/ 25 w 75"/>
                    <a:gd name="T11" fmla="*/ 25 h 75"/>
                    <a:gd name="T12" fmla="*/ 46 w 75"/>
                    <a:gd name="T13" fmla="*/ 75 h 75"/>
                    <a:gd name="T14" fmla="*/ 58 w 75"/>
                    <a:gd name="T15" fmla="*/ 75 h 75"/>
                    <a:gd name="T16" fmla="*/ 75 w 75"/>
                    <a:gd name="T17" fmla="*/ 0 h 75"/>
                    <a:gd name="T18" fmla="*/ 61 w 75"/>
                    <a:gd name="T19" fmla="*/ 0 h 75"/>
                    <a:gd name="T20" fmla="*/ 50 w 75"/>
                    <a:gd name="T21" fmla="*/ 5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5" h="75">
                      <a:moveTo>
                        <a:pt x="50" y="50"/>
                      </a:moveTo>
                      <a:lnTo>
                        <a:pt x="31" y="0"/>
                      </a:lnTo>
                      <a:lnTo>
                        <a:pt x="17" y="0"/>
                      </a:lnTo>
                      <a:lnTo>
                        <a:pt x="0" y="75"/>
                      </a:lnTo>
                      <a:lnTo>
                        <a:pt x="15" y="75"/>
                      </a:lnTo>
                      <a:lnTo>
                        <a:pt x="25" y="25"/>
                      </a:lnTo>
                      <a:lnTo>
                        <a:pt x="46" y="75"/>
                      </a:lnTo>
                      <a:lnTo>
                        <a:pt x="58" y="75"/>
                      </a:lnTo>
                      <a:lnTo>
                        <a:pt x="75" y="0"/>
                      </a:lnTo>
                      <a:lnTo>
                        <a:pt x="61" y="0"/>
                      </a:lnTo>
                      <a:lnTo>
                        <a:pt x="5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4" name="ïšļíḍè"/>
                <p:cNvSpPr/>
                <p:nvPr/>
              </p:nvSpPr>
              <p:spPr bwMode="auto">
                <a:xfrm>
                  <a:off x="7653338" y="3521075"/>
                  <a:ext cx="112713" cy="119063"/>
                </a:xfrm>
                <a:custGeom>
                  <a:avLst/>
                  <a:gdLst>
                    <a:gd name="T0" fmla="*/ 22 w 34"/>
                    <a:gd name="T1" fmla="*/ 20 h 36"/>
                    <a:gd name="T2" fmla="*/ 20 w 34"/>
                    <a:gd name="T3" fmla="*/ 26 h 36"/>
                    <a:gd name="T4" fmla="*/ 18 w 34"/>
                    <a:gd name="T5" fmla="*/ 29 h 36"/>
                    <a:gd name="T6" fmla="*/ 13 w 34"/>
                    <a:gd name="T7" fmla="*/ 30 h 36"/>
                    <a:gd name="T8" fmla="*/ 9 w 34"/>
                    <a:gd name="T9" fmla="*/ 29 h 36"/>
                    <a:gd name="T10" fmla="*/ 7 w 34"/>
                    <a:gd name="T11" fmla="*/ 25 h 36"/>
                    <a:gd name="T12" fmla="*/ 7 w 34"/>
                    <a:gd name="T13" fmla="*/ 24 h 36"/>
                    <a:gd name="T14" fmla="*/ 8 w 34"/>
                    <a:gd name="T15" fmla="*/ 19 h 36"/>
                    <a:gd name="T16" fmla="*/ 12 w 34"/>
                    <a:gd name="T17" fmla="*/ 0 h 36"/>
                    <a:gd name="T18" fmla="*/ 5 w 34"/>
                    <a:gd name="T19" fmla="*/ 0 h 36"/>
                    <a:gd name="T20" fmla="*/ 1 w 34"/>
                    <a:gd name="T21" fmla="*/ 19 h 36"/>
                    <a:gd name="T22" fmla="*/ 0 w 34"/>
                    <a:gd name="T23" fmla="*/ 23 h 36"/>
                    <a:gd name="T24" fmla="*/ 0 w 34"/>
                    <a:gd name="T25" fmla="*/ 25 h 36"/>
                    <a:gd name="T26" fmla="*/ 3 w 34"/>
                    <a:gd name="T27" fmla="*/ 33 h 36"/>
                    <a:gd name="T28" fmla="*/ 13 w 34"/>
                    <a:gd name="T29" fmla="*/ 36 h 36"/>
                    <a:gd name="T30" fmla="*/ 22 w 34"/>
                    <a:gd name="T31" fmla="*/ 34 h 36"/>
                    <a:gd name="T32" fmla="*/ 27 w 34"/>
                    <a:gd name="T33" fmla="*/ 29 h 36"/>
                    <a:gd name="T34" fmla="*/ 30 w 34"/>
                    <a:gd name="T35" fmla="*/ 20 h 36"/>
                    <a:gd name="T36" fmla="*/ 34 w 34"/>
                    <a:gd name="T37" fmla="*/ 0 h 36"/>
                    <a:gd name="T38" fmla="*/ 26 w 34"/>
                    <a:gd name="T39" fmla="*/ 0 h 36"/>
                    <a:gd name="T40" fmla="*/ 22 w 34"/>
                    <a:gd name="T4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4" h="36">
                      <a:moveTo>
                        <a:pt x="22" y="20"/>
                      </a:moveTo>
                      <a:cubicBezTo>
                        <a:pt x="22" y="23"/>
                        <a:pt x="21" y="25"/>
                        <a:pt x="20" y="26"/>
                      </a:cubicBezTo>
                      <a:cubicBezTo>
                        <a:pt x="20" y="28"/>
                        <a:pt x="19" y="29"/>
                        <a:pt x="18" y="29"/>
                      </a:cubicBezTo>
                      <a:cubicBezTo>
                        <a:pt x="17" y="30"/>
                        <a:pt x="15" y="30"/>
                        <a:pt x="13" y="30"/>
                      </a:cubicBezTo>
                      <a:cubicBezTo>
                        <a:pt x="11" y="30"/>
                        <a:pt x="10" y="30"/>
                        <a:pt x="9" y="29"/>
                      </a:cubicBezTo>
                      <a:cubicBezTo>
                        <a:pt x="8" y="28"/>
                        <a:pt x="7" y="27"/>
                        <a:pt x="7" y="25"/>
                      </a:cubicBezTo>
                      <a:cubicBezTo>
                        <a:pt x="7" y="25"/>
                        <a:pt x="7" y="25"/>
                        <a:pt x="7" y="24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21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0" y="29"/>
                        <a:pt x="1" y="31"/>
                        <a:pt x="3" y="33"/>
                      </a:cubicBezTo>
                      <a:cubicBezTo>
                        <a:pt x="6" y="35"/>
                        <a:pt x="9" y="36"/>
                        <a:pt x="13" y="36"/>
                      </a:cubicBezTo>
                      <a:cubicBezTo>
                        <a:pt x="16" y="36"/>
                        <a:pt x="19" y="36"/>
                        <a:pt x="22" y="34"/>
                      </a:cubicBezTo>
                      <a:cubicBezTo>
                        <a:pt x="24" y="33"/>
                        <a:pt x="25" y="31"/>
                        <a:pt x="27" y="29"/>
                      </a:cubicBezTo>
                      <a:cubicBezTo>
                        <a:pt x="28" y="27"/>
                        <a:pt x="29" y="24"/>
                        <a:pt x="30" y="2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lnTo>
                        <a:pt x="2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5" name="iśḷïḑè"/>
                <p:cNvSpPr/>
                <p:nvPr/>
              </p:nvSpPr>
              <p:spPr bwMode="auto">
                <a:xfrm>
                  <a:off x="7766051" y="3521075"/>
                  <a:ext cx="115888" cy="119063"/>
                </a:xfrm>
                <a:custGeom>
                  <a:avLst/>
                  <a:gdLst>
                    <a:gd name="T0" fmla="*/ 58 w 73"/>
                    <a:gd name="T1" fmla="*/ 0 h 75"/>
                    <a:gd name="T2" fmla="*/ 50 w 73"/>
                    <a:gd name="T3" fmla="*/ 50 h 75"/>
                    <a:gd name="T4" fmla="*/ 29 w 73"/>
                    <a:gd name="T5" fmla="*/ 0 h 75"/>
                    <a:gd name="T6" fmla="*/ 15 w 73"/>
                    <a:gd name="T7" fmla="*/ 0 h 75"/>
                    <a:gd name="T8" fmla="*/ 0 w 73"/>
                    <a:gd name="T9" fmla="*/ 75 h 75"/>
                    <a:gd name="T10" fmla="*/ 13 w 73"/>
                    <a:gd name="T11" fmla="*/ 75 h 75"/>
                    <a:gd name="T12" fmla="*/ 23 w 73"/>
                    <a:gd name="T13" fmla="*/ 25 h 75"/>
                    <a:gd name="T14" fmla="*/ 44 w 73"/>
                    <a:gd name="T15" fmla="*/ 75 h 75"/>
                    <a:gd name="T16" fmla="*/ 58 w 73"/>
                    <a:gd name="T17" fmla="*/ 75 h 75"/>
                    <a:gd name="T18" fmla="*/ 73 w 73"/>
                    <a:gd name="T19" fmla="*/ 0 h 75"/>
                    <a:gd name="T20" fmla="*/ 58 w 73"/>
                    <a:gd name="T21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" h="75">
                      <a:moveTo>
                        <a:pt x="58" y="0"/>
                      </a:moveTo>
                      <a:lnTo>
                        <a:pt x="50" y="50"/>
                      </a:lnTo>
                      <a:lnTo>
                        <a:pt x="29" y="0"/>
                      </a:lnTo>
                      <a:lnTo>
                        <a:pt x="15" y="0"/>
                      </a:lnTo>
                      <a:lnTo>
                        <a:pt x="0" y="75"/>
                      </a:lnTo>
                      <a:lnTo>
                        <a:pt x="13" y="75"/>
                      </a:lnTo>
                      <a:lnTo>
                        <a:pt x="23" y="25"/>
                      </a:lnTo>
                      <a:lnTo>
                        <a:pt x="44" y="75"/>
                      </a:lnTo>
                      <a:lnTo>
                        <a:pt x="58" y="75"/>
                      </a:lnTo>
                      <a:lnTo>
                        <a:pt x="73" y="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6" name="íş1iḓe"/>
                <p:cNvSpPr/>
                <p:nvPr/>
              </p:nvSpPr>
              <p:spPr bwMode="auto">
                <a:xfrm>
                  <a:off x="7881938" y="3521075"/>
                  <a:ext cx="49213" cy="119063"/>
                </a:xfrm>
                <a:custGeom>
                  <a:avLst/>
                  <a:gdLst>
                    <a:gd name="T0" fmla="*/ 0 w 31"/>
                    <a:gd name="T1" fmla="*/ 75 h 75"/>
                    <a:gd name="T2" fmla="*/ 14 w 31"/>
                    <a:gd name="T3" fmla="*/ 75 h 75"/>
                    <a:gd name="T4" fmla="*/ 31 w 31"/>
                    <a:gd name="T5" fmla="*/ 0 h 75"/>
                    <a:gd name="T6" fmla="*/ 14 w 31"/>
                    <a:gd name="T7" fmla="*/ 0 h 75"/>
                    <a:gd name="T8" fmla="*/ 0 w 31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31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7" name="îšḻïḋè"/>
                <p:cNvSpPr/>
                <p:nvPr/>
              </p:nvSpPr>
              <p:spPr bwMode="auto">
                <a:xfrm>
                  <a:off x="7940676" y="3521075"/>
                  <a:ext cx="109538" cy="119063"/>
                </a:xfrm>
                <a:custGeom>
                  <a:avLst/>
                  <a:gdLst>
                    <a:gd name="T0" fmla="*/ 54 w 69"/>
                    <a:gd name="T1" fmla="*/ 0 h 75"/>
                    <a:gd name="T2" fmla="*/ 23 w 69"/>
                    <a:gd name="T3" fmla="*/ 57 h 75"/>
                    <a:gd name="T4" fmla="*/ 15 w 69"/>
                    <a:gd name="T5" fmla="*/ 0 h 75"/>
                    <a:gd name="T6" fmla="*/ 0 w 69"/>
                    <a:gd name="T7" fmla="*/ 0 h 75"/>
                    <a:gd name="T8" fmla="*/ 13 w 69"/>
                    <a:gd name="T9" fmla="*/ 75 h 75"/>
                    <a:gd name="T10" fmla="*/ 29 w 69"/>
                    <a:gd name="T11" fmla="*/ 75 h 75"/>
                    <a:gd name="T12" fmla="*/ 69 w 69"/>
                    <a:gd name="T13" fmla="*/ 0 h 75"/>
                    <a:gd name="T14" fmla="*/ 54 w 69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75">
                      <a:moveTo>
                        <a:pt x="54" y="0"/>
                      </a:moveTo>
                      <a:lnTo>
                        <a:pt x="23" y="57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13" y="75"/>
                      </a:lnTo>
                      <a:lnTo>
                        <a:pt x="29" y="75"/>
                      </a:lnTo>
                      <a:lnTo>
                        <a:pt x="69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8" name="iśḷîďê"/>
                <p:cNvSpPr/>
                <p:nvPr/>
              </p:nvSpPr>
              <p:spPr bwMode="auto">
                <a:xfrm>
                  <a:off x="8037513" y="3521075"/>
                  <a:ext cx="111125" cy="119063"/>
                </a:xfrm>
                <a:custGeom>
                  <a:avLst/>
                  <a:gdLst>
                    <a:gd name="T0" fmla="*/ 68 w 70"/>
                    <a:gd name="T1" fmla="*/ 12 h 75"/>
                    <a:gd name="T2" fmla="*/ 70 w 70"/>
                    <a:gd name="T3" fmla="*/ 0 h 75"/>
                    <a:gd name="T4" fmla="*/ 16 w 70"/>
                    <a:gd name="T5" fmla="*/ 0 h 75"/>
                    <a:gd name="T6" fmla="*/ 0 w 70"/>
                    <a:gd name="T7" fmla="*/ 75 h 75"/>
                    <a:gd name="T8" fmla="*/ 58 w 70"/>
                    <a:gd name="T9" fmla="*/ 75 h 75"/>
                    <a:gd name="T10" fmla="*/ 60 w 70"/>
                    <a:gd name="T11" fmla="*/ 63 h 75"/>
                    <a:gd name="T12" fmla="*/ 16 w 70"/>
                    <a:gd name="T13" fmla="*/ 63 h 75"/>
                    <a:gd name="T14" fmla="*/ 22 w 70"/>
                    <a:gd name="T15" fmla="*/ 42 h 75"/>
                    <a:gd name="T16" fmla="*/ 60 w 70"/>
                    <a:gd name="T17" fmla="*/ 42 h 75"/>
                    <a:gd name="T18" fmla="*/ 62 w 70"/>
                    <a:gd name="T19" fmla="*/ 29 h 75"/>
                    <a:gd name="T20" fmla="*/ 24 w 70"/>
                    <a:gd name="T21" fmla="*/ 29 h 75"/>
                    <a:gd name="T22" fmla="*/ 29 w 70"/>
                    <a:gd name="T23" fmla="*/ 12 h 75"/>
                    <a:gd name="T24" fmla="*/ 68 w 70"/>
                    <a:gd name="T25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0" h="75">
                      <a:moveTo>
                        <a:pt x="68" y="12"/>
                      </a:moveTo>
                      <a:lnTo>
                        <a:pt x="70" y="0"/>
                      </a:lnTo>
                      <a:lnTo>
                        <a:pt x="16" y="0"/>
                      </a:lnTo>
                      <a:lnTo>
                        <a:pt x="0" y="75"/>
                      </a:lnTo>
                      <a:lnTo>
                        <a:pt x="58" y="75"/>
                      </a:lnTo>
                      <a:lnTo>
                        <a:pt x="60" y="63"/>
                      </a:lnTo>
                      <a:lnTo>
                        <a:pt x="16" y="63"/>
                      </a:lnTo>
                      <a:lnTo>
                        <a:pt x="22" y="42"/>
                      </a:lnTo>
                      <a:lnTo>
                        <a:pt x="60" y="42"/>
                      </a:lnTo>
                      <a:lnTo>
                        <a:pt x="62" y="29"/>
                      </a:lnTo>
                      <a:lnTo>
                        <a:pt x="24" y="29"/>
                      </a:lnTo>
                      <a:lnTo>
                        <a:pt x="29" y="12"/>
                      </a:lnTo>
                      <a:lnTo>
                        <a:pt x="6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19" name="íşlîḓê"/>
                <p:cNvSpPr/>
                <p:nvPr/>
              </p:nvSpPr>
              <p:spPr bwMode="auto">
                <a:xfrm>
                  <a:off x="8145463" y="3521075"/>
                  <a:ext cx="115888" cy="119063"/>
                </a:xfrm>
                <a:custGeom>
                  <a:avLst/>
                  <a:gdLst>
                    <a:gd name="T0" fmla="*/ 30 w 35"/>
                    <a:gd name="T1" fmla="*/ 1 h 36"/>
                    <a:gd name="T2" fmla="*/ 24 w 35"/>
                    <a:gd name="T3" fmla="*/ 0 h 36"/>
                    <a:gd name="T4" fmla="*/ 8 w 35"/>
                    <a:gd name="T5" fmla="*/ 0 h 36"/>
                    <a:gd name="T6" fmla="*/ 0 w 35"/>
                    <a:gd name="T7" fmla="*/ 36 h 36"/>
                    <a:gd name="T8" fmla="*/ 8 w 35"/>
                    <a:gd name="T9" fmla="*/ 36 h 36"/>
                    <a:gd name="T10" fmla="*/ 11 w 35"/>
                    <a:gd name="T11" fmla="*/ 21 h 36"/>
                    <a:gd name="T12" fmla="*/ 14 w 35"/>
                    <a:gd name="T13" fmla="*/ 21 h 36"/>
                    <a:gd name="T14" fmla="*/ 17 w 35"/>
                    <a:gd name="T15" fmla="*/ 22 h 36"/>
                    <a:gd name="T16" fmla="*/ 21 w 35"/>
                    <a:gd name="T17" fmla="*/ 26 h 36"/>
                    <a:gd name="T18" fmla="*/ 24 w 35"/>
                    <a:gd name="T19" fmla="*/ 36 h 36"/>
                    <a:gd name="T20" fmla="*/ 32 w 35"/>
                    <a:gd name="T21" fmla="*/ 36 h 36"/>
                    <a:gd name="T22" fmla="*/ 27 w 35"/>
                    <a:gd name="T23" fmla="*/ 24 h 36"/>
                    <a:gd name="T24" fmla="*/ 24 w 35"/>
                    <a:gd name="T25" fmla="*/ 21 h 36"/>
                    <a:gd name="T26" fmla="*/ 32 w 35"/>
                    <a:gd name="T27" fmla="*/ 17 h 36"/>
                    <a:gd name="T28" fmla="*/ 35 w 35"/>
                    <a:gd name="T29" fmla="*/ 9 h 36"/>
                    <a:gd name="T30" fmla="*/ 34 w 35"/>
                    <a:gd name="T31" fmla="*/ 4 h 36"/>
                    <a:gd name="T32" fmla="*/ 30 w 35"/>
                    <a:gd name="T33" fmla="*/ 1 h 36"/>
                    <a:gd name="T34" fmla="*/ 27 w 35"/>
                    <a:gd name="T35" fmla="*/ 13 h 36"/>
                    <a:gd name="T36" fmla="*/ 24 w 35"/>
                    <a:gd name="T37" fmla="*/ 15 h 36"/>
                    <a:gd name="T38" fmla="*/ 16 w 35"/>
                    <a:gd name="T39" fmla="*/ 16 h 36"/>
                    <a:gd name="T40" fmla="*/ 12 w 35"/>
                    <a:gd name="T41" fmla="*/ 16 h 36"/>
                    <a:gd name="T42" fmla="*/ 14 w 35"/>
                    <a:gd name="T43" fmla="*/ 6 h 36"/>
                    <a:gd name="T44" fmla="*/ 22 w 35"/>
                    <a:gd name="T45" fmla="*/ 6 h 36"/>
                    <a:gd name="T46" fmla="*/ 26 w 35"/>
                    <a:gd name="T47" fmla="*/ 7 h 36"/>
                    <a:gd name="T48" fmla="*/ 28 w 35"/>
                    <a:gd name="T49" fmla="*/ 10 h 36"/>
                    <a:gd name="T50" fmla="*/ 27 w 35"/>
                    <a:gd name="T51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5" h="36">
                      <a:moveTo>
                        <a:pt x="30" y="1"/>
                      </a:moveTo>
                      <a:cubicBezTo>
                        <a:pt x="28" y="0"/>
                        <a:pt x="26" y="0"/>
                        <a:pt x="24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8" y="36"/>
                        <a:pt x="8" y="36"/>
                        <a:pt x="8" y="36"/>
                      </a:cubicBezTo>
                      <a:cubicBezTo>
                        <a:pt x="11" y="21"/>
                        <a:pt x="11" y="21"/>
                        <a:pt x="11" y="21"/>
                      </a:cubicBezTo>
                      <a:cubicBezTo>
                        <a:pt x="14" y="21"/>
                        <a:pt x="14" y="21"/>
                        <a:pt x="14" y="21"/>
                      </a:cubicBezTo>
                      <a:cubicBezTo>
                        <a:pt x="15" y="21"/>
                        <a:pt x="17" y="21"/>
                        <a:pt x="17" y="22"/>
                      </a:cubicBezTo>
                      <a:cubicBezTo>
                        <a:pt x="18" y="22"/>
                        <a:pt x="20" y="24"/>
                        <a:pt x="21" y="26"/>
                      </a:cubicBezTo>
                      <a:cubicBezTo>
                        <a:pt x="22" y="31"/>
                        <a:pt x="24" y="34"/>
                        <a:pt x="24" y="36"/>
                      </a:cubicBezTo>
                      <a:cubicBezTo>
                        <a:pt x="32" y="36"/>
                        <a:pt x="32" y="36"/>
                        <a:pt x="32" y="36"/>
                      </a:cubicBezTo>
                      <a:cubicBezTo>
                        <a:pt x="30" y="31"/>
                        <a:pt x="28" y="27"/>
                        <a:pt x="27" y="24"/>
                      </a:cubicBezTo>
                      <a:cubicBezTo>
                        <a:pt x="26" y="23"/>
                        <a:pt x="25" y="21"/>
                        <a:pt x="24" y="21"/>
                      </a:cubicBezTo>
                      <a:cubicBezTo>
                        <a:pt x="28" y="20"/>
                        <a:pt x="30" y="19"/>
                        <a:pt x="32" y="17"/>
                      </a:cubicBezTo>
                      <a:cubicBezTo>
                        <a:pt x="34" y="15"/>
                        <a:pt x="35" y="13"/>
                        <a:pt x="35" y="9"/>
                      </a:cubicBezTo>
                      <a:cubicBezTo>
                        <a:pt x="35" y="7"/>
                        <a:pt x="34" y="6"/>
                        <a:pt x="34" y="4"/>
                      </a:cubicBezTo>
                      <a:cubicBezTo>
                        <a:pt x="33" y="3"/>
                        <a:pt x="31" y="2"/>
                        <a:pt x="30" y="1"/>
                      </a:cubicBezTo>
                      <a:close/>
                      <a:moveTo>
                        <a:pt x="27" y="13"/>
                      </a:moveTo>
                      <a:cubicBezTo>
                        <a:pt x="26" y="14"/>
                        <a:pt x="25" y="14"/>
                        <a:pt x="24" y="15"/>
                      </a:cubicBezTo>
                      <a:cubicBezTo>
                        <a:pt x="22" y="15"/>
                        <a:pt x="20" y="16"/>
                        <a:pt x="16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4" y="6"/>
                        <a:pt x="25" y="6"/>
                        <a:pt x="26" y="7"/>
                      </a:cubicBezTo>
                      <a:cubicBezTo>
                        <a:pt x="27" y="7"/>
                        <a:pt x="28" y="8"/>
                        <a:pt x="28" y="10"/>
                      </a:cubicBezTo>
                      <a:cubicBezTo>
                        <a:pt x="28" y="11"/>
                        <a:pt x="27" y="12"/>
                        <a:pt x="2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0" name="í$ḻiḋê"/>
                <p:cNvSpPr/>
                <p:nvPr/>
              </p:nvSpPr>
              <p:spPr bwMode="auto">
                <a:xfrm>
                  <a:off x="8267701" y="3521075"/>
                  <a:ext cx="98425" cy="119063"/>
                </a:xfrm>
                <a:custGeom>
                  <a:avLst/>
                  <a:gdLst>
                    <a:gd name="T0" fmla="*/ 17 w 30"/>
                    <a:gd name="T1" fmla="*/ 5 h 36"/>
                    <a:gd name="T2" fmla="*/ 22 w 30"/>
                    <a:gd name="T3" fmla="*/ 7 h 36"/>
                    <a:gd name="T4" fmla="*/ 23 w 30"/>
                    <a:gd name="T5" fmla="*/ 11 h 36"/>
                    <a:gd name="T6" fmla="*/ 30 w 30"/>
                    <a:gd name="T7" fmla="*/ 10 h 36"/>
                    <a:gd name="T8" fmla="*/ 27 w 30"/>
                    <a:gd name="T9" fmla="*/ 3 h 36"/>
                    <a:gd name="T10" fmla="*/ 17 w 30"/>
                    <a:gd name="T11" fmla="*/ 0 h 36"/>
                    <a:gd name="T12" fmla="*/ 8 w 30"/>
                    <a:gd name="T13" fmla="*/ 3 h 36"/>
                    <a:gd name="T14" fmla="*/ 4 w 30"/>
                    <a:gd name="T15" fmla="*/ 10 h 36"/>
                    <a:gd name="T16" fmla="*/ 6 w 30"/>
                    <a:gd name="T17" fmla="*/ 14 h 36"/>
                    <a:gd name="T18" fmla="*/ 8 w 30"/>
                    <a:gd name="T19" fmla="*/ 18 h 36"/>
                    <a:gd name="T20" fmla="*/ 15 w 30"/>
                    <a:gd name="T21" fmla="*/ 21 h 36"/>
                    <a:gd name="T22" fmla="*/ 20 w 30"/>
                    <a:gd name="T23" fmla="*/ 23 h 36"/>
                    <a:gd name="T24" fmla="*/ 21 w 30"/>
                    <a:gd name="T25" fmla="*/ 26 h 36"/>
                    <a:gd name="T26" fmla="*/ 19 w 30"/>
                    <a:gd name="T27" fmla="*/ 29 h 36"/>
                    <a:gd name="T28" fmla="*/ 14 w 30"/>
                    <a:gd name="T29" fmla="*/ 30 h 36"/>
                    <a:gd name="T30" fmla="*/ 8 w 30"/>
                    <a:gd name="T31" fmla="*/ 28 h 36"/>
                    <a:gd name="T32" fmla="*/ 7 w 30"/>
                    <a:gd name="T33" fmla="*/ 24 h 36"/>
                    <a:gd name="T34" fmla="*/ 0 w 30"/>
                    <a:gd name="T35" fmla="*/ 24 h 36"/>
                    <a:gd name="T36" fmla="*/ 1 w 30"/>
                    <a:gd name="T37" fmla="*/ 30 h 36"/>
                    <a:gd name="T38" fmla="*/ 6 w 30"/>
                    <a:gd name="T39" fmla="*/ 35 h 36"/>
                    <a:gd name="T40" fmla="*/ 14 w 30"/>
                    <a:gd name="T41" fmla="*/ 36 h 36"/>
                    <a:gd name="T42" fmla="*/ 24 w 30"/>
                    <a:gd name="T43" fmla="*/ 33 h 36"/>
                    <a:gd name="T44" fmla="*/ 28 w 30"/>
                    <a:gd name="T45" fmla="*/ 25 h 36"/>
                    <a:gd name="T46" fmla="*/ 26 w 30"/>
                    <a:gd name="T47" fmla="*/ 19 h 36"/>
                    <a:gd name="T48" fmla="*/ 18 w 30"/>
                    <a:gd name="T49" fmla="*/ 14 h 36"/>
                    <a:gd name="T50" fmla="*/ 13 w 30"/>
                    <a:gd name="T51" fmla="*/ 12 h 36"/>
                    <a:gd name="T52" fmla="*/ 11 w 30"/>
                    <a:gd name="T53" fmla="*/ 9 h 36"/>
                    <a:gd name="T54" fmla="*/ 13 w 30"/>
                    <a:gd name="T55" fmla="*/ 6 h 36"/>
                    <a:gd name="T56" fmla="*/ 17 w 30"/>
                    <a:gd name="T57" fmla="*/ 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0" h="36">
                      <a:moveTo>
                        <a:pt x="17" y="5"/>
                      </a:moveTo>
                      <a:cubicBezTo>
                        <a:pt x="19" y="5"/>
                        <a:pt x="21" y="6"/>
                        <a:pt x="22" y="7"/>
                      </a:cubicBezTo>
                      <a:cubicBezTo>
                        <a:pt x="23" y="8"/>
                        <a:pt x="23" y="9"/>
                        <a:pt x="23" y="11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7"/>
                        <a:pt x="29" y="4"/>
                        <a:pt x="27" y="3"/>
                      </a:cubicBezTo>
                      <a:cubicBezTo>
                        <a:pt x="24" y="1"/>
                        <a:pt x="21" y="0"/>
                        <a:pt x="17" y="0"/>
                      </a:cubicBezTo>
                      <a:cubicBezTo>
                        <a:pt x="13" y="0"/>
                        <a:pt x="10" y="1"/>
                        <a:pt x="8" y="3"/>
                      </a:cubicBezTo>
                      <a:cubicBezTo>
                        <a:pt x="5" y="5"/>
                        <a:pt x="4" y="7"/>
                        <a:pt x="4" y="10"/>
                      </a:cubicBezTo>
                      <a:cubicBezTo>
                        <a:pt x="4" y="12"/>
                        <a:pt x="5" y="13"/>
                        <a:pt x="6" y="14"/>
                      </a:cubicBezTo>
                      <a:cubicBezTo>
                        <a:pt x="6" y="16"/>
                        <a:pt x="7" y="17"/>
                        <a:pt x="8" y="18"/>
                      </a:cubicBezTo>
                      <a:cubicBezTo>
                        <a:pt x="10" y="18"/>
                        <a:pt x="12" y="19"/>
                        <a:pt x="15" y="21"/>
                      </a:cubicBezTo>
                      <a:cubicBezTo>
                        <a:pt x="17" y="22"/>
                        <a:pt x="19" y="23"/>
                        <a:pt x="20" y="23"/>
                      </a:cubicBezTo>
                      <a:cubicBezTo>
                        <a:pt x="20" y="24"/>
                        <a:pt x="21" y="25"/>
                        <a:pt x="21" y="26"/>
                      </a:cubicBezTo>
                      <a:cubicBezTo>
                        <a:pt x="21" y="27"/>
                        <a:pt x="20" y="28"/>
                        <a:pt x="19" y="29"/>
                      </a:cubicBezTo>
                      <a:cubicBezTo>
                        <a:pt x="18" y="30"/>
                        <a:pt x="16" y="30"/>
                        <a:pt x="14" y="30"/>
                      </a:cubicBezTo>
                      <a:cubicBezTo>
                        <a:pt x="11" y="30"/>
                        <a:pt x="9" y="30"/>
                        <a:pt x="8" y="28"/>
                      </a:cubicBezTo>
                      <a:cubicBezTo>
                        <a:pt x="8" y="28"/>
                        <a:pt x="7" y="26"/>
                        <a:pt x="7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2"/>
                        <a:pt x="4" y="34"/>
                        <a:pt x="6" y="35"/>
                      </a:cubicBezTo>
                      <a:cubicBezTo>
                        <a:pt x="8" y="36"/>
                        <a:pt x="11" y="36"/>
                        <a:pt x="14" y="36"/>
                      </a:cubicBezTo>
                      <a:cubicBezTo>
                        <a:pt x="18" y="36"/>
                        <a:pt x="22" y="35"/>
                        <a:pt x="24" y="33"/>
                      </a:cubicBezTo>
                      <a:cubicBezTo>
                        <a:pt x="27" y="31"/>
                        <a:pt x="28" y="28"/>
                        <a:pt x="28" y="25"/>
                      </a:cubicBezTo>
                      <a:cubicBezTo>
                        <a:pt x="28" y="22"/>
                        <a:pt x="27" y="20"/>
                        <a:pt x="26" y="19"/>
                      </a:cubicBezTo>
                      <a:cubicBezTo>
                        <a:pt x="25" y="18"/>
                        <a:pt x="22" y="16"/>
                        <a:pt x="18" y="14"/>
                      </a:cubicBezTo>
                      <a:cubicBezTo>
                        <a:pt x="15" y="13"/>
                        <a:pt x="13" y="12"/>
                        <a:pt x="13" y="12"/>
                      </a:cubicBezTo>
                      <a:cubicBezTo>
                        <a:pt x="12" y="11"/>
                        <a:pt x="11" y="10"/>
                        <a:pt x="11" y="9"/>
                      </a:cubicBezTo>
                      <a:cubicBezTo>
                        <a:pt x="11" y="8"/>
                        <a:pt x="12" y="7"/>
                        <a:pt x="13" y="6"/>
                      </a:cubicBezTo>
                      <a:cubicBezTo>
                        <a:pt x="14" y="6"/>
                        <a:pt x="15" y="5"/>
                        <a:pt x="17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1" name="iŝḻîďè"/>
                <p:cNvSpPr/>
                <p:nvPr/>
              </p:nvSpPr>
              <p:spPr bwMode="auto">
                <a:xfrm>
                  <a:off x="8374063" y="3521075"/>
                  <a:ext cx="46038" cy="119063"/>
                </a:xfrm>
                <a:custGeom>
                  <a:avLst/>
                  <a:gdLst>
                    <a:gd name="T0" fmla="*/ 0 w 29"/>
                    <a:gd name="T1" fmla="*/ 75 h 75"/>
                    <a:gd name="T2" fmla="*/ 14 w 29"/>
                    <a:gd name="T3" fmla="*/ 75 h 75"/>
                    <a:gd name="T4" fmla="*/ 29 w 29"/>
                    <a:gd name="T5" fmla="*/ 0 h 75"/>
                    <a:gd name="T6" fmla="*/ 14 w 29"/>
                    <a:gd name="T7" fmla="*/ 0 h 75"/>
                    <a:gd name="T8" fmla="*/ 0 w 29"/>
                    <a:gd name="T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75">
                      <a:moveTo>
                        <a:pt x="0" y="75"/>
                      </a:moveTo>
                      <a:lnTo>
                        <a:pt x="14" y="75"/>
                      </a:lnTo>
                      <a:lnTo>
                        <a:pt x="29" y="0"/>
                      </a:lnTo>
                      <a:lnTo>
                        <a:pt x="14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2" name="ïsḷídê"/>
                <p:cNvSpPr/>
                <p:nvPr/>
              </p:nvSpPr>
              <p:spPr bwMode="auto">
                <a:xfrm>
                  <a:off x="8432801" y="3521075"/>
                  <a:ext cx="95250" cy="119063"/>
                </a:xfrm>
                <a:custGeom>
                  <a:avLst/>
                  <a:gdLst>
                    <a:gd name="T0" fmla="*/ 0 w 60"/>
                    <a:gd name="T1" fmla="*/ 12 h 75"/>
                    <a:gd name="T2" fmla="*/ 21 w 60"/>
                    <a:gd name="T3" fmla="*/ 12 h 75"/>
                    <a:gd name="T4" fmla="*/ 8 w 60"/>
                    <a:gd name="T5" fmla="*/ 75 h 75"/>
                    <a:gd name="T6" fmla="*/ 23 w 60"/>
                    <a:gd name="T7" fmla="*/ 75 h 75"/>
                    <a:gd name="T8" fmla="*/ 35 w 60"/>
                    <a:gd name="T9" fmla="*/ 12 h 75"/>
                    <a:gd name="T10" fmla="*/ 58 w 60"/>
                    <a:gd name="T11" fmla="*/ 12 h 75"/>
                    <a:gd name="T12" fmla="*/ 60 w 60"/>
                    <a:gd name="T13" fmla="*/ 0 h 75"/>
                    <a:gd name="T14" fmla="*/ 2 w 60"/>
                    <a:gd name="T15" fmla="*/ 0 h 75"/>
                    <a:gd name="T16" fmla="*/ 0 w 60"/>
                    <a:gd name="T17" fmla="*/ 12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" h="75">
                      <a:moveTo>
                        <a:pt x="0" y="12"/>
                      </a:moveTo>
                      <a:lnTo>
                        <a:pt x="21" y="12"/>
                      </a:lnTo>
                      <a:lnTo>
                        <a:pt x="8" y="75"/>
                      </a:lnTo>
                      <a:lnTo>
                        <a:pt x="23" y="75"/>
                      </a:lnTo>
                      <a:lnTo>
                        <a:pt x="35" y="12"/>
                      </a:lnTo>
                      <a:lnTo>
                        <a:pt x="58" y="12"/>
                      </a:lnTo>
                      <a:lnTo>
                        <a:pt x="60" y="0"/>
                      </a:lnTo>
                      <a:lnTo>
                        <a:pt x="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  <p:sp>
              <p:nvSpPr>
                <p:cNvPr id="123" name="ïSļíḋe"/>
                <p:cNvSpPr/>
                <p:nvPr/>
              </p:nvSpPr>
              <p:spPr bwMode="auto">
                <a:xfrm>
                  <a:off x="8531226" y="3521075"/>
                  <a:ext cx="109538" cy="119063"/>
                </a:xfrm>
                <a:custGeom>
                  <a:avLst/>
                  <a:gdLst>
                    <a:gd name="T0" fmla="*/ 25 w 33"/>
                    <a:gd name="T1" fmla="*/ 0 h 36"/>
                    <a:gd name="T2" fmla="*/ 19 w 33"/>
                    <a:gd name="T3" fmla="*/ 7 h 36"/>
                    <a:gd name="T4" fmla="*/ 16 w 33"/>
                    <a:gd name="T5" fmla="*/ 12 h 36"/>
                    <a:gd name="T6" fmla="*/ 14 w 33"/>
                    <a:gd name="T7" fmla="*/ 15 h 36"/>
                    <a:gd name="T8" fmla="*/ 12 w 33"/>
                    <a:gd name="T9" fmla="*/ 10 h 36"/>
                    <a:gd name="T10" fmla="*/ 8 w 33"/>
                    <a:gd name="T11" fmla="*/ 0 h 36"/>
                    <a:gd name="T12" fmla="*/ 0 w 33"/>
                    <a:gd name="T13" fmla="*/ 0 h 36"/>
                    <a:gd name="T14" fmla="*/ 10 w 33"/>
                    <a:gd name="T15" fmla="*/ 22 h 36"/>
                    <a:gd name="T16" fmla="*/ 7 w 33"/>
                    <a:gd name="T17" fmla="*/ 36 h 36"/>
                    <a:gd name="T18" fmla="*/ 14 w 33"/>
                    <a:gd name="T19" fmla="*/ 36 h 36"/>
                    <a:gd name="T20" fmla="*/ 17 w 33"/>
                    <a:gd name="T21" fmla="*/ 23 h 36"/>
                    <a:gd name="T22" fmla="*/ 33 w 33"/>
                    <a:gd name="T23" fmla="*/ 0 h 36"/>
                    <a:gd name="T24" fmla="*/ 25 w 33"/>
                    <a:gd name="T25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3" h="36">
                      <a:moveTo>
                        <a:pt x="25" y="0"/>
                      </a:move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6" y="12"/>
                        <a:pt x="16" y="12"/>
                        <a:pt x="16" y="12"/>
                      </a:cubicBezTo>
                      <a:cubicBezTo>
                        <a:pt x="15" y="13"/>
                        <a:pt x="15" y="14"/>
                        <a:pt x="14" y="15"/>
                      </a:cubicBezTo>
                      <a:cubicBezTo>
                        <a:pt x="14" y="14"/>
                        <a:pt x="13" y="13"/>
                        <a:pt x="12" y="1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14" y="36"/>
                        <a:pt x="14" y="36"/>
                        <a:pt x="14" y="36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33" y="0"/>
                        <a:pt x="33" y="0"/>
                        <a:pt x="33" y="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sz="1015"/>
                </a:p>
              </p:txBody>
            </p:sp>
          </p:grpSp>
        </p:grpSp>
      </p:grpSp>
      <p:sp>
        <p:nvSpPr>
          <p:cNvPr id="9" name="标题 1"/>
          <p:cNvSpPr txBox="1"/>
          <p:nvPr/>
        </p:nvSpPr>
        <p:spPr bwMode="auto">
          <a:xfrm>
            <a:off x="1029970" y="2167890"/>
            <a:ext cx="511048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200" kern="0" dirty="0">
                <a:solidFill>
                  <a:schemeClr val="tx2"/>
                </a:solidFill>
              </a:rPr>
              <a:t>临床效能验证（模型对医生的辅助）</a:t>
            </a:r>
            <a:endParaRPr lang="zh-CN" altLang="en-US" sz="2200" kern="0" dirty="0">
              <a:solidFill>
                <a:schemeClr val="tx2"/>
              </a:solidFill>
            </a:endParaRPr>
          </a:p>
        </p:txBody>
      </p:sp>
      <p:sp>
        <p:nvSpPr>
          <p:cNvPr id="13" name="标题 1"/>
          <p:cNvSpPr txBox="1"/>
          <p:nvPr/>
        </p:nvSpPr>
        <p:spPr bwMode="auto">
          <a:xfrm>
            <a:off x="1030605" y="2818765"/>
            <a:ext cx="425259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医生（资深</a:t>
            </a:r>
            <a:r>
              <a:rPr lang="en-US" altLang="zh-CN" sz="2000" kern="0" dirty="0">
                <a:solidFill>
                  <a:schemeClr val="tx2"/>
                </a:solidFill>
              </a:rPr>
              <a:t>+</a:t>
            </a:r>
            <a:r>
              <a:rPr lang="zh-CN" altLang="en-US" sz="2000" kern="0" dirty="0">
                <a:solidFill>
                  <a:schemeClr val="tx2"/>
                </a:solidFill>
              </a:rPr>
              <a:t>医师）</a:t>
            </a:r>
            <a:r>
              <a:rPr lang="en-US" altLang="zh-CN" sz="2000" kern="0" dirty="0">
                <a:solidFill>
                  <a:schemeClr val="tx2"/>
                </a:solidFill>
              </a:rPr>
              <a:t> VS </a:t>
            </a:r>
            <a:r>
              <a:rPr lang="zh-CN" altLang="en-US" sz="2000" kern="0" dirty="0">
                <a:solidFill>
                  <a:schemeClr val="tx2"/>
                </a:solidFill>
              </a:rPr>
              <a:t>模型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14" name="标题 1"/>
          <p:cNvSpPr txBox="1"/>
          <p:nvPr/>
        </p:nvSpPr>
        <p:spPr bwMode="auto">
          <a:xfrm>
            <a:off x="1029970" y="3646805"/>
            <a:ext cx="432054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不同水平（低</a:t>
            </a:r>
            <a:r>
              <a:rPr lang="en-US" altLang="zh-CN" sz="2000" kern="0" dirty="0">
                <a:solidFill>
                  <a:schemeClr val="tx2"/>
                </a:solidFill>
              </a:rPr>
              <a:t>/</a:t>
            </a:r>
            <a:r>
              <a:rPr lang="zh-CN" altLang="en-US" sz="2000" kern="0" dirty="0">
                <a:solidFill>
                  <a:schemeClr val="tx2"/>
                </a:solidFill>
              </a:rPr>
              <a:t>中</a:t>
            </a:r>
            <a:r>
              <a:rPr lang="en-US" altLang="zh-CN" sz="2000" kern="0" dirty="0">
                <a:solidFill>
                  <a:schemeClr val="tx2"/>
                </a:solidFill>
              </a:rPr>
              <a:t>/</a:t>
            </a:r>
            <a:r>
              <a:rPr lang="zh-CN" altLang="en-US" sz="2000" kern="0" dirty="0">
                <a:solidFill>
                  <a:schemeClr val="tx2"/>
                </a:solidFill>
              </a:rPr>
              <a:t>高资质）医生</a:t>
            </a:r>
            <a:r>
              <a:rPr lang="en-US" altLang="zh-CN" sz="2000" kern="0" dirty="0">
                <a:solidFill>
                  <a:schemeClr val="tx2"/>
                </a:solidFill>
              </a:rPr>
              <a:t> </a:t>
            </a:r>
            <a:r>
              <a:rPr lang="zh-CN" altLang="en-US" sz="2000" kern="0" dirty="0">
                <a:solidFill>
                  <a:srgbClr val="FF0000"/>
                </a:solidFill>
              </a:rPr>
              <a:t>有</a:t>
            </a:r>
            <a:r>
              <a:rPr lang="en-US" altLang="zh-CN" sz="2000" kern="0" dirty="0">
                <a:solidFill>
                  <a:schemeClr val="tx2"/>
                </a:solidFill>
              </a:rPr>
              <a:t> VS </a:t>
            </a:r>
            <a:r>
              <a:rPr lang="zh-CN" altLang="en-US" sz="2000" kern="0" dirty="0">
                <a:solidFill>
                  <a:srgbClr val="FF0000"/>
                </a:solidFill>
              </a:rPr>
              <a:t>无</a:t>
            </a:r>
            <a:r>
              <a:rPr lang="en-US" altLang="zh-CN" sz="2000" kern="0" dirty="0">
                <a:solidFill>
                  <a:srgbClr val="FF0000"/>
                </a:solidFill>
              </a:rPr>
              <a:t> </a:t>
            </a:r>
            <a:r>
              <a:rPr lang="zh-CN" altLang="en-US" sz="2000" kern="0" dirty="0">
                <a:solidFill>
                  <a:schemeClr val="tx2"/>
                </a:solidFill>
              </a:rPr>
              <a:t>模型辅助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15" name="标题 1"/>
          <p:cNvSpPr txBox="1"/>
          <p:nvPr/>
        </p:nvSpPr>
        <p:spPr bwMode="auto">
          <a:xfrm>
            <a:off x="1030605" y="4536440"/>
            <a:ext cx="425323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不同级别医院的验证</a:t>
            </a:r>
            <a:r>
              <a:rPr lang="en-US" altLang="zh-CN" sz="2000" kern="0" dirty="0">
                <a:solidFill>
                  <a:schemeClr val="tx2"/>
                </a:solidFill>
              </a:rPr>
              <a:t>  </a:t>
            </a:r>
            <a:r>
              <a:rPr lang="zh-CN" altLang="en-US" sz="2000" kern="0" dirty="0">
                <a:solidFill>
                  <a:srgbClr val="FF0000"/>
                </a:solidFill>
              </a:rPr>
              <a:t>基层</a:t>
            </a:r>
            <a:r>
              <a:rPr lang="zh-CN" altLang="en-US" sz="2000" kern="0" dirty="0">
                <a:solidFill>
                  <a:schemeClr val="tx2"/>
                </a:solidFill>
              </a:rPr>
              <a:t>（资源受限）</a:t>
            </a:r>
            <a:r>
              <a:rPr lang="en-US" altLang="zh-CN" sz="2000" kern="0" dirty="0">
                <a:solidFill>
                  <a:schemeClr val="tx2"/>
                </a:solidFill>
              </a:rPr>
              <a:t>VS </a:t>
            </a:r>
            <a:r>
              <a:rPr lang="zh-CN" altLang="en-US" sz="2000" kern="0" dirty="0">
                <a:solidFill>
                  <a:srgbClr val="FF0000"/>
                </a:solidFill>
              </a:rPr>
              <a:t>三甲</a:t>
            </a:r>
            <a:endParaRPr lang="zh-CN" altLang="en-US" sz="2000" kern="0" dirty="0">
              <a:solidFill>
                <a:srgbClr val="FF0000"/>
              </a:solidFill>
            </a:endParaRPr>
          </a:p>
        </p:txBody>
      </p:sp>
      <p:sp>
        <p:nvSpPr>
          <p:cNvPr id="5" name="标题 1"/>
          <p:cNvSpPr txBox="1"/>
          <p:nvPr/>
        </p:nvSpPr>
        <p:spPr bwMode="auto">
          <a:xfrm>
            <a:off x="6273165" y="2299335"/>
            <a:ext cx="490855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200" kern="0" dirty="0">
                <a:solidFill>
                  <a:schemeClr val="tx2"/>
                </a:solidFill>
              </a:rPr>
              <a:t>临床价值验证（模型对患者预后，提供临床决策）</a:t>
            </a:r>
            <a:endParaRPr lang="zh-CN" altLang="en-US" sz="2200" kern="0" dirty="0">
              <a:solidFill>
                <a:schemeClr val="tx2"/>
              </a:solidFill>
            </a:endParaRPr>
          </a:p>
        </p:txBody>
      </p:sp>
      <p:sp>
        <p:nvSpPr>
          <p:cNvPr id="7" name="标题 1"/>
          <p:cNvSpPr txBox="1"/>
          <p:nvPr/>
        </p:nvSpPr>
        <p:spPr bwMode="auto">
          <a:xfrm>
            <a:off x="6384925" y="4418965"/>
            <a:ext cx="510095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（资深</a:t>
            </a:r>
            <a:r>
              <a:rPr lang="en-US" altLang="zh-CN" sz="2000" kern="0" dirty="0">
                <a:solidFill>
                  <a:schemeClr val="tx2"/>
                </a:solidFill>
              </a:rPr>
              <a:t>/</a:t>
            </a:r>
            <a:r>
              <a:rPr lang="zh-CN" altLang="en-US" sz="2000" kern="0" dirty="0">
                <a:solidFill>
                  <a:schemeClr val="tx2"/>
                </a:solidFill>
              </a:rPr>
              <a:t>初级）医生</a:t>
            </a:r>
            <a:r>
              <a:rPr lang="en-US" altLang="zh-CN" sz="2000" kern="0" dirty="0">
                <a:solidFill>
                  <a:schemeClr val="tx2"/>
                </a:solidFill>
              </a:rPr>
              <a:t> + </a:t>
            </a:r>
            <a:r>
              <a:rPr lang="zh-CN" altLang="en-US" sz="2000" kern="0" dirty="0">
                <a:solidFill>
                  <a:schemeClr val="tx2"/>
                </a:solidFill>
              </a:rPr>
              <a:t>模型</a:t>
            </a:r>
            <a:r>
              <a:rPr lang="en-US" altLang="zh-CN" sz="2000" kern="0" dirty="0">
                <a:solidFill>
                  <a:schemeClr val="tx2"/>
                </a:solidFill>
              </a:rPr>
              <a:t> </a:t>
            </a:r>
            <a:r>
              <a:rPr lang="zh-CN" altLang="en-US" sz="2000" kern="0" dirty="0">
                <a:solidFill>
                  <a:schemeClr val="tx2"/>
                </a:solidFill>
              </a:rPr>
              <a:t>（干预组）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10" name="标题 1"/>
          <p:cNvSpPr txBox="1"/>
          <p:nvPr/>
        </p:nvSpPr>
        <p:spPr bwMode="auto">
          <a:xfrm>
            <a:off x="6384925" y="5098415"/>
            <a:ext cx="38481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olidFill>
                  <a:schemeClr val="tx2"/>
                </a:solidFill>
              </a:rPr>
              <a:t>医生单独</a:t>
            </a:r>
            <a:r>
              <a:rPr lang="en-US" altLang="zh-CN" sz="2000" kern="0" dirty="0">
                <a:solidFill>
                  <a:schemeClr val="tx2"/>
                </a:solidFill>
              </a:rPr>
              <a:t> </a:t>
            </a:r>
            <a:r>
              <a:rPr lang="zh-CN" altLang="en-US" sz="2000" kern="0" dirty="0">
                <a:solidFill>
                  <a:schemeClr val="tx2"/>
                </a:solidFill>
              </a:rPr>
              <a:t>（对照组）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11" name="标题 1"/>
          <p:cNvSpPr txBox="1"/>
          <p:nvPr/>
        </p:nvSpPr>
        <p:spPr bwMode="auto">
          <a:xfrm>
            <a:off x="1030605" y="5378450"/>
            <a:ext cx="425323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algn="l">
              <a:buFont typeface="Wingdings" panose="05000000000000000000" charset="0"/>
              <a:buChar char="u"/>
            </a:pPr>
            <a:r>
              <a:rPr lang="zh-CN" altLang="en-US" sz="2000" kern="0" dirty="0">
                <a:sym typeface="+mn-ea"/>
              </a:rPr>
              <a:t>在模型辅助下</a:t>
            </a:r>
            <a:r>
              <a:rPr lang="en-US" altLang="zh-CN" sz="2000" kern="0" dirty="0">
                <a:sym typeface="+mn-ea"/>
              </a:rPr>
              <a:t> </a:t>
            </a:r>
            <a:r>
              <a:rPr lang="zh-CN" altLang="en-US" sz="2000" kern="0" dirty="0">
                <a:solidFill>
                  <a:schemeClr val="tx2"/>
                </a:solidFill>
              </a:rPr>
              <a:t>全科</a:t>
            </a:r>
            <a:r>
              <a:rPr lang="en-US" altLang="zh-CN" sz="2000" kern="0" dirty="0">
                <a:solidFill>
                  <a:schemeClr val="tx2"/>
                </a:solidFill>
              </a:rPr>
              <a:t> VS </a:t>
            </a:r>
            <a:r>
              <a:rPr lang="zh-CN" altLang="en-US" sz="2000" kern="0" dirty="0">
                <a:solidFill>
                  <a:schemeClr val="tx2"/>
                </a:solidFill>
              </a:rPr>
              <a:t>脑科医生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12" name="标题 1"/>
          <p:cNvSpPr txBox="1"/>
          <p:nvPr/>
        </p:nvSpPr>
        <p:spPr bwMode="auto">
          <a:xfrm>
            <a:off x="2039620" y="1416050"/>
            <a:ext cx="818896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/>
            <a:r>
              <a:rPr lang="zh-CN" altLang="en-US" sz="2400" kern="0" dirty="0">
                <a:solidFill>
                  <a:srgbClr val="00B0F0"/>
                </a:solidFill>
              </a:rPr>
              <a:t>多阶段递进式，技术性能</a:t>
            </a:r>
            <a:r>
              <a:rPr lang="en-US" altLang="zh-CN" sz="2400" kern="0" dirty="0">
                <a:solidFill>
                  <a:srgbClr val="00B0F0"/>
                </a:solidFill>
              </a:rPr>
              <a:t>--</a:t>
            </a:r>
            <a:r>
              <a:rPr lang="zh-CN" altLang="en-US" sz="2400" kern="0" dirty="0">
                <a:solidFill>
                  <a:srgbClr val="00B0F0"/>
                </a:solidFill>
              </a:rPr>
              <a:t>医生辅助</a:t>
            </a:r>
            <a:r>
              <a:rPr lang="en-US" altLang="zh-CN" sz="2400" kern="0" dirty="0">
                <a:solidFill>
                  <a:srgbClr val="00B0F0"/>
                </a:solidFill>
              </a:rPr>
              <a:t>--</a:t>
            </a:r>
            <a:r>
              <a:rPr lang="zh-CN" altLang="en-US" sz="2400" kern="0" dirty="0">
                <a:solidFill>
                  <a:srgbClr val="00B0F0"/>
                </a:solidFill>
              </a:rPr>
              <a:t>患者获益的评估体系</a:t>
            </a:r>
            <a:endParaRPr lang="zh-CN" altLang="en-US" sz="2400" kern="0" dirty="0">
              <a:solidFill>
                <a:srgbClr val="00B0F0"/>
              </a:solidFill>
            </a:endParaRPr>
          </a:p>
        </p:txBody>
      </p:sp>
      <p:sp>
        <p:nvSpPr>
          <p:cNvPr id="6" name="标题 1"/>
          <p:cNvSpPr txBox="1"/>
          <p:nvPr/>
        </p:nvSpPr>
        <p:spPr bwMode="auto">
          <a:xfrm>
            <a:off x="6375400" y="3020060"/>
            <a:ext cx="354774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457200" indent="-457200" algn="l">
              <a:buFont typeface="+mj-ea"/>
              <a:buAutoNum type="circleNumDbPlain"/>
            </a:pPr>
            <a:r>
              <a:rPr lang="zh-CN" altLang="en-US" sz="2000" kern="0" dirty="0">
                <a:solidFill>
                  <a:schemeClr val="tx2"/>
                </a:solidFill>
              </a:rPr>
              <a:t>转移风险的预测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  <p:sp>
        <p:nvSpPr>
          <p:cNvPr id="17" name="标题 1"/>
          <p:cNvSpPr txBox="1"/>
          <p:nvPr/>
        </p:nvSpPr>
        <p:spPr bwMode="auto">
          <a:xfrm>
            <a:off x="6375400" y="3689985"/>
            <a:ext cx="354774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457200" indent="-457200" algn="l">
              <a:buFont typeface="+mj-ea"/>
              <a:buAutoNum type="circleNumDbPlain" startAt="2"/>
            </a:pPr>
            <a:r>
              <a:rPr lang="zh-CN" altLang="en-US" sz="2000" kern="0" dirty="0">
                <a:solidFill>
                  <a:schemeClr val="tx2"/>
                </a:solidFill>
              </a:rPr>
              <a:t>生存期的预测</a:t>
            </a:r>
            <a:endParaRPr lang="zh-CN" altLang="en-US" sz="2000" kern="0" dirty="0">
              <a:solidFill>
                <a:schemeClr val="tx2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9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CATEGORY" val="custom"/>
  <p:tag name="KSO_WM_TEMPLATE_INDEX" val="2023098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40"/>
  <p:tag name="KSO_WM_UNIT_TYPE" val="f"/>
  <p:tag name="KSO_WM_UNIT_INDEX" val="1"/>
  <p:tag name="KSO_WM_TEMPLATE_CATEGORY" val="custom"/>
  <p:tag name="KSO_WM_TEMPLATE_INDEX" val="20230980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980"/>
  <p:tag name="KSO_WM_TEMPLATE_THUMBS_INDEX" val="1、9"/>
</p:tagLst>
</file>

<file path=ppt/tags/tag69.xml><?xml version="1.0" encoding="utf-8"?>
<p:tagLst xmlns:p="http://schemas.openxmlformats.org/presentationml/2006/main">
  <p:tag name="ISLIDE.VECTOR" val="b1142882-0153-4ef1-ab3e-a8f8de0e06a8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  <p:tag name="KSO_WM_SPECIAL_SOURCE" val="bdnull"/>
</p:tagLst>
</file>

<file path=ppt/tags/tag71.xml><?xml version="1.0" encoding="utf-8"?>
<p:tagLst xmlns:p="http://schemas.openxmlformats.org/presentationml/2006/main">
  <p:tag name="KSO_WM_DIAGRAM_VIRTUALLY_FRAME" val="{&quot;height&quot;:256.65385826771654,&quot;left&quot;:288.71740157480315,&quot;top&quot;:137.69614173228348,&quot;width&quot;:523.3825984251969}"/>
</p:tagLst>
</file>

<file path=ppt/tags/tag72.xml><?xml version="1.0" encoding="utf-8"?>
<p:tagLst xmlns:p="http://schemas.openxmlformats.org/presentationml/2006/main">
  <p:tag name="KSO_WM_DIAGRAM_VIRTUALLY_FRAME" val="{&quot;height&quot;:256.65385826771654,&quot;left&quot;:288.71740157480315,&quot;top&quot;:137.69614173228348,&quot;width&quot;:523.3825984251969}"/>
</p:tagLst>
</file>

<file path=ppt/tags/tag73.xml><?xml version="1.0" encoding="utf-8"?>
<p:tagLst xmlns:p="http://schemas.openxmlformats.org/presentationml/2006/main">
  <p:tag name="KSO_WM_DIAGRAM_VIRTUALLY_FRAME" val="{&quot;height&quot;:256.65385826771654,&quot;left&quot;:288.71740157480315,&quot;top&quot;:137.69614173228348,&quot;width&quot;:523.3825984251969}"/>
</p:tagLst>
</file>

<file path=ppt/tags/tag74.xml><?xml version="1.0" encoding="utf-8"?>
<p:tagLst xmlns:p="http://schemas.openxmlformats.org/presentationml/2006/main">
  <p:tag name="KSO_WM_DIAGRAM_VIRTUALLY_FRAME" val="{&quot;height&quot;:256.65385826771654,&quot;left&quot;:288.71740157480315,&quot;top&quot;:137.69614173228348,&quot;width&quot;:523.3825984251969}"/>
</p:tagLst>
</file>

<file path=ppt/tags/tag75.xml><?xml version="1.0" encoding="utf-8"?>
<p:tagLst xmlns:p="http://schemas.openxmlformats.org/presentationml/2006/main">
  <p:tag name="KSO_WM_DIAGRAM_VIRTUALLY_FRAME" val="{&quot;height&quot;:256.65385826771654,&quot;left&quot;:288.71740157480315,&quot;top&quot;:137.69614173228348,&quot;width&quot;:523.3825984251969}"/>
</p:tagLst>
</file>

<file path=ppt/tags/tag76.xml><?xml version="1.0" encoding="utf-8"?>
<p:tagLst xmlns:p="http://schemas.openxmlformats.org/presentationml/2006/main">
  <p:tag name="KSO_WM_DIAGRAM_VIRTUALLY_FRAME" val="{&quot;height&quot;:256.65385826771654,&quot;left&quot;:288.71740157480315,&quot;top&quot;:137.69614173228348,&quot;width&quot;:523.3825984251969}"/>
</p:tagLst>
</file>

<file path=ppt/tags/tag77.xml><?xml version="1.0" encoding="utf-8"?>
<p:tagLst xmlns:p="http://schemas.openxmlformats.org/presentationml/2006/main">
  <p:tag name="ISLIDE.VECTOR" val="b1142882-0153-4ef1-ab3e-a8f8de0e06a8"/>
</p:tagLst>
</file>

<file path=ppt/tags/tag78.xml><?xml version="1.0" encoding="utf-8"?>
<p:tagLst xmlns:p="http://schemas.openxmlformats.org/presentationml/2006/main">
  <p:tag name="ISLIDE.VECTOR" val="b1142882-0153-4ef1-ab3e-a8f8de0e06a8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  <p:tag name="KSO_WM_SPECIAL_SOURCE" val="bdnull"/>
</p:tagLst>
</file>

<file path=ppt/tags/tag80.xml><?xml version="1.0" encoding="utf-8"?>
<p:tagLst xmlns:p="http://schemas.openxmlformats.org/presentationml/2006/main">
  <p:tag name="ISLIDE.VECTOR" val="b1142882-0153-4ef1-ab3e-a8f8de0e06a8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  <p:tag name="KSO_WM_SPECIAL_SOURCE" val="bdnull"/>
</p:tagLst>
</file>

<file path=ppt/tags/tag82.xml><?xml version="1.0" encoding="utf-8"?>
<p:tagLst xmlns:p="http://schemas.openxmlformats.org/presentationml/2006/main">
  <p:tag name="ISLIDE.VECTOR" val="b1142882-0153-4ef1-ab3e-a8f8de0e06a8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  <p:tag name="KSO_WM_SPECIAL_SOURCE" val="bdnull"/>
</p:tagLst>
</file>

<file path=ppt/tags/tag84.xml><?xml version="1.0" encoding="utf-8"?>
<p:tagLst xmlns:p="http://schemas.openxmlformats.org/presentationml/2006/main">
  <p:tag name="ISLIDE.VECTOR" val="b1142882-0153-4ef1-ab3e-a8f8de0e06a8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  <p:tag name="KSO_WM_SPECIAL_SOURCE" val="bdnull"/>
</p:tagLst>
</file>

<file path=ppt/tags/tag86.xml><?xml version="1.0" encoding="utf-8"?>
<p:tagLst xmlns:p="http://schemas.openxmlformats.org/presentationml/2006/main">
  <p:tag name="ISLIDE.VECTOR" val="b1142882-0153-4ef1-ab3e-a8f8de0e06a8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  <p:tag name="KSO_WM_SPECIAL_SOURCE" val="bdnull"/>
</p:tagLst>
</file>

<file path=ppt/tags/tag88.xml><?xml version="1.0" encoding="utf-8"?>
<p:tagLst xmlns:p="http://schemas.openxmlformats.org/presentationml/2006/main">
  <p:tag name="ISLIDE.VECTOR" val="b1142882-0153-4ef1-ab3e-a8f8de0e06a8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02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03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04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05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08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09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10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11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12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48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49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50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51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52.xml><?xml version="1.0" encoding="utf-8"?>
<p:tagLst xmlns:p="http://schemas.openxmlformats.org/presentationml/2006/main">
  <p:tag name="KSO_WM_DIAGRAM_VIRTUALLY_FRAME" val="{&quot;height&quot;:147.45,&quot;left&quot;:365.55,&quot;top&quot;:264.95,&quot;width&quot;:509.55}"/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SPECIAL_SOURCE" val="bdnull"/>
</p:tagLst>
</file>

<file path=ppt/tags/tag164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65.xml><?xml version="1.0" encoding="utf-8"?>
<p:tagLst xmlns:p="http://schemas.openxmlformats.org/presentationml/2006/main">
  <p:tag name="ISLIDE.VECTOR" val="b1142882-0153-4ef1-ab3e-a8f8de0e06a8"/>
</p:tagLst>
</file>

<file path=ppt/tags/tag166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67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68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69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70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71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72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73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74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SPECIAL_SOURCE" val="bdnull"/>
</p:tagLst>
</file>

<file path=ppt/tags/tag185.xml><?xml version="1.0" encoding="utf-8"?>
<p:tagLst xmlns:p="http://schemas.openxmlformats.org/presentationml/2006/main">
  <p:tag name="ISLIDE.VECTOR" val="b1142882-0153-4ef1-ab3e-a8f8de0e06a8"/>
</p:tagLst>
</file>

<file path=ppt/tags/tag186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87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88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89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93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94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95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209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210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211.xml><?xml version="1.0" encoding="utf-8"?>
<p:tagLst xmlns:p="http://schemas.openxmlformats.org/presentationml/2006/main">
  <p:tag name="KSO_WM_DIAGRAM_VIRTUALLY_FRAME" val="{&quot;height&quot;:147.45,&quot;left&quot;:365.55,&quot;top&quot;:264.95,&quot;width&quot;:509.55}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SPECIAL_SOURCE" val="bdnull"/>
</p:tagLst>
</file>

<file path=ppt/tags/tag214.xml><?xml version="1.0" encoding="utf-8"?>
<p:tagLst xmlns:p="http://schemas.openxmlformats.org/presentationml/2006/main">
  <p:tag name="ISLIDE.VECTOR" val="b1142882-0153-4ef1-ab3e-a8f8de0e06a8"/>
</p:tagLst>
</file>

<file path=ppt/tags/tag215.xml><?xml version="1.0" encoding="utf-8"?>
<p:tagLst xmlns:p="http://schemas.openxmlformats.org/presentationml/2006/main">
  <p:tag name="KSO_WM_SPECIAL_SOURCE" val="bdnull"/>
</p:tagLst>
</file>

<file path=ppt/tags/tag216.xml><?xml version="1.0" encoding="utf-8"?>
<p:tagLst xmlns:p="http://schemas.openxmlformats.org/presentationml/2006/main">
  <p:tag name="ISLIDE.VECTOR" val="b1142882-0153-4ef1-ab3e-a8f8de0e06a8"/>
</p:tagLst>
</file>

<file path=ppt/tags/tag217.xml><?xml version="1.0" encoding="utf-8"?>
<p:tagLst xmlns:p="http://schemas.openxmlformats.org/presentationml/2006/main">
  <p:tag name="KSO_WM_SPECIAL_SOURCE" val="bdnull"/>
</p:tagLst>
</file>

<file path=ppt/tags/tag218.xml><?xml version="1.0" encoding="utf-8"?>
<p:tagLst xmlns:p="http://schemas.openxmlformats.org/presentationml/2006/main">
  <p:tag name="COMMONDATA" val="eyJoZGlkIjoiZDE4NGJlZTg1ZWQ4NjdiNWViMzQ2ZTFmNTdkYTNmM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 cmpd="sng">
          <a:solidFill>
            <a:schemeClr val="accent1">
              <a:shade val="50000"/>
            </a:schemeClr>
          </a:solidFill>
          <a:prstDash val="sysDot"/>
        </a:ln>
      </a:spPr>
      <a:bodyPr rtlCol="0" anchor="ctr"/>
      <a:lstStyle>
        <a:defPPr algn="ctr" defTabSz="609600">
          <a:defRPr lang="en-US" altLang="zh-CN" sz="1400" b="1" kern="0" dirty="0">
            <a:solidFill>
              <a:schemeClr val="tx1"/>
            </a:solidFill>
            <a:latin typeface="+mj-lt"/>
            <a:ea typeface="+mj-ea"/>
            <a:cs typeface="+mj-cs"/>
            <a:sym typeface="Arial" panose="020B0604020202020204" pitchFamily="34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tailEnd type="triangle"/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1949</Words>
  <Application>WPS 演示</Application>
  <PresentationFormat>宽屏</PresentationFormat>
  <Paragraphs>315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Times New Roman</vt:lpstr>
      <vt:lpstr>Wingdings</vt:lpstr>
      <vt:lpstr>Arial Unicode MS</vt:lpstr>
      <vt:lpstr>默认设计模板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Administered</dc:creator>
  <cp:lastModifiedBy>丶海底</cp:lastModifiedBy>
  <cp:revision>3746</cp:revision>
  <cp:lastPrinted>2025-09-06T08:42:00Z</cp:lastPrinted>
  <dcterms:created xsi:type="dcterms:W3CDTF">2025-09-06T08:42:00Z</dcterms:created>
  <dcterms:modified xsi:type="dcterms:W3CDTF">2025-10-05T11:53:02Z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09862975319AE68E76DEBB689781C54A_43</vt:lpwstr>
  </property>
</Properties>
</file>